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5"/>
  </p:notesMasterIdLst>
  <p:handoutMasterIdLst>
    <p:handoutMasterId r:id="rId66"/>
  </p:handoutMasterIdLst>
  <p:sldIdLst>
    <p:sldId id="256" r:id="rId2"/>
    <p:sldId id="270" r:id="rId3"/>
    <p:sldId id="281" r:id="rId4"/>
    <p:sldId id="318" r:id="rId5"/>
    <p:sldId id="319" r:id="rId6"/>
    <p:sldId id="333" r:id="rId7"/>
    <p:sldId id="282" r:id="rId8"/>
    <p:sldId id="257" r:id="rId9"/>
    <p:sldId id="284" r:id="rId10"/>
    <p:sldId id="285" r:id="rId11"/>
    <p:sldId id="258" r:id="rId12"/>
    <p:sldId id="288" r:id="rId13"/>
    <p:sldId id="320" r:id="rId14"/>
    <p:sldId id="289" r:id="rId15"/>
    <p:sldId id="322" r:id="rId16"/>
    <p:sldId id="259" r:id="rId17"/>
    <p:sldId id="347" r:id="rId18"/>
    <p:sldId id="334" r:id="rId19"/>
    <p:sldId id="272" r:id="rId20"/>
    <p:sldId id="260" r:id="rId21"/>
    <p:sldId id="291" r:id="rId22"/>
    <p:sldId id="293" r:id="rId23"/>
    <p:sldId id="261" r:id="rId24"/>
    <p:sldId id="323" r:id="rId25"/>
    <p:sldId id="348" r:id="rId26"/>
    <p:sldId id="299" r:id="rId27"/>
    <p:sldId id="262" r:id="rId28"/>
    <p:sldId id="301" r:id="rId29"/>
    <p:sldId id="263" r:id="rId30"/>
    <p:sldId id="303" r:id="rId31"/>
    <p:sldId id="264" r:id="rId32"/>
    <p:sldId id="337" r:id="rId33"/>
    <p:sldId id="273" r:id="rId34"/>
    <p:sldId id="325" r:id="rId35"/>
    <p:sldId id="352" r:id="rId36"/>
    <p:sldId id="349" r:id="rId37"/>
    <p:sldId id="312" r:id="rId38"/>
    <p:sldId id="353" r:id="rId39"/>
    <p:sldId id="313" r:id="rId40"/>
    <p:sldId id="265" r:id="rId41"/>
    <p:sldId id="328" r:id="rId42"/>
    <p:sldId id="316" r:id="rId43"/>
    <p:sldId id="305" r:id="rId44"/>
    <p:sldId id="329" r:id="rId45"/>
    <p:sldId id="266" r:id="rId46"/>
    <p:sldId id="307" r:id="rId47"/>
    <p:sldId id="326" r:id="rId48"/>
    <p:sldId id="338" r:id="rId49"/>
    <p:sldId id="339" r:id="rId50"/>
    <p:sldId id="340" r:id="rId51"/>
    <p:sldId id="351" r:id="rId52"/>
    <p:sldId id="341" r:id="rId53"/>
    <p:sldId id="350" r:id="rId54"/>
    <p:sldId id="342" r:id="rId55"/>
    <p:sldId id="343" r:id="rId56"/>
    <p:sldId id="344" r:id="rId57"/>
    <p:sldId id="354" r:id="rId58"/>
    <p:sldId id="345" r:id="rId59"/>
    <p:sldId id="355" r:id="rId60"/>
    <p:sldId id="356" r:id="rId61"/>
    <p:sldId id="335" r:id="rId62"/>
    <p:sldId id="336" r:id="rId63"/>
    <p:sldId id="280" r:id="rId64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F16D65-8F18-4FE5-AF27-F9BDDE2DABC0}" v="1" dt="2026-01-14T16:33:34.6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42" autoAdjust="0"/>
    <p:restoredTop sz="57740" autoAdjust="0"/>
  </p:normalViewPr>
  <p:slideViewPr>
    <p:cSldViewPr snapToGrid="0" snapToObjects="1">
      <p:cViewPr varScale="1">
        <p:scale>
          <a:sx n="55" d="100"/>
          <a:sy n="55" d="100"/>
        </p:scale>
        <p:origin x="2093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maa Abdelmeguid" userId="47fd2e4c-d07d-4c27-b7bc-d96a4ea2e7cf" providerId="ADAL" clId="{13C3C948-E538-4E74-ABA6-FB3B14096097}"/>
    <pc:docChg chg="custSel addSld delSld modSld">
      <pc:chgData name="Shimaa Abdelmeguid" userId="47fd2e4c-d07d-4c27-b7bc-d96a4ea2e7cf" providerId="ADAL" clId="{13C3C948-E538-4E74-ABA6-FB3B14096097}" dt="2026-01-14T16:40:28.818" v="96" actId="20577"/>
      <pc:docMkLst>
        <pc:docMk/>
      </pc:docMkLst>
      <pc:sldChg chg="modNotesTx">
        <pc:chgData name="Shimaa Abdelmeguid" userId="47fd2e4c-d07d-4c27-b7bc-d96a4ea2e7cf" providerId="ADAL" clId="{13C3C948-E538-4E74-ABA6-FB3B14096097}" dt="2026-01-12T04:57:20.315" v="0" actId="6549"/>
        <pc:sldMkLst>
          <pc:docMk/>
          <pc:sldMk cId="0" sldId="256"/>
        </pc:sldMkLst>
      </pc:sldChg>
      <pc:sldChg chg="modNotesTx">
        <pc:chgData name="Shimaa Abdelmeguid" userId="47fd2e4c-d07d-4c27-b7bc-d96a4ea2e7cf" providerId="ADAL" clId="{13C3C948-E538-4E74-ABA6-FB3B14096097}" dt="2026-01-12T04:57:49.622" v="5" actId="6549"/>
        <pc:sldMkLst>
          <pc:docMk/>
          <pc:sldMk cId="0" sldId="257"/>
        </pc:sldMkLst>
      </pc:sldChg>
      <pc:sldChg chg="modNotes modNotesTx">
        <pc:chgData name="Shimaa Abdelmeguid" userId="47fd2e4c-d07d-4c27-b7bc-d96a4ea2e7cf" providerId="ADAL" clId="{13C3C948-E538-4E74-ABA6-FB3B14096097}" dt="2026-01-14T16:33:34.687" v="46" actId="27636"/>
        <pc:sldMkLst>
          <pc:docMk/>
          <pc:sldMk cId="0" sldId="258"/>
        </pc:sldMkLst>
      </pc:sldChg>
      <pc:sldChg chg="modNotes modNotesTx">
        <pc:chgData name="Shimaa Abdelmeguid" userId="47fd2e4c-d07d-4c27-b7bc-d96a4ea2e7cf" providerId="ADAL" clId="{13C3C948-E538-4E74-ABA6-FB3B14096097}" dt="2026-01-14T16:33:34.687" v="48" actId="27636"/>
        <pc:sldMkLst>
          <pc:docMk/>
          <pc:sldMk cId="0" sldId="259"/>
        </pc:sldMkLst>
      </pc:sldChg>
      <pc:sldChg chg="modNotes modNotesTx">
        <pc:chgData name="Shimaa Abdelmeguid" userId="47fd2e4c-d07d-4c27-b7bc-d96a4ea2e7cf" providerId="ADAL" clId="{13C3C948-E538-4E74-ABA6-FB3B14096097}" dt="2026-01-14T16:33:34.704" v="49" actId="27636"/>
        <pc:sldMkLst>
          <pc:docMk/>
          <pc:sldMk cId="0" sldId="260"/>
        </pc:sldMkLst>
      </pc:sldChg>
      <pc:sldChg chg="modNotesTx">
        <pc:chgData name="Shimaa Abdelmeguid" userId="47fd2e4c-d07d-4c27-b7bc-d96a4ea2e7cf" providerId="ADAL" clId="{13C3C948-E538-4E74-ABA6-FB3B14096097}" dt="2026-01-12T04:58:54.671" v="19" actId="6549"/>
        <pc:sldMkLst>
          <pc:docMk/>
          <pc:sldMk cId="0" sldId="261"/>
        </pc:sldMkLst>
      </pc:sldChg>
      <pc:sldChg chg="modNotesTx">
        <pc:chgData name="Shimaa Abdelmeguid" userId="47fd2e4c-d07d-4c27-b7bc-d96a4ea2e7cf" providerId="ADAL" clId="{13C3C948-E538-4E74-ABA6-FB3B14096097}" dt="2026-01-12T04:59:11.174" v="23" actId="6549"/>
        <pc:sldMkLst>
          <pc:docMk/>
          <pc:sldMk cId="0" sldId="262"/>
        </pc:sldMkLst>
      </pc:sldChg>
      <pc:sldChg chg="modNotes modNotesTx">
        <pc:chgData name="Shimaa Abdelmeguid" userId="47fd2e4c-d07d-4c27-b7bc-d96a4ea2e7cf" providerId="ADAL" clId="{13C3C948-E538-4E74-ABA6-FB3B14096097}" dt="2026-01-14T16:33:34.704" v="51" actId="27636"/>
        <pc:sldMkLst>
          <pc:docMk/>
          <pc:sldMk cId="0" sldId="263"/>
        </pc:sldMkLst>
      </pc:sldChg>
      <pc:sldChg chg="modNotes modNotesTx">
        <pc:chgData name="Shimaa Abdelmeguid" userId="47fd2e4c-d07d-4c27-b7bc-d96a4ea2e7cf" providerId="ADAL" clId="{13C3C948-E538-4E74-ABA6-FB3B14096097}" dt="2026-01-14T16:33:34.704" v="53" actId="27636"/>
        <pc:sldMkLst>
          <pc:docMk/>
          <pc:sldMk cId="0" sldId="264"/>
        </pc:sldMkLst>
      </pc:sldChg>
      <pc:sldChg chg="add del modNotes modNotesTx">
        <pc:chgData name="Shimaa Abdelmeguid" userId="47fd2e4c-d07d-4c27-b7bc-d96a4ea2e7cf" providerId="ADAL" clId="{13C3C948-E538-4E74-ABA6-FB3B14096097}" dt="2026-01-14T16:36:13.452" v="76" actId="6549"/>
        <pc:sldMkLst>
          <pc:docMk/>
          <pc:sldMk cId="0" sldId="265"/>
        </pc:sldMkLst>
      </pc:sldChg>
      <pc:sldChg chg="add del modNotes modNotesTx">
        <pc:chgData name="Shimaa Abdelmeguid" userId="47fd2e4c-d07d-4c27-b7bc-d96a4ea2e7cf" providerId="ADAL" clId="{13C3C948-E538-4E74-ABA6-FB3B14096097}" dt="2026-01-14T16:36:34.410" v="81" actId="6549"/>
        <pc:sldMkLst>
          <pc:docMk/>
          <pc:sldMk cId="0" sldId="266"/>
        </pc:sldMkLst>
      </pc:sldChg>
      <pc:sldChg chg="modNotesTx">
        <pc:chgData name="Shimaa Abdelmeguid" userId="47fd2e4c-d07d-4c27-b7bc-d96a4ea2e7cf" providerId="ADAL" clId="{13C3C948-E538-4E74-ABA6-FB3B14096097}" dt="2026-01-12T04:58:39.207" v="15" actId="6549"/>
        <pc:sldMkLst>
          <pc:docMk/>
          <pc:sldMk cId="0" sldId="272"/>
        </pc:sldMkLst>
      </pc:sldChg>
      <pc:sldChg chg="add del modNotesTx">
        <pc:chgData name="Shimaa Abdelmeguid" userId="47fd2e4c-d07d-4c27-b7bc-d96a4ea2e7cf" providerId="ADAL" clId="{13C3C948-E538-4E74-ABA6-FB3B14096097}" dt="2026-01-14T16:33:42.340" v="69" actId="6549"/>
        <pc:sldMkLst>
          <pc:docMk/>
          <pc:sldMk cId="0" sldId="273"/>
        </pc:sldMkLst>
      </pc:sldChg>
      <pc:sldChg chg="add del">
        <pc:chgData name="Shimaa Abdelmeguid" userId="47fd2e4c-d07d-4c27-b7bc-d96a4ea2e7cf" providerId="ADAL" clId="{13C3C948-E538-4E74-ABA6-FB3B14096097}" dt="2026-01-14T16:33:34.656" v="44"/>
        <pc:sldMkLst>
          <pc:docMk/>
          <pc:sldMk cId="0" sldId="280"/>
        </pc:sldMkLst>
      </pc:sldChg>
      <pc:sldChg chg="modNotesTx">
        <pc:chgData name="Shimaa Abdelmeguid" userId="47fd2e4c-d07d-4c27-b7bc-d96a4ea2e7cf" providerId="ADAL" clId="{13C3C948-E538-4E74-ABA6-FB3B14096097}" dt="2026-01-12T04:57:27.406" v="1" actId="6549"/>
        <pc:sldMkLst>
          <pc:docMk/>
          <pc:sldMk cId="0" sldId="281"/>
        </pc:sldMkLst>
      </pc:sldChg>
      <pc:sldChg chg="modNotesTx">
        <pc:chgData name="Shimaa Abdelmeguid" userId="47fd2e4c-d07d-4c27-b7bc-d96a4ea2e7cf" providerId="ADAL" clId="{13C3C948-E538-4E74-ABA6-FB3B14096097}" dt="2026-01-12T04:57:44.071" v="4" actId="6549"/>
        <pc:sldMkLst>
          <pc:docMk/>
          <pc:sldMk cId="0" sldId="282"/>
        </pc:sldMkLst>
      </pc:sldChg>
      <pc:sldChg chg="modNotes modNotesTx">
        <pc:chgData name="Shimaa Abdelmeguid" userId="47fd2e4c-d07d-4c27-b7bc-d96a4ea2e7cf" providerId="ADAL" clId="{13C3C948-E538-4E74-ABA6-FB3B14096097}" dt="2026-01-14T16:33:34.687" v="45" actId="27636"/>
        <pc:sldMkLst>
          <pc:docMk/>
          <pc:sldMk cId="0" sldId="284"/>
        </pc:sldMkLst>
      </pc:sldChg>
      <pc:sldChg chg="modNotesTx">
        <pc:chgData name="Shimaa Abdelmeguid" userId="47fd2e4c-d07d-4c27-b7bc-d96a4ea2e7cf" providerId="ADAL" clId="{13C3C948-E538-4E74-ABA6-FB3B14096097}" dt="2026-01-12T04:57:59.018" v="7" actId="6549"/>
        <pc:sldMkLst>
          <pc:docMk/>
          <pc:sldMk cId="0" sldId="285"/>
        </pc:sldMkLst>
      </pc:sldChg>
      <pc:sldChg chg="modNotesTx">
        <pc:chgData name="Shimaa Abdelmeguid" userId="47fd2e4c-d07d-4c27-b7bc-d96a4ea2e7cf" providerId="ADAL" clId="{13C3C948-E538-4E74-ABA6-FB3B14096097}" dt="2026-01-12T04:58:11.388" v="9" actId="6549"/>
        <pc:sldMkLst>
          <pc:docMk/>
          <pc:sldMk cId="0" sldId="288"/>
        </pc:sldMkLst>
      </pc:sldChg>
      <pc:sldChg chg="modNotesTx">
        <pc:chgData name="Shimaa Abdelmeguid" userId="47fd2e4c-d07d-4c27-b7bc-d96a4ea2e7cf" providerId="ADAL" clId="{13C3C948-E538-4E74-ABA6-FB3B14096097}" dt="2026-01-12T04:58:19.545" v="11" actId="6549"/>
        <pc:sldMkLst>
          <pc:docMk/>
          <pc:sldMk cId="0" sldId="289"/>
        </pc:sldMkLst>
      </pc:sldChg>
      <pc:sldChg chg="modNotesTx">
        <pc:chgData name="Shimaa Abdelmeguid" userId="47fd2e4c-d07d-4c27-b7bc-d96a4ea2e7cf" providerId="ADAL" clId="{13C3C948-E538-4E74-ABA6-FB3B14096097}" dt="2026-01-12T04:58:48.211" v="17" actId="6549"/>
        <pc:sldMkLst>
          <pc:docMk/>
          <pc:sldMk cId="0" sldId="291"/>
        </pc:sldMkLst>
      </pc:sldChg>
      <pc:sldChg chg="modNotesTx">
        <pc:chgData name="Shimaa Abdelmeguid" userId="47fd2e4c-d07d-4c27-b7bc-d96a4ea2e7cf" providerId="ADAL" clId="{13C3C948-E538-4E74-ABA6-FB3B14096097}" dt="2026-01-12T04:58:51.614" v="18" actId="6549"/>
        <pc:sldMkLst>
          <pc:docMk/>
          <pc:sldMk cId="0" sldId="293"/>
        </pc:sldMkLst>
      </pc:sldChg>
      <pc:sldChg chg="modNotesTx">
        <pc:chgData name="Shimaa Abdelmeguid" userId="47fd2e4c-d07d-4c27-b7bc-d96a4ea2e7cf" providerId="ADAL" clId="{13C3C948-E538-4E74-ABA6-FB3B14096097}" dt="2026-01-12T04:59:07.297" v="22" actId="6549"/>
        <pc:sldMkLst>
          <pc:docMk/>
          <pc:sldMk cId="0" sldId="299"/>
        </pc:sldMkLst>
      </pc:sldChg>
      <pc:sldChg chg="modNotesTx">
        <pc:chgData name="Shimaa Abdelmeguid" userId="47fd2e4c-d07d-4c27-b7bc-d96a4ea2e7cf" providerId="ADAL" clId="{13C3C948-E538-4E74-ABA6-FB3B14096097}" dt="2026-01-12T04:59:15.256" v="24" actId="6549"/>
        <pc:sldMkLst>
          <pc:docMk/>
          <pc:sldMk cId="0" sldId="301"/>
        </pc:sldMkLst>
      </pc:sldChg>
      <pc:sldChg chg="modNotes modNotesTx">
        <pc:chgData name="Shimaa Abdelmeguid" userId="47fd2e4c-d07d-4c27-b7bc-d96a4ea2e7cf" providerId="ADAL" clId="{13C3C948-E538-4E74-ABA6-FB3B14096097}" dt="2026-01-14T16:33:34.704" v="52" actId="27636"/>
        <pc:sldMkLst>
          <pc:docMk/>
          <pc:sldMk cId="0" sldId="303"/>
        </pc:sldMkLst>
      </pc:sldChg>
      <pc:sldChg chg="add del modNotes modNotesTx">
        <pc:chgData name="Shimaa Abdelmeguid" userId="47fd2e4c-d07d-4c27-b7bc-d96a4ea2e7cf" providerId="ADAL" clId="{13C3C948-E538-4E74-ABA6-FB3B14096097}" dt="2026-01-14T16:36:25.289" v="79" actId="6549"/>
        <pc:sldMkLst>
          <pc:docMk/>
          <pc:sldMk cId="0" sldId="305"/>
        </pc:sldMkLst>
      </pc:sldChg>
      <pc:sldChg chg="add del modNotes modNotesTx">
        <pc:chgData name="Shimaa Abdelmeguid" userId="47fd2e4c-d07d-4c27-b7bc-d96a4ea2e7cf" providerId="ADAL" clId="{13C3C948-E538-4E74-ABA6-FB3B14096097}" dt="2026-01-14T16:36:38.589" v="82" actId="6549"/>
        <pc:sldMkLst>
          <pc:docMk/>
          <pc:sldMk cId="0" sldId="307"/>
        </pc:sldMkLst>
      </pc:sldChg>
      <pc:sldChg chg="add del modNotesTx">
        <pc:chgData name="Shimaa Abdelmeguid" userId="47fd2e4c-d07d-4c27-b7bc-d96a4ea2e7cf" providerId="ADAL" clId="{13C3C948-E538-4E74-ABA6-FB3B14096097}" dt="2026-01-14T16:36:02.815" v="73" actId="6549"/>
        <pc:sldMkLst>
          <pc:docMk/>
          <pc:sldMk cId="0" sldId="312"/>
        </pc:sldMkLst>
      </pc:sldChg>
      <pc:sldChg chg="add del modNotes modNotesTx">
        <pc:chgData name="Shimaa Abdelmeguid" userId="47fd2e4c-d07d-4c27-b7bc-d96a4ea2e7cf" providerId="ADAL" clId="{13C3C948-E538-4E74-ABA6-FB3B14096097}" dt="2026-01-14T16:36:09.788" v="75" actId="6549"/>
        <pc:sldMkLst>
          <pc:docMk/>
          <pc:sldMk cId="0" sldId="313"/>
        </pc:sldMkLst>
      </pc:sldChg>
      <pc:sldChg chg="add del modNotes modNotesTx">
        <pc:chgData name="Shimaa Abdelmeguid" userId="47fd2e4c-d07d-4c27-b7bc-d96a4ea2e7cf" providerId="ADAL" clId="{13C3C948-E538-4E74-ABA6-FB3B14096097}" dt="2026-01-14T16:36:21.301" v="78" actId="6549"/>
        <pc:sldMkLst>
          <pc:docMk/>
          <pc:sldMk cId="0" sldId="316"/>
        </pc:sldMkLst>
      </pc:sldChg>
      <pc:sldChg chg="modNotesTx">
        <pc:chgData name="Shimaa Abdelmeguid" userId="47fd2e4c-d07d-4c27-b7bc-d96a4ea2e7cf" providerId="ADAL" clId="{13C3C948-E538-4E74-ABA6-FB3B14096097}" dt="2026-01-12T04:57:31.661" v="2" actId="6549"/>
        <pc:sldMkLst>
          <pc:docMk/>
          <pc:sldMk cId="0" sldId="318"/>
        </pc:sldMkLst>
      </pc:sldChg>
      <pc:sldChg chg="modNotesTx">
        <pc:chgData name="Shimaa Abdelmeguid" userId="47fd2e4c-d07d-4c27-b7bc-d96a4ea2e7cf" providerId="ADAL" clId="{13C3C948-E538-4E74-ABA6-FB3B14096097}" dt="2026-01-12T04:57:36.882" v="3" actId="6549"/>
        <pc:sldMkLst>
          <pc:docMk/>
          <pc:sldMk cId="0" sldId="319"/>
        </pc:sldMkLst>
      </pc:sldChg>
      <pc:sldChg chg="modNotes modNotesTx">
        <pc:chgData name="Shimaa Abdelmeguid" userId="47fd2e4c-d07d-4c27-b7bc-d96a4ea2e7cf" providerId="ADAL" clId="{13C3C948-E538-4E74-ABA6-FB3B14096097}" dt="2026-01-14T16:33:34.687" v="47" actId="27636"/>
        <pc:sldMkLst>
          <pc:docMk/>
          <pc:sldMk cId="0" sldId="320"/>
        </pc:sldMkLst>
      </pc:sldChg>
      <pc:sldChg chg="modNotesTx">
        <pc:chgData name="Shimaa Abdelmeguid" userId="47fd2e4c-d07d-4c27-b7bc-d96a4ea2e7cf" providerId="ADAL" clId="{13C3C948-E538-4E74-ABA6-FB3B14096097}" dt="2026-01-12T04:58:23.861" v="12" actId="6549"/>
        <pc:sldMkLst>
          <pc:docMk/>
          <pc:sldMk cId="0" sldId="322"/>
        </pc:sldMkLst>
      </pc:sldChg>
      <pc:sldChg chg="modNotesTx">
        <pc:chgData name="Shimaa Abdelmeguid" userId="47fd2e4c-d07d-4c27-b7bc-d96a4ea2e7cf" providerId="ADAL" clId="{13C3C948-E538-4E74-ABA6-FB3B14096097}" dt="2026-01-12T04:58:59.051" v="20" actId="6549"/>
        <pc:sldMkLst>
          <pc:docMk/>
          <pc:sldMk cId="0" sldId="323"/>
        </pc:sldMkLst>
      </pc:sldChg>
      <pc:sldChg chg="add del modNotes modNotesTx">
        <pc:chgData name="Shimaa Abdelmeguid" userId="47fd2e4c-d07d-4c27-b7bc-d96a4ea2e7cf" providerId="ADAL" clId="{13C3C948-E538-4E74-ABA6-FB3B14096097}" dt="2026-01-14T16:35:51.531" v="70" actId="6549"/>
        <pc:sldMkLst>
          <pc:docMk/>
          <pc:sldMk cId="0" sldId="325"/>
        </pc:sldMkLst>
      </pc:sldChg>
      <pc:sldChg chg="add del modNotes modNotesTx">
        <pc:chgData name="Shimaa Abdelmeguid" userId="47fd2e4c-d07d-4c27-b7bc-d96a4ea2e7cf" providerId="ADAL" clId="{13C3C948-E538-4E74-ABA6-FB3B14096097}" dt="2026-01-14T16:36:42.399" v="83" actId="6549"/>
        <pc:sldMkLst>
          <pc:docMk/>
          <pc:sldMk cId="0" sldId="326"/>
        </pc:sldMkLst>
      </pc:sldChg>
      <pc:sldChg chg="add del modNotes modNotesTx">
        <pc:chgData name="Shimaa Abdelmeguid" userId="47fd2e4c-d07d-4c27-b7bc-d96a4ea2e7cf" providerId="ADAL" clId="{13C3C948-E538-4E74-ABA6-FB3B14096097}" dt="2026-01-14T16:36:17.210" v="77" actId="6549"/>
        <pc:sldMkLst>
          <pc:docMk/>
          <pc:sldMk cId="0" sldId="328"/>
        </pc:sldMkLst>
      </pc:sldChg>
      <pc:sldChg chg="add del modNotesTx">
        <pc:chgData name="Shimaa Abdelmeguid" userId="47fd2e4c-d07d-4c27-b7bc-d96a4ea2e7cf" providerId="ADAL" clId="{13C3C948-E538-4E74-ABA6-FB3B14096097}" dt="2026-01-14T16:36:30.989" v="80" actId="6549"/>
        <pc:sldMkLst>
          <pc:docMk/>
          <pc:sldMk cId="0" sldId="329"/>
        </pc:sldMkLst>
      </pc:sldChg>
      <pc:sldChg chg="add del">
        <pc:chgData name="Shimaa Abdelmeguid" userId="47fd2e4c-d07d-4c27-b7bc-d96a4ea2e7cf" providerId="ADAL" clId="{13C3C948-E538-4E74-ABA6-FB3B14096097}" dt="2026-01-14T16:33:34.656" v="44"/>
        <pc:sldMkLst>
          <pc:docMk/>
          <pc:sldMk cId="3137779458" sldId="335"/>
        </pc:sldMkLst>
      </pc:sldChg>
      <pc:sldChg chg="add del">
        <pc:chgData name="Shimaa Abdelmeguid" userId="47fd2e4c-d07d-4c27-b7bc-d96a4ea2e7cf" providerId="ADAL" clId="{13C3C948-E538-4E74-ABA6-FB3B14096097}" dt="2026-01-14T16:33:34.656" v="44"/>
        <pc:sldMkLst>
          <pc:docMk/>
          <pc:sldMk cId="3077500701" sldId="336"/>
        </pc:sldMkLst>
      </pc:sldChg>
      <pc:sldChg chg="add del">
        <pc:chgData name="Shimaa Abdelmeguid" userId="47fd2e4c-d07d-4c27-b7bc-d96a4ea2e7cf" providerId="ADAL" clId="{13C3C948-E538-4E74-ABA6-FB3B14096097}" dt="2026-01-14T16:33:34.656" v="44"/>
        <pc:sldMkLst>
          <pc:docMk/>
          <pc:sldMk cId="1021939441" sldId="337"/>
        </pc:sldMkLst>
      </pc:sldChg>
      <pc:sldChg chg="add del">
        <pc:chgData name="Shimaa Abdelmeguid" userId="47fd2e4c-d07d-4c27-b7bc-d96a4ea2e7cf" providerId="ADAL" clId="{13C3C948-E538-4E74-ABA6-FB3B14096097}" dt="2026-01-14T16:33:34.656" v="44"/>
        <pc:sldMkLst>
          <pc:docMk/>
          <pc:sldMk cId="2983287055" sldId="338"/>
        </pc:sldMkLst>
      </pc:sldChg>
      <pc:sldChg chg="add del modNotes modNotesTx">
        <pc:chgData name="Shimaa Abdelmeguid" userId="47fd2e4c-d07d-4c27-b7bc-d96a4ea2e7cf" providerId="ADAL" clId="{13C3C948-E538-4E74-ABA6-FB3B14096097}" dt="2026-01-14T16:36:51.204" v="84" actId="6549"/>
        <pc:sldMkLst>
          <pc:docMk/>
          <pc:sldMk cId="954642665" sldId="339"/>
        </pc:sldMkLst>
      </pc:sldChg>
      <pc:sldChg chg="add del modNotes modNotesTx">
        <pc:chgData name="Shimaa Abdelmeguid" userId="47fd2e4c-d07d-4c27-b7bc-d96a4ea2e7cf" providerId="ADAL" clId="{13C3C948-E538-4E74-ABA6-FB3B14096097}" dt="2026-01-14T16:36:54.411" v="85" actId="6549"/>
        <pc:sldMkLst>
          <pc:docMk/>
          <pc:sldMk cId="1891936099" sldId="340"/>
        </pc:sldMkLst>
      </pc:sldChg>
      <pc:sldChg chg="add del modNotesTx">
        <pc:chgData name="Shimaa Abdelmeguid" userId="47fd2e4c-d07d-4c27-b7bc-d96a4ea2e7cf" providerId="ADAL" clId="{13C3C948-E538-4E74-ABA6-FB3B14096097}" dt="2026-01-14T16:37:01.519" v="87" actId="6549"/>
        <pc:sldMkLst>
          <pc:docMk/>
          <pc:sldMk cId="676002720" sldId="341"/>
        </pc:sldMkLst>
      </pc:sldChg>
      <pc:sldChg chg="add del modNotesTx">
        <pc:chgData name="Shimaa Abdelmeguid" userId="47fd2e4c-d07d-4c27-b7bc-d96a4ea2e7cf" providerId="ADAL" clId="{13C3C948-E538-4E74-ABA6-FB3B14096097}" dt="2026-01-14T16:37:07.849" v="89" actId="6549"/>
        <pc:sldMkLst>
          <pc:docMk/>
          <pc:sldMk cId="1473188252" sldId="342"/>
        </pc:sldMkLst>
      </pc:sldChg>
      <pc:sldChg chg="add del modNotesTx">
        <pc:chgData name="Shimaa Abdelmeguid" userId="47fd2e4c-d07d-4c27-b7bc-d96a4ea2e7cf" providerId="ADAL" clId="{13C3C948-E538-4E74-ABA6-FB3B14096097}" dt="2026-01-14T16:37:11.272" v="90" actId="6549"/>
        <pc:sldMkLst>
          <pc:docMk/>
          <pc:sldMk cId="2153427100" sldId="343"/>
        </pc:sldMkLst>
      </pc:sldChg>
      <pc:sldChg chg="add del modNotesTx">
        <pc:chgData name="Shimaa Abdelmeguid" userId="47fd2e4c-d07d-4c27-b7bc-d96a4ea2e7cf" providerId="ADAL" clId="{13C3C948-E538-4E74-ABA6-FB3B14096097}" dt="2026-01-14T16:37:14.387" v="91" actId="6549"/>
        <pc:sldMkLst>
          <pc:docMk/>
          <pc:sldMk cId="3949935750" sldId="344"/>
        </pc:sldMkLst>
      </pc:sldChg>
      <pc:sldChg chg="add del modNotes modNotesTx">
        <pc:chgData name="Shimaa Abdelmeguid" userId="47fd2e4c-d07d-4c27-b7bc-d96a4ea2e7cf" providerId="ADAL" clId="{13C3C948-E538-4E74-ABA6-FB3B14096097}" dt="2026-01-14T16:37:22.234" v="93" actId="6549"/>
        <pc:sldMkLst>
          <pc:docMk/>
          <pc:sldMk cId="2259887285" sldId="345"/>
        </pc:sldMkLst>
      </pc:sldChg>
      <pc:sldChg chg="modNotesTx">
        <pc:chgData name="Shimaa Abdelmeguid" userId="47fd2e4c-d07d-4c27-b7bc-d96a4ea2e7cf" providerId="ADAL" clId="{13C3C948-E538-4E74-ABA6-FB3B14096097}" dt="2026-01-12T04:58:32.562" v="14" actId="6549"/>
        <pc:sldMkLst>
          <pc:docMk/>
          <pc:sldMk cId="1197914283" sldId="347"/>
        </pc:sldMkLst>
      </pc:sldChg>
      <pc:sldChg chg="modNotes modNotesTx">
        <pc:chgData name="Shimaa Abdelmeguid" userId="47fd2e4c-d07d-4c27-b7bc-d96a4ea2e7cf" providerId="ADAL" clId="{13C3C948-E538-4E74-ABA6-FB3B14096097}" dt="2026-01-14T16:33:34.704" v="50" actId="27636"/>
        <pc:sldMkLst>
          <pc:docMk/>
          <pc:sldMk cId="4135383746" sldId="348"/>
        </pc:sldMkLst>
      </pc:sldChg>
      <pc:sldChg chg="add del modNotes modNotesTx">
        <pc:chgData name="Shimaa Abdelmeguid" userId="47fd2e4c-d07d-4c27-b7bc-d96a4ea2e7cf" providerId="ADAL" clId="{13C3C948-E538-4E74-ABA6-FB3B14096097}" dt="2026-01-14T16:35:59.347" v="72" actId="6549"/>
        <pc:sldMkLst>
          <pc:docMk/>
          <pc:sldMk cId="2770983247" sldId="349"/>
        </pc:sldMkLst>
      </pc:sldChg>
      <pc:sldChg chg="add del modNotesTx">
        <pc:chgData name="Shimaa Abdelmeguid" userId="47fd2e4c-d07d-4c27-b7bc-d96a4ea2e7cf" providerId="ADAL" clId="{13C3C948-E538-4E74-ABA6-FB3B14096097}" dt="2026-01-14T16:37:04.625" v="88" actId="6549"/>
        <pc:sldMkLst>
          <pc:docMk/>
          <pc:sldMk cId="3365508528" sldId="350"/>
        </pc:sldMkLst>
      </pc:sldChg>
      <pc:sldChg chg="add del modNotesTx">
        <pc:chgData name="Shimaa Abdelmeguid" userId="47fd2e4c-d07d-4c27-b7bc-d96a4ea2e7cf" providerId="ADAL" clId="{13C3C948-E538-4E74-ABA6-FB3B14096097}" dt="2026-01-14T16:36:57.970" v="86" actId="6549"/>
        <pc:sldMkLst>
          <pc:docMk/>
          <pc:sldMk cId="1230129866" sldId="351"/>
        </pc:sldMkLst>
      </pc:sldChg>
      <pc:sldChg chg="add modNotes modNotesTx">
        <pc:chgData name="Shimaa Abdelmeguid" userId="47fd2e4c-d07d-4c27-b7bc-d96a4ea2e7cf" providerId="ADAL" clId="{13C3C948-E538-4E74-ABA6-FB3B14096097}" dt="2026-01-14T16:35:55.698" v="71" actId="6549"/>
        <pc:sldMkLst>
          <pc:docMk/>
          <pc:sldMk cId="4197723764" sldId="352"/>
        </pc:sldMkLst>
      </pc:sldChg>
      <pc:sldChg chg="add modNotesTx">
        <pc:chgData name="Shimaa Abdelmeguid" userId="47fd2e4c-d07d-4c27-b7bc-d96a4ea2e7cf" providerId="ADAL" clId="{13C3C948-E538-4E74-ABA6-FB3B14096097}" dt="2026-01-14T16:36:06.465" v="74" actId="6549"/>
        <pc:sldMkLst>
          <pc:docMk/>
          <pc:sldMk cId="3209178714" sldId="353"/>
        </pc:sldMkLst>
      </pc:sldChg>
      <pc:sldChg chg="add modNotesTx">
        <pc:chgData name="Shimaa Abdelmeguid" userId="47fd2e4c-d07d-4c27-b7bc-d96a4ea2e7cf" providerId="ADAL" clId="{13C3C948-E538-4E74-ABA6-FB3B14096097}" dt="2026-01-14T16:37:18.754" v="92" actId="6549"/>
        <pc:sldMkLst>
          <pc:docMk/>
          <pc:sldMk cId="1976128320" sldId="354"/>
        </pc:sldMkLst>
      </pc:sldChg>
      <pc:sldChg chg="modSp add mod modNotes modNotesTx">
        <pc:chgData name="Shimaa Abdelmeguid" userId="47fd2e4c-d07d-4c27-b7bc-d96a4ea2e7cf" providerId="ADAL" clId="{13C3C948-E538-4E74-ABA6-FB3B14096097}" dt="2026-01-14T16:40:28.818" v="96" actId="20577"/>
        <pc:sldMkLst>
          <pc:docMk/>
          <pc:sldMk cId="4252574251" sldId="355"/>
        </pc:sldMkLst>
        <pc:spChg chg="mod">
          <ac:chgData name="Shimaa Abdelmeguid" userId="47fd2e4c-d07d-4c27-b7bc-d96a4ea2e7cf" providerId="ADAL" clId="{13C3C948-E538-4E74-ABA6-FB3B14096097}" dt="2026-01-14T16:40:28.818" v="96" actId="20577"/>
          <ac:spMkLst>
            <pc:docMk/>
            <pc:sldMk cId="4252574251" sldId="355"/>
            <ac:spMk id="43010" creationId="{DC2C868C-3BF2-ADD2-E8FB-A0D1E03DF9F3}"/>
          </ac:spMkLst>
        </pc:spChg>
      </pc:sldChg>
      <pc:sldChg chg="add modNotesTx">
        <pc:chgData name="Shimaa Abdelmeguid" userId="47fd2e4c-d07d-4c27-b7bc-d96a4ea2e7cf" providerId="ADAL" clId="{13C3C948-E538-4E74-ABA6-FB3B14096097}" dt="2026-01-14T16:37:28.671" v="95" actId="6549"/>
        <pc:sldMkLst>
          <pc:docMk/>
          <pc:sldMk cId="503543861" sldId="35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83BB4-0A16-5245-9E06-FF8135372772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F50E6-3C15-004E-9EE0-94B9FD5DD2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1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69228-E2B9-114B-84AC-2DD0140A52E6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5A050-7306-7B4E-867E-A3663FBCD5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6971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427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584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58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2662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111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4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24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394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797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4738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487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383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62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37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171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904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67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305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450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495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366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295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7086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441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552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85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772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sz="1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464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87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985D-6AE5-C0CE-971A-6C4AE162A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A24A2-D504-842B-5212-74E5FA3DE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4E159-7B50-3F1D-B6B3-E4F3D5227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E1230A-9597-75CA-1A7E-004CEBA1D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957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119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821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44A11-EA10-3C0B-FAD7-85E83BC38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943A73-7B5C-1D82-6B99-DB50942B5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BCB1F-05A5-C8DA-CA7C-2C3A4EDE5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D9EFC-125B-2165-C3C4-1DDB97E23C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108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1214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01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5712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02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380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205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164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5995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795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767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5285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7081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250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8776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 fontScale="92500" lnSpcReduction="20000"/>
          </a:bodyPr>
          <a:lstStyle/>
          <a:p>
            <a:endParaRPr lang="en-US" dirty="0"/>
          </a:p>
        </p:txBody>
      </p:sp>
      <p:sp>
        <p:nvSpPr>
          <p:cNvPr id="3379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3584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1826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D230-E67E-B93E-A79D-E0F6D5D77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DD098-09B3-6525-7042-A24AC8DCB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DEC61-AD39-14F9-CE63-14BBA0B98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E76021-927A-61B9-ED61-7BC8AD276A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0363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40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94F33-0367-9FF5-13C2-EFFDF383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27A09709-0E0C-06F2-8361-CAF422B6CD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ECB27CE2-48F5-B2F9-4C9E-5076A058F5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31145398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B4B5-ABAD-492D-EE09-1B9C85F8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2033C5C-83F4-4469-24D9-2AED61E4A5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7799BCC0-4334-AC9F-179E-3F03BC84A3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209628906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5A050-7306-7B4E-867E-A3663FBCD5C6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56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7AF1E-9B18-0243-8AD1-50A6A8AC0AC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8BC69-CB41-DD44-A638-C4F95AA9426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3444D-6BBE-FA46-910D-A293AF635ED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DD7DD-CC47-414C-BF78-C5251FE0B06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78AD6-5F3D-BA44-875A-31E2927FBE4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9686C-6E28-9A40-BAFE-97DC9D1AE6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25899C-C9DE-4C43-812F-DCCD705BC8B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6ACDAE-E963-2B45-BB51-53CEBFE15BA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D119D-3673-024B-9609-A7D54722229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29323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3E67C1E-A116-FA4E-B295-2EE9C41BDD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457200" y="1419226"/>
            <a:ext cx="730580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432" y="213186"/>
            <a:ext cx="923794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457200" y="1417638"/>
            <a:ext cx="8217026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Chapter 2 – Software Processes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9B40A3-8C98-7643-999B-D2E4C4DFCA8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Topics covered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 models</a:t>
            </a:r>
          </a:p>
          <a:p>
            <a:r>
              <a:rPr lang="en-GB" dirty="0"/>
              <a:t>Process activities</a:t>
            </a:r>
          </a:p>
          <a:p>
            <a:r>
              <a:rPr lang="en-GB" dirty="0"/>
              <a:t>Coping with change</a:t>
            </a:r>
          </a:p>
          <a:p>
            <a:r>
              <a:rPr lang="en-GB" dirty="0"/>
              <a:t>Process improvement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software process</a:t>
            </a:r>
            <a:endParaRPr lang="en-GB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23514" cy="4525963"/>
          </a:xfrm>
        </p:spPr>
        <p:txBody>
          <a:bodyPr/>
          <a:lstStyle/>
          <a:p>
            <a:r>
              <a:rPr lang="en-GB" dirty="0"/>
              <a:t>A structured set of activities required to develop a </a:t>
            </a:r>
            <a:br>
              <a:rPr lang="en-GB" dirty="0"/>
            </a:br>
            <a:r>
              <a:rPr lang="en-GB" dirty="0"/>
              <a:t>software system. </a:t>
            </a:r>
          </a:p>
          <a:p>
            <a:r>
              <a:rPr lang="en-GB" dirty="0"/>
              <a:t>Many different software processes but all involve:</a:t>
            </a:r>
          </a:p>
          <a:p>
            <a:pPr lvl="1"/>
            <a:r>
              <a:rPr lang="en-GB" dirty="0"/>
              <a:t>Specification – defining what the system should do;</a:t>
            </a:r>
          </a:p>
          <a:p>
            <a:pPr lvl="1"/>
            <a:r>
              <a:rPr lang="en-GB" dirty="0"/>
              <a:t>Design and implementation – defining the organization of the system and implementing the system;</a:t>
            </a:r>
          </a:p>
          <a:p>
            <a:pPr lvl="1"/>
            <a:r>
              <a:rPr lang="en-GB" dirty="0"/>
              <a:t>Validation – checking that it does what the customer wants;</a:t>
            </a:r>
          </a:p>
          <a:p>
            <a:pPr lvl="1"/>
            <a:r>
              <a:rPr lang="en-GB" dirty="0"/>
              <a:t>Evolution – changing the system in response to changing customer needs.</a:t>
            </a:r>
          </a:p>
          <a:p>
            <a:r>
              <a:rPr lang="en-GB" b="1" dirty="0"/>
              <a:t>A software process model </a:t>
            </a:r>
            <a:r>
              <a:rPr lang="en-GB" dirty="0"/>
              <a:t>is an abstract representation of a process. It presents a description of a process from some particular perspective.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process descriptions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When we describe and discuss process, we usually talk about the activities in this process such as </a:t>
            </a:r>
            <a:r>
              <a:rPr lang="en-GB" b="1" dirty="0"/>
              <a:t>specifying a data model</a:t>
            </a:r>
            <a:r>
              <a:rPr lang="en-GB" dirty="0"/>
              <a:t>, </a:t>
            </a:r>
            <a:r>
              <a:rPr lang="en-GB" b="1" dirty="0"/>
              <a:t>designing a user interface</a:t>
            </a:r>
            <a:r>
              <a:rPr lang="en-GB" dirty="0"/>
              <a:t>, etc. and </a:t>
            </a:r>
            <a:r>
              <a:rPr lang="en-GB" b="1" dirty="0"/>
              <a:t>the ordering of these activities</a:t>
            </a:r>
            <a:r>
              <a:rPr lang="en-GB" dirty="0"/>
              <a:t>.</a:t>
            </a:r>
          </a:p>
          <a:p>
            <a:r>
              <a:rPr lang="en-GB" dirty="0"/>
              <a:t>Process descriptions may also include:</a:t>
            </a:r>
          </a:p>
          <a:p>
            <a:pPr lvl="1"/>
            <a:r>
              <a:rPr lang="en-GB" b="1" dirty="0"/>
              <a:t>Products, </a:t>
            </a:r>
            <a:r>
              <a:rPr lang="en-GB" dirty="0"/>
              <a:t>which are the outcomes of a process activity; </a:t>
            </a:r>
          </a:p>
          <a:p>
            <a:pPr lvl="1"/>
            <a:r>
              <a:rPr lang="en-GB" b="1" dirty="0"/>
              <a:t>Roles, </a:t>
            </a:r>
            <a:r>
              <a:rPr lang="en-GB" dirty="0"/>
              <a:t>which reflect the responsibilities of the people involved in the process;</a:t>
            </a:r>
          </a:p>
          <a:p>
            <a:pPr lvl="1"/>
            <a:r>
              <a:rPr lang="en-GB" b="1" dirty="0"/>
              <a:t>Pre- and post-conditions</a:t>
            </a:r>
            <a:r>
              <a:rPr lang="en-GB" dirty="0"/>
              <a:t>, which are statements that are true before and after a process activity has been enacted or a product produced.  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Plan-driven and agile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Plan-driven processes </a:t>
            </a:r>
            <a:r>
              <a:rPr lang="en-GB" dirty="0"/>
              <a:t>are processes where all of the process activities are </a:t>
            </a:r>
            <a:r>
              <a:rPr lang="en-GB" b="1" dirty="0"/>
              <a:t>planned in advance and progress is measured against this plan. </a:t>
            </a:r>
          </a:p>
          <a:p>
            <a:r>
              <a:rPr lang="en-GB" b="1" dirty="0"/>
              <a:t>In agile processes</a:t>
            </a:r>
            <a:r>
              <a:rPr lang="en-GB" dirty="0"/>
              <a:t>, planning is incremental and it is easier to change the process to reflect changing customer requirements. </a:t>
            </a:r>
          </a:p>
          <a:p>
            <a:r>
              <a:rPr lang="en-GB" dirty="0"/>
              <a:t>In practice, most practical processes include elements of both plan-driven and agile approaches. </a:t>
            </a:r>
          </a:p>
          <a:p>
            <a:r>
              <a:rPr lang="en-GB" dirty="0"/>
              <a:t>There are no right or wrong software processes.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147888"/>
            <a:ext cx="9144000" cy="1143000"/>
          </a:xfrm>
        </p:spPr>
        <p:txBody>
          <a:bodyPr/>
          <a:lstStyle/>
          <a:p>
            <a:pPr algn="ctr"/>
            <a:r>
              <a:rPr lang="en-US" dirty="0"/>
              <a:t>Software process models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41669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process models</a:t>
            </a:r>
            <a:endParaRPr lang="en-GB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waterfall model</a:t>
            </a:r>
          </a:p>
          <a:p>
            <a:pPr lvl="1"/>
            <a:r>
              <a:rPr lang="en-GB" dirty="0"/>
              <a:t>Plan-driven model. Separate and distinct phases of specification and development.</a:t>
            </a:r>
          </a:p>
          <a:p>
            <a:r>
              <a:rPr lang="en-GB" b="1" dirty="0"/>
              <a:t>Incremental development</a:t>
            </a:r>
          </a:p>
          <a:p>
            <a:pPr lvl="1"/>
            <a:r>
              <a:rPr lang="en-GB" dirty="0"/>
              <a:t>Specification, development and validation are interleaved. </a:t>
            </a:r>
          </a:p>
          <a:p>
            <a:r>
              <a:rPr lang="en-GB" b="1" dirty="0"/>
              <a:t>Integration and configuration</a:t>
            </a:r>
          </a:p>
          <a:p>
            <a:pPr lvl="1"/>
            <a:r>
              <a:rPr lang="en-GB" dirty="0"/>
              <a:t>The system is assembled from existing configurable components </a:t>
            </a:r>
            <a:r>
              <a:rPr lang="en-US" dirty="0"/>
              <a:t>for use in a new setting and integrating them into a system.</a:t>
            </a:r>
            <a:r>
              <a:rPr lang="en-GB" dirty="0"/>
              <a:t>. </a:t>
            </a:r>
          </a:p>
          <a:p>
            <a:r>
              <a:rPr lang="en-GB" dirty="0"/>
              <a:t>In practice, most large systems are developed using a process that incorporates elements from all of these models.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waterfall model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4" name="Picture 3" descr="2.1.Waterfall-model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3" y="1931942"/>
            <a:ext cx="7183698" cy="4039465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phases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separate identified phases in the waterfall model:</a:t>
            </a:r>
          </a:p>
          <a:p>
            <a:pPr lvl="1"/>
            <a:r>
              <a:rPr lang="en-GB" dirty="0"/>
              <a:t>Requirements analysis and definition</a:t>
            </a:r>
          </a:p>
          <a:p>
            <a:pPr lvl="1"/>
            <a:r>
              <a:rPr lang="en-GB" dirty="0"/>
              <a:t>System and software design</a:t>
            </a:r>
          </a:p>
          <a:p>
            <a:pPr lvl="1"/>
            <a:r>
              <a:rPr lang="en-GB" dirty="0"/>
              <a:t>Implementation and unit testing</a:t>
            </a:r>
          </a:p>
          <a:p>
            <a:pPr lvl="1"/>
            <a:r>
              <a:rPr lang="en-GB" dirty="0"/>
              <a:t>Integration and system testing</a:t>
            </a:r>
          </a:p>
          <a:p>
            <a:pPr lvl="1"/>
            <a:r>
              <a:rPr lang="en-GB" dirty="0"/>
              <a:t>Operation and maintenance</a:t>
            </a:r>
          </a:p>
          <a:p>
            <a:r>
              <a:rPr lang="en-GB" dirty="0"/>
              <a:t>The </a:t>
            </a:r>
            <a:r>
              <a:rPr lang="en-GB" b="1" dirty="0"/>
              <a:t>main drawback </a:t>
            </a:r>
            <a:r>
              <a:rPr lang="en-GB" dirty="0"/>
              <a:t>of the waterfall model is the difficulty of accommodating change after the process is underway. In principle, a phase has to be complete before moving onto the next phase.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Waterfall model problems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Inflexible partitioning of the project into distinct stages makes it difficult to respond to changing customer requirements.</a:t>
            </a:r>
          </a:p>
          <a:p>
            <a:pPr lvl="1"/>
            <a:r>
              <a:rPr lang="en-GB" dirty="0"/>
              <a:t>Therefore, this model is only appropriate when the requirements are well-understood and changes will be fairly limited during the design process. </a:t>
            </a:r>
          </a:p>
          <a:p>
            <a:pPr lvl="1"/>
            <a:r>
              <a:rPr lang="en-GB" dirty="0"/>
              <a:t>Few business systems have stable requirements.</a:t>
            </a:r>
          </a:p>
          <a:p>
            <a:r>
              <a:rPr lang="en-GB" dirty="0"/>
              <a:t>The waterfall model is mostly used </a:t>
            </a:r>
            <a:r>
              <a:rPr lang="en-GB" b="1" dirty="0"/>
              <a:t>for large systems engineering projects </a:t>
            </a:r>
            <a:r>
              <a:rPr lang="en-GB" dirty="0"/>
              <a:t>where a system is developed at several sites or teams.</a:t>
            </a:r>
          </a:p>
          <a:p>
            <a:pPr lvl="1"/>
            <a:r>
              <a:rPr lang="en-GB" dirty="0"/>
              <a:t>In those circumstances, the plan-driven nature of the waterfall model helps coordinate the work </a:t>
            </a:r>
            <a:r>
              <a:rPr lang="en-US" dirty="0"/>
              <a:t>and maintain control over the project</a:t>
            </a:r>
            <a:r>
              <a:rPr lang="en-GB" dirty="0"/>
              <a:t>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4" name="Picture 3" descr="2.2 Incremental-dev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92460"/>
            <a:ext cx="7517728" cy="405192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development benefits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cost of accommodating changing customer requirements is reduced. </a:t>
            </a:r>
          </a:p>
          <a:p>
            <a:pPr lvl="1"/>
            <a:r>
              <a:rPr lang="en-GB" dirty="0"/>
              <a:t>The amount of analysis and documentation that has to be redone is much less than is required with the waterfall model.</a:t>
            </a:r>
          </a:p>
          <a:p>
            <a:r>
              <a:rPr lang="en-GB" dirty="0"/>
              <a:t>It is easier to get customer feedback on the development work that has been done. </a:t>
            </a:r>
          </a:p>
          <a:p>
            <a:pPr lvl="1"/>
            <a:r>
              <a:rPr lang="en-GB" dirty="0"/>
              <a:t>Customers can comment on demonstrations of the software and see how much has been implemented. </a:t>
            </a:r>
          </a:p>
          <a:p>
            <a:r>
              <a:rPr lang="en-GB" dirty="0"/>
              <a:t>More rapid delivery and deployment of useful software to the customer is possible. </a:t>
            </a:r>
          </a:p>
          <a:p>
            <a:pPr lvl="1"/>
            <a:r>
              <a:rPr lang="en-GB" dirty="0"/>
              <a:t>Customers are able to use and gain value from the software earlier than is possible with a waterfall process.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process is not visible. </a:t>
            </a:r>
          </a:p>
          <a:p>
            <a:pPr lvl="1"/>
            <a:r>
              <a:rPr lang="en-GB" dirty="0"/>
              <a:t>Managers need regular deliverables to measure progress. If systems are developed quickly, it is not cost-effective to produce documents that reflect every version of the system. </a:t>
            </a:r>
          </a:p>
          <a:p>
            <a:r>
              <a:rPr lang="en-GB" dirty="0"/>
              <a:t>System structure tends to degrade as new increments are added</a:t>
            </a:r>
            <a:r>
              <a:rPr lang="en-GB" i="1" dirty="0"/>
              <a:t>. 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Unless time and money is spent on refactoring to improve the software, regular change tends to corrupt its structure. Incorporating further software changes becomes increasingly difficult and costly.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Integration and configuration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Based on software reuse where systems are integrated from existing components or application systems.</a:t>
            </a:r>
          </a:p>
          <a:p>
            <a:r>
              <a:rPr lang="en-GB" dirty="0"/>
              <a:t>Reused elements may be configured to adapt their behaviour and functionality to a user’s requirements</a:t>
            </a:r>
          </a:p>
          <a:p>
            <a:r>
              <a:rPr lang="en-GB" dirty="0"/>
              <a:t>Reuse is now the standard approach for building many types of business system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reusable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Stand-alone application systems (sometimes called COTS-</a:t>
            </a:r>
            <a:r>
              <a:rPr lang="en-US" b="1" dirty="0"/>
              <a:t>(Commercial Off-The-Shelf) </a:t>
            </a:r>
            <a:r>
              <a:rPr lang="en-GB" dirty="0"/>
              <a:t>) that are configured for use in a particular environment.</a:t>
            </a:r>
          </a:p>
          <a:p>
            <a:r>
              <a:rPr lang="en-GB" dirty="0"/>
              <a:t>Collections of objects that are developed as a package to be integrated with a component framework such as .NET or J2EE. </a:t>
            </a:r>
            <a:r>
              <a:rPr lang="en-US" dirty="0"/>
              <a:t>Developers reuse these components to add functionality without rewriting code.</a:t>
            </a:r>
            <a:endParaRPr lang="en-GB" dirty="0"/>
          </a:p>
          <a:p>
            <a:r>
              <a:rPr lang="en-GB" dirty="0"/>
              <a:t>Web services that are developed according to service standards and which are available for remote invocation. 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Reuse-oriented software engineering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2" name="Picture 1" descr="2.3 Reuse oriented SE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41" y="1778984"/>
            <a:ext cx="8793575" cy="365468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DEFC2-57FB-5599-21AE-CE7F4A646D44}"/>
              </a:ext>
            </a:extLst>
          </p:cNvPr>
          <p:cNvSpPr txBox="1"/>
          <p:nvPr/>
        </p:nvSpPr>
        <p:spPr>
          <a:xfrm>
            <a:off x="574158" y="3977302"/>
            <a:ext cx="59790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Key process stages: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Requirements specification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Software discovery and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Requirements refinement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Application system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Component adaptation and integration</a:t>
            </a:r>
            <a:endParaRPr lang="en-CA" sz="2400" dirty="0"/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costs and risks as less software is developed from scratch</a:t>
            </a:r>
          </a:p>
          <a:p>
            <a:r>
              <a:rPr lang="en-US" dirty="0"/>
              <a:t>Faster delivery and deployment of system</a:t>
            </a:r>
          </a:p>
          <a:p>
            <a:r>
              <a:rPr lang="en-US" dirty="0"/>
              <a:t>But requirements compromises are inevitable so system may not meet real needs of users</a:t>
            </a:r>
          </a:p>
          <a:p>
            <a:r>
              <a:rPr lang="en-US" dirty="0"/>
              <a:t>Loss of control over evolution of reused system elements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14283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43138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Process activities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0752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Process activities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Real software processes are inter-leaved sequences of technical, collaborative and managerial activities with the overall goal of </a:t>
            </a:r>
            <a:r>
              <a:rPr lang="en-US" b="1" dirty="0"/>
              <a:t>specifying requirements, designing the system, implementing the software, and testing it</a:t>
            </a:r>
            <a:r>
              <a:rPr lang="en-GB" dirty="0"/>
              <a:t>. </a:t>
            </a:r>
          </a:p>
          <a:p>
            <a:r>
              <a:rPr lang="en-GB" dirty="0"/>
              <a:t>The four basic process activities of </a:t>
            </a:r>
            <a:r>
              <a:rPr lang="en-GB" b="1" dirty="0"/>
              <a:t>specification, development, validation and evolution</a:t>
            </a:r>
            <a:r>
              <a:rPr lang="en-GB" dirty="0"/>
              <a:t> are organized differently in different development processes. </a:t>
            </a:r>
          </a:p>
          <a:p>
            <a:r>
              <a:rPr lang="en-GB" dirty="0"/>
              <a:t>For example, in the waterfall model, they are organized in sequence, whereas in incremental development they are interleaved. 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requirements engineering process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pic>
        <p:nvPicPr>
          <p:cNvPr id="2" name="Picture 1" descr="2.4 RE-process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762" y="1720552"/>
            <a:ext cx="6339334" cy="4392817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specification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>
          <a:xfrm>
            <a:off x="416664" y="1600200"/>
            <a:ext cx="8460480" cy="4525963"/>
          </a:xfrm>
        </p:spPr>
        <p:txBody>
          <a:bodyPr/>
          <a:lstStyle/>
          <a:p>
            <a:r>
              <a:rPr lang="en-GB" dirty="0"/>
              <a:t>The process of establishing what services are required and the constraints on the system’s operation and development.</a:t>
            </a:r>
          </a:p>
          <a:p>
            <a:r>
              <a:rPr lang="en-GB" dirty="0"/>
              <a:t>Requirements engineering process</a:t>
            </a:r>
          </a:p>
          <a:p>
            <a:pPr lvl="1"/>
            <a:r>
              <a:rPr lang="en-GB" dirty="0"/>
              <a:t>Requirements elicitation and analysis</a:t>
            </a:r>
          </a:p>
          <a:p>
            <a:pPr lvl="2"/>
            <a:r>
              <a:rPr lang="en-GB" dirty="0"/>
              <a:t>What do the system stakeholders require or expect from the system?</a:t>
            </a:r>
          </a:p>
          <a:p>
            <a:pPr lvl="1"/>
            <a:r>
              <a:rPr lang="en-GB" dirty="0"/>
              <a:t>Requirements specification	</a:t>
            </a:r>
          </a:p>
          <a:p>
            <a:pPr lvl="2"/>
            <a:r>
              <a:rPr lang="en-GB" dirty="0"/>
              <a:t>Defining the requirements in detail</a:t>
            </a:r>
          </a:p>
          <a:p>
            <a:pPr lvl="1"/>
            <a:r>
              <a:rPr lang="en-GB" dirty="0"/>
              <a:t>Requirements validation</a:t>
            </a:r>
          </a:p>
          <a:p>
            <a:pPr lvl="2"/>
            <a:r>
              <a:rPr lang="en-GB" dirty="0"/>
              <a:t>Checking the validity of the requirements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design and implementation</a:t>
            </a:r>
            <a:endParaRPr lang="en-GB" dirty="0"/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The process of converting the system specification into an executable system.</a:t>
            </a:r>
          </a:p>
          <a:p>
            <a:r>
              <a:rPr lang="en-GB"/>
              <a:t>Software design</a:t>
            </a:r>
          </a:p>
          <a:p>
            <a:pPr lvl="1"/>
            <a:r>
              <a:rPr lang="en-GB"/>
              <a:t>Design a software structure that realises the specification;</a:t>
            </a:r>
          </a:p>
          <a:p>
            <a:r>
              <a:rPr lang="en-GB"/>
              <a:t>Implementation</a:t>
            </a:r>
          </a:p>
          <a:p>
            <a:pPr lvl="1"/>
            <a:r>
              <a:rPr lang="en-GB"/>
              <a:t>Translate this structure into an executable program;</a:t>
            </a:r>
          </a:p>
          <a:p>
            <a:r>
              <a:rPr lang="en-GB"/>
              <a:t>The activities of design and implementation are closely related and may be inter-leaved.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general model of the design process 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4" name="Picture 3" descr="2.5 Design-process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243" y="1638390"/>
            <a:ext cx="6211739" cy="463809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/>
              <a:t>Architectural design,</a:t>
            </a:r>
            <a:r>
              <a:rPr lang="en-GB" dirty="0"/>
              <a:t> where you identify the overall structure of the system, the principal components (subsystems or modules), their relationships and how they are distributed.</a:t>
            </a:r>
          </a:p>
          <a:p>
            <a:r>
              <a:rPr lang="en-GB" i="1" dirty="0"/>
              <a:t>Database design, </a:t>
            </a:r>
            <a:r>
              <a:rPr lang="en-GB" dirty="0"/>
              <a:t>where you design the system data structures and how these are to be represented in a database. </a:t>
            </a:r>
          </a:p>
          <a:p>
            <a:r>
              <a:rPr lang="en-GB" i="1" dirty="0"/>
              <a:t>Interface design,</a:t>
            </a:r>
            <a:r>
              <a:rPr lang="en-GB" dirty="0"/>
              <a:t> where you define the interfaces between system components. </a:t>
            </a:r>
          </a:p>
          <a:p>
            <a:r>
              <a:rPr lang="en-GB" i="1" dirty="0"/>
              <a:t>Component selection and design, </a:t>
            </a:r>
            <a:r>
              <a:rPr lang="en-GB" dirty="0"/>
              <a:t>where you search for reusable components. If unavailable, you design how it will operate.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software is implemented either by developing a program or programs or by configuring an application system.</a:t>
            </a:r>
          </a:p>
          <a:p>
            <a:r>
              <a:rPr lang="en-US" dirty="0"/>
              <a:t>Design and implementation are interleaved activities for most types of software system.</a:t>
            </a:r>
          </a:p>
          <a:p>
            <a:r>
              <a:rPr lang="en-US" dirty="0"/>
              <a:t>Programming is an individual activity with no standard process.</a:t>
            </a:r>
          </a:p>
          <a:p>
            <a:r>
              <a:rPr lang="en-US" dirty="0"/>
              <a:t>Debugging is the activity of finding program faults and correcting these faults.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383746"/>
      </p:ext>
    </p:extLst>
  </p:cSld>
  <p:clrMapOvr>
    <a:masterClrMapping/>
  </p:clrMapOvr>
  <p:transition spd="med"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validation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Verification and validation (V &amp; V) is intended to show that a system conforms to its specification and meets the requirements of the system customer.</a:t>
            </a:r>
          </a:p>
          <a:p>
            <a:r>
              <a:rPr lang="en-GB" dirty="0"/>
              <a:t>Involves checking and review processes and system testing.</a:t>
            </a:r>
          </a:p>
          <a:p>
            <a:r>
              <a:rPr lang="en-GB" dirty="0"/>
              <a:t>System testing involves executing the system with test cases that are derived from the specification of the real data to be processed by the system.</a:t>
            </a:r>
          </a:p>
          <a:p>
            <a:r>
              <a:rPr lang="en-GB" dirty="0"/>
              <a:t>Testing is the most commonly used V &amp; V activity.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Stages of testing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4" name="Picture 3" descr="2.6 Testing-process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409" y="2829344"/>
            <a:ext cx="6277535" cy="1707049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Testing stages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Component testing</a:t>
            </a:r>
          </a:p>
          <a:p>
            <a:pPr lvl="1"/>
            <a:r>
              <a:rPr lang="en-GB" dirty="0"/>
              <a:t>Individual components are tested independently; </a:t>
            </a:r>
          </a:p>
          <a:p>
            <a:pPr lvl="1"/>
            <a:r>
              <a:rPr lang="en-GB" dirty="0"/>
              <a:t>Components may be functions or objects or coherent groupings of these entities.</a:t>
            </a:r>
          </a:p>
          <a:p>
            <a:r>
              <a:rPr lang="en-GB" dirty="0"/>
              <a:t>System testing</a:t>
            </a:r>
          </a:p>
          <a:p>
            <a:pPr lvl="1"/>
            <a:r>
              <a:rPr lang="en-GB" dirty="0"/>
              <a:t>Testing of the system as a whole. Testing of emergent properties is particularly important.</a:t>
            </a:r>
          </a:p>
          <a:p>
            <a:r>
              <a:rPr lang="en-GB" dirty="0"/>
              <a:t>Customer testing</a:t>
            </a:r>
          </a:p>
          <a:p>
            <a:pPr lvl="1"/>
            <a:r>
              <a:rPr lang="en-GB" dirty="0"/>
              <a:t>Testing with customer data to check that the system meets the customer’s needs.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phases in a plan-driven software process (V-model)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pic>
        <p:nvPicPr>
          <p:cNvPr id="4" name="Picture 3" descr="2.7 Testing-phases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57" y="2186304"/>
            <a:ext cx="8647437" cy="2988016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Software evolution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346364" y="1417638"/>
            <a:ext cx="8797636" cy="4938712"/>
          </a:xfrm>
        </p:spPr>
        <p:txBody>
          <a:bodyPr/>
          <a:lstStyle/>
          <a:p>
            <a:r>
              <a:rPr lang="en-GB" sz="2000" dirty="0"/>
              <a:t>Software is inherently flexible and can change. </a:t>
            </a:r>
          </a:p>
          <a:p>
            <a:pPr lvl="1"/>
            <a:r>
              <a:rPr lang="en-US" altLang="en-US" dirty="0"/>
              <a:t>Unlike hardware, software is flexible and can be modified after it is delivered.</a:t>
            </a:r>
          </a:p>
          <a:p>
            <a:r>
              <a:rPr lang="en-GB" sz="2000" dirty="0"/>
              <a:t>As requirements change through changing business circumstances, the software that supports the business must also evolve and change.</a:t>
            </a:r>
          </a:p>
          <a:p>
            <a:r>
              <a:rPr lang="en-US" altLang="en-US" sz="2000" dirty="0"/>
              <a:t>Software is rarely finished.</a:t>
            </a:r>
          </a:p>
          <a:p>
            <a:pPr lvl="1"/>
            <a:r>
              <a:rPr lang="en-US" altLang="en-US" sz="1800" dirty="0"/>
              <a:t>Most systems continue to evolve through updates, bug fixes, and new features.</a:t>
            </a:r>
          </a:p>
          <a:p>
            <a:r>
              <a:rPr lang="en-US" altLang="en-US" sz="2000" dirty="0"/>
              <a:t>Development and maintenance are closely connected.</a:t>
            </a:r>
          </a:p>
          <a:p>
            <a:pPr lvl="1"/>
            <a:r>
              <a:rPr lang="en-US" altLang="en-US" sz="1800" dirty="0"/>
              <a:t>Today, building new features and maintaining existing software often happen at the same time. </a:t>
            </a:r>
          </a:p>
          <a:p>
            <a:pPr lvl="1"/>
            <a:r>
              <a:rPr lang="en-US" altLang="en-US" sz="1800" dirty="0"/>
              <a:t>Most systems are not built from scratch. Instead, they are improved or extended versions of existing systems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30/10/2014</a:t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System evolution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4" name="Picture 3" descr="2.8 System evolution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78" y="2563931"/>
            <a:ext cx="7567072" cy="232833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80722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Coping with change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39441"/>
      </p:ext>
    </p:extLst>
  </p:cSld>
  <p:clrMapOvr>
    <a:masterClrMapping/>
  </p:clrMapOvr>
  <p:transition spd="med">
    <p:wipe dir="r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Coping with change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522208" cy="4756150"/>
          </a:xfrm>
        </p:spPr>
        <p:txBody>
          <a:bodyPr/>
          <a:lstStyle/>
          <a:p>
            <a:r>
              <a:rPr lang="en-US" dirty="0"/>
              <a:t>Change is inevitable in all large software projects.</a:t>
            </a:r>
          </a:p>
          <a:p>
            <a:pPr lvl="1"/>
            <a:r>
              <a:rPr lang="en-US" dirty="0"/>
              <a:t>Business changes lead to new and changed system requirements</a:t>
            </a:r>
          </a:p>
          <a:p>
            <a:pPr lvl="1"/>
            <a:r>
              <a:rPr lang="en-US" dirty="0"/>
              <a:t>New technologies open up new possibilities for improving implementations</a:t>
            </a:r>
          </a:p>
          <a:p>
            <a:pPr lvl="1"/>
            <a:r>
              <a:rPr lang="en-US" dirty="0"/>
              <a:t>Changing platforms require application changes</a:t>
            </a:r>
          </a:p>
          <a:p>
            <a:r>
              <a:rPr lang="en-US" dirty="0"/>
              <a:t>Every change introduces </a:t>
            </a:r>
            <a:r>
              <a:rPr lang="en-US" b="1" dirty="0"/>
              <a:t>rework</a:t>
            </a:r>
            <a:r>
              <a:rPr lang="en-US" dirty="0"/>
              <a:t>. Rework can include </a:t>
            </a:r>
            <a:r>
              <a:rPr lang="en-US" b="1" dirty="0"/>
              <a:t>re-analyzing requirements, updating designs, modifying code, and re-testing the system.</a:t>
            </a:r>
            <a:endParaRPr lang="en-US" dirty="0"/>
          </a:p>
          <a:p>
            <a:r>
              <a:rPr lang="en-US" dirty="0"/>
              <a:t>So, the total cost of change includes not only the effort to add </a:t>
            </a:r>
            <a:r>
              <a:rPr lang="en-US" b="1" dirty="0"/>
              <a:t>new functionality</a:t>
            </a:r>
            <a:r>
              <a:rPr lang="en-US" dirty="0"/>
              <a:t>, but also the effort required to </a:t>
            </a:r>
            <a:r>
              <a:rPr lang="en-US" b="1" dirty="0"/>
              <a:t>revisit and adjust what has already been built</a:t>
            </a:r>
            <a:r>
              <a:rPr lang="en-US" dirty="0"/>
              <a:t>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the costs of rework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Change anticipation</a:t>
            </a:r>
            <a:r>
              <a:rPr lang="en-GB" dirty="0"/>
              <a:t>, where the software process includes activities that can anticipate possible changes before significant rework is required. </a:t>
            </a:r>
          </a:p>
          <a:p>
            <a:pPr lvl="1"/>
            <a:r>
              <a:rPr lang="en-US" dirty="0"/>
              <a:t>For example, during requirements analysis, a team might:</a:t>
            </a:r>
          </a:p>
          <a:p>
            <a:pPr lvl="2"/>
            <a:r>
              <a:rPr lang="en-US" dirty="0"/>
              <a:t>Conduct detailed stakeholder interviews</a:t>
            </a:r>
          </a:p>
          <a:p>
            <a:pPr lvl="2"/>
            <a:r>
              <a:rPr lang="en-US" dirty="0"/>
              <a:t>Analyze similar existing systems</a:t>
            </a:r>
          </a:p>
          <a:p>
            <a:pPr lvl="2"/>
            <a:r>
              <a:rPr lang="en-US" dirty="0"/>
              <a:t>Identify volatile requirements, such as pricing rules or regulatory constraints</a:t>
            </a:r>
          </a:p>
          <a:p>
            <a:pPr lvl="1"/>
            <a:r>
              <a:rPr lang="en-US" dirty="0"/>
              <a:t>By recognizing early that some requirements are likely to change, the team can document them more carefully or isolate them in the design, reducing later rework.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3BF4B-DF97-D7C2-097F-11ECBBA0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5357-B3F0-05B4-97B4-FDBE84878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Reducing the costs of rework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AE66-ADDF-7197-834D-257C06C42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Change tolerance, </a:t>
            </a:r>
            <a:r>
              <a:rPr lang="en-GB" dirty="0"/>
              <a:t>where the process is designed so that changes can be accommodated at relatively low cost.</a:t>
            </a:r>
          </a:p>
          <a:p>
            <a:pPr lvl="1"/>
            <a:r>
              <a:rPr lang="en-US" dirty="0"/>
              <a:t>A common example is </a:t>
            </a:r>
            <a:r>
              <a:rPr lang="en-US" b="1" dirty="0"/>
              <a:t>modular system design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If the system is divided into well-defined, loosely coupled components, a change in one module—such as the user interface or a reporting feature—does not require changes across the entire system.</a:t>
            </a:r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E8B73-8556-1996-48A6-5C0705D5B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A7C5A-3937-8BB7-73E6-F7694464D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4FA52D-3AF7-C026-DA4F-F6D470947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723764"/>
      </p:ext>
    </p:extLst>
  </p:cSld>
  <p:clrMapOvr>
    <a:masterClrMapping/>
  </p:clrMapOvr>
  <p:transition spd="med">
    <p:wipe dir="r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Coping with changing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System prototyping</a:t>
            </a:r>
            <a:r>
              <a:rPr lang="en-GB" dirty="0"/>
              <a:t>, where a version of the system or part of the system is developed quickly to check the customer’s requirements and the feasibility of design decisions. This approach supports </a:t>
            </a:r>
            <a:r>
              <a:rPr lang="en-GB" b="1" dirty="0"/>
              <a:t>change anticipation</a:t>
            </a:r>
            <a:r>
              <a:rPr lang="en-GB" dirty="0"/>
              <a:t>. </a:t>
            </a:r>
          </a:p>
          <a:p>
            <a:r>
              <a:rPr lang="en-GB" b="1" dirty="0"/>
              <a:t>Incremental delivery, </a:t>
            </a:r>
            <a:r>
              <a:rPr lang="en-GB" dirty="0"/>
              <a:t>where system increments are delivered to the customer for comment and experimentation. This supports both </a:t>
            </a:r>
            <a:r>
              <a:rPr lang="en-GB" b="1" dirty="0"/>
              <a:t>change avoidance </a:t>
            </a:r>
            <a:r>
              <a:rPr lang="en-GB" dirty="0"/>
              <a:t>and </a:t>
            </a:r>
            <a:r>
              <a:rPr lang="en-GB" b="1" dirty="0"/>
              <a:t>change tolerance</a:t>
            </a:r>
            <a:r>
              <a:rPr lang="en-GB" dirty="0"/>
              <a:t>.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83247"/>
      </p:ext>
    </p:extLst>
  </p:cSld>
  <p:clrMapOvr>
    <a:masterClrMapping/>
  </p:clrMapOvr>
  <p:transition spd="med">
    <p:wipe dir="r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prototyping</a:t>
            </a:r>
          </a:p>
        </p:txBody>
      </p:sp>
      <p:sp>
        <p:nvSpPr>
          <p:cNvPr id="1178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prototype is an initial version of a system used to demonstrate concepts and try out design options.</a:t>
            </a:r>
          </a:p>
          <a:p>
            <a:r>
              <a:rPr lang="en-US" b="1" dirty="0"/>
              <a:t>A prototype can be used in:</a:t>
            </a:r>
          </a:p>
          <a:p>
            <a:pPr lvl="1"/>
            <a:r>
              <a:rPr lang="en-US" dirty="0"/>
              <a:t>The requirements engineering process to help with requirements elicitation and validation;</a:t>
            </a:r>
          </a:p>
          <a:p>
            <a:pPr lvl="1"/>
            <a:r>
              <a:rPr lang="en-US" dirty="0"/>
              <a:t>In design processes to explore options and develop a UI design;</a:t>
            </a:r>
          </a:p>
          <a:p>
            <a:pPr lvl="1"/>
            <a:r>
              <a:rPr lang="en-US" dirty="0"/>
              <a:t>In the testing process to run back-to-back tests.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78148-9D11-5F43-35BB-FDDB7D074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722" name="Rectangle 2">
            <a:extLst>
              <a:ext uri="{FF2B5EF4-FFF2-40B4-BE49-F238E27FC236}">
                <a16:creationId xmlns:a16="http://schemas.microsoft.com/office/drawing/2014/main" id="{3708E892-40E7-CC1C-EFA7-3362DA7E99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prototyping</a:t>
            </a:r>
          </a:p>
        </p:txBody>
      </p:sp>
      <p:sp>
        <p:nvSpPr>
          <p:cNvPr id="1182723" name="Rectangle 3">
            <a:extLst>
              <a:ext uri="{FF2B5EF4-FFF2-40B4-BE49-F238E27FC236}">
                <a16:creationId xmlns:a16="http://schemas.microsoft.com/office/drawing/2014/main" id="{7E536C84-78B9-8C26-0F8E-46CC0FABEA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system usability.</a:t>
            </a:r>
          </a:p>
          <a:p>
            <a:pPr lvl="1"/>
            <a:r>
              <a:rPr lang="en-US" dirty="0"/>
              <a:t>User feedback helps designers improve the user interface early, before the system is fully built.</a:t>
            </a:r>
          </a:p>
          <a:p>
            <a:r>
              <a:rPr lang="en-US" dirty="0"/>
              <a:t>A closer match to users’ real needs.</a:t>
            </a:r>
          </a:p>
          <a:p>
            <a:pPr lvl="1"/>
            <a:r>
              <a:rPr lang="en-US" dirty="0"/>
              <a:t>Prototyping helps uncover hidden or misunderstood requirements.</a:t>
            </a:r>
          </a:p>
          <a:p>
            <a:r>
              <a:rPr lang="en-US" dirty="0"/>
              <a:t>Improved design quality.</a:t>
            </a:r>
          </a:p>
          <a:p>
            <a:pPr lvl="1"/>
            <a:r>
              <a:rPr lang="en-US" dirty="0"/>
              <a:t>Prototypes allow developers to experiment with different design ideas and evaluate what works best. Weak design decisions can be identified and corrected early, when changes are cheaper.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B2F633A-2F26-B209-2363-68C312809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DB1E7-EFAF-36E0-FA22-C531DF36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AF0185-D802-78C8-1364-A8C7CE70A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78714"/>
      </p:ext>
    </p:extLst>
  </p:cSld>
  <p:clrMapOvr>
    <a:masterClrMapping/>
  </p:clrMapOvr>
  <p:transition spd="med">
    <p:wipe dir="r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prototyping</a:t>
            </a:r>
          </a:p>
        </p:txBody>
      </p:sp>
      <p:sp>
        <p:nvSpPr>
          <p:cNvPr id="1182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maintainability.</a:t>
            </a:r>
          </a:p>
          <a:p>
            <a:pPr lvl="1"/>
            <a:r>
              <a:rPr lang="en-US" dirty="0"/>
              <a:t>By exploring the system structure early, developers can identify simpler, cleaner designs that are easier to modify and extend in the future.</a:t>
            </a:r>
          </a:p>
          <a:p>
            <a:r>
              <a:rPr lang="en-US" dirty="0"/>
              <a:t>Reduced development effort.</a:t>
            </a:r>
          </a:p>
          <a:p>
            <a:pPr lvl="1"/>
            <a:r>
              <a:rPr lang="en-US" dirty="0"/>
              <a:t>Although building a prototype requires extra work upfront, it often saves time later by preventing major rework, reducing misunderstandings, and avoiding costly changes during full-scale implementation.</a:t>
            </a:r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process of prototype development</a:t>
            </a:r>
            <a:br>
              <a:rPr lang="en-GB" dirty="0"/>
            </a:b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pic>
        <p:nvPicPr>
          <p:cNvPr id="4" name="Picture 3" descr="2.9 PrototypeProcess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75" y="2608352"/>
            <a:ext cx="7627164" cy="216292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Prototype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be based on rapid prototyping languages or tools</a:t>
            </a:r>
          </a:p>
          <a:p>
            <a:r>
              <a:rPr lang="en-US" dirty="0"/>
              <a:t>May involve leaving out functionality</a:t>
            </a:r>
          </a:p>
          <a:p>
            <a:pPr lvl="1"/>
            <a:r>
              <a:rPr lang="en-US" dirty="0"/>
              <a:t>Prototype should focus on areas of the product that are not well-understood;</a:t>
            </a:r>
          </a:p>
          <a:p>
            <a:pPr lvl="1"/>
            <a:r>
              <a:rPr lang="en-US" dirty="0"/>
              <a:t>Error checking and recovery may not be included in the prototype;</a:t>
            </a:r>
          </a:p>
          <a:p>
            <a:pPr lvl="1"/>
            <a:r>
              <a:rPr lang="en-US" dirty="0"/>
              <a:t>Focus on functional rather than non-functional requirements such as reliability and security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Throw-away prototypes</a:t>
            </a:r>
          </a:p>
        </p:txBody>
      </p:sp>
      <p:sp>
        <p:nvSpPr>
          <p:cNvPr id="1184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Prototypes should be discarded after development as they are not a good basis for a production system:</a:t>
            </a:r>
          </a:p>
          <a:p>
            <a:pPr lvl="1"/>
            <a:r>
              <a:rPr lang="en-US" dirty="0"/>
              <a:t>It may be impossible to tune the system to meet non-functional requirements;</a:t>
            </a:r>
          </a:p>
          <a:p>
            <a:pPr lvl="1"/>
            <a:r>
              <a:rPr lang="en-US" dirty="0"/>
              <a:t>Prototypes are normally undocumented;</a:t>
            </a:r>
          </a:p>
          <a:p>
            <a:pPr lvl="1"/>
            <a:r>
              <a:rPr lang="en-US" dirty="0"/>
              <a:t>The prototype structure is usually degraded through rapid change;</a:t>
            </a:r>
          </a:p>
          <a:p>
            <a:pPr lvl="1"/>
            <a:r>
              <a:rPr lang="en-US" dirty="0"/>
              <a:t>The prototype probably will not meet normal organizational quality standards.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Incremental delivery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Rather than deliver the system as a single delivery, the development and delivery is broken down into increments with each increment delivering part of the required functionality.</a:t>
            </a:r>
          </a:p>
          <a:p>
            <a:r>
              <a:rPr lang="en-GB" dirty="0"/>
              <a:t>User requirements are prioritised and the highest priority requirements are included in early increments.</a:t>
            </a:r>
          </a:p>
          <a:p>
            <a:r>
              <a:rPr lang="en-GB" dirty="0"/>
              <a:t>Once the development of an increment is started, the requirements are frozen though requirements for later increments can continue to evolve.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development and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Incremental development</a:t>
            </a:r>
          </a:p>
          <a:p>
            <a:pPr lvl="1"/>
            <a:r>
              <a:rPr lang="en-US" dirty="0"/>
              <a:t>Develop the system in increments and evaluate each increment before proceeding to the development of the next increment;</a:t>
            </a:r>
          </a:p>
          <a:p>
            <a:pPr lvl="1"/>
            <a:r>
              <a:rPr lang="en-US" dirty="0"/>
              <a:t>Normal approach used in agile methods;</a:t>
            </a:r>
          </a:p>
          <a:p>
            <a:pPr lvl="1"/>
            <a:r>
              <a:rPr lang="en-US" dirty="0"/>
              <a:t>Evaluation done by user/customer proxy.</a:t>
            </a:r>
          </a:p>
          <a:p>
            <a:r>
              <a:rPr lang="en-US" dirty="0"/>
              <a:t>Incremental delivery</a:t>
            </a:r>
          </a:p>
          <a:p>
            <a:pPr lvl="1"/>
            <a:r>
              <a:rPr lang="en-US" dirty="0"/>
              <a:t>Deploy an increment for use by end-users;</a:t>
            </a:r>
          </a:p>
          <a:p>
            <a:pPr lvl="1"/>
            <a:r>
              <a:rPr lang="en-US" dirty="0"/>
              <a:t>More realistic evaluation about practical use of software;</a:t>
            </a:r>
          </a:p>
          <a:p>
            <a:pPr lvl="1"/>
            <a:r>
              <a:rPr lang="en-US" dirty="0"/>
              <a:t>Difficult to implement for replacement systems as increments have less functionality than the system being replaced.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pic>
        <p:nvPicPr>
          <p:cNvPr id="4" name="Picture 3" descr="2.10 Incremental-delivery.e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53036"/>
            <a:ext cx="8172017" cy="276724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Incremental delivery advantages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Customer value can be delivered with each increment, so system functionality is available earlier.</a:t>
            </a:r>
          </a:p>
          <a:p>
            <a:r>
              <a:rPr lang="en-GB" dirty="0"/>
              <a:t>Early increments act as a prototype to help elicit requirements for later increments.</a:t>
            </a:r>
          </a:p>
          <a:p>
            <a:r>
              <a:rPr lang="en-GB" dirty="0"/>
              <a:t>Lower risk of overall project failure.</a:t>
            </a:r>
          </a:p>
          <a:p>
            <a:r>
              <a:rPr lang="en-GB" dirty="0"/>
              <a:t>The highest priority system services tend to receive the most testing.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delivery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00" y="1600200"/>
            <a:ext cx="8229600" cy="4525963"/>
          </a:xfrm>
        </p:spPr>
        <p:txBody>
          <a:bodyPr/>
          <a:lstStyle/>
          <a:p>
            <a:r>
              <a:rPr lang="en-GB" dirty="0"/>
              <a:t>Most systems require a set of basic facilities that are used by different parts of the system. </a:t>
            </a:r>
          </a:p>
          <a:p>
            <a:pPr lvl="1"/>
            <a:r>
              <a:rPr lang="en-GB" dirty="0"/>
              <a:t>As requirements are not defined in detail until an increment is to be implemented, it can be hard to identify common facilities that are needed by all increments. </a:t>
            </a:r>
          </a:p>
          <a:p>
            <a:r>
              <a:rPr lang="en-GB" dirty="0"/>
              <a:t>The essence of iterative processes is that the specification is developed in conjunction with the software. </a:t>
            </a:r>
          </a:p>
          <a:p>
            <a:pPr lvl="1"/>
            <a:r>
              <a:rPr lang="en-GB" dirty="0"/>
              <a:t>However, this conflicts with the procurement model of many organizations, where the complete system specification is part of the system development contract. </a:t>
            </a:r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327804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Process improvement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87055"/>
      </p:ext>
    </p:extLst>
  </p:cSld>
  <p:clrMapOvr>
    <a:masterClrMapping/>
  </p:clrMapOvr>
  <p:transition spd="med">
    <p:wipe dir="r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software companies have turned to software process improvement as a way of enhancing the quality of their software, reducing costs or accelerating their development processes. </a:t>
            </a:r>
          </a:p>
          <a:p>
            <a:r>
              <a:rPr lang="en-US" b="1" dirty="0"/>
              <a:t>Process improvement</a:t>
            </a:r>
            <a:r>
              <a:rPr lang="en-US" dirty="0"/>
              <a:t> means understanding existing processes (how requirements are gathered, how code is written, how testing is done) and then changing these processes to increase product quality and/or reduce costs and development time. 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42665"/>
      </p:ext>
    </p:extLst>
  </p:cSld>
  <p:clrMapOvr>
    <a:masterClrMapping/>
  </p:clrMapOvr>
  <p:transition spd="med">
    <p:wipe dir="r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Approaches to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process maturity approach:</a:t>
            </a:r>
          </a:p>
          <a:p>
            <a:pPr lvl="1"/>
            <a:r>
              <a:rPr lang="en-US" dirty="0"/>
              <a:t>It focuses on improving process  and project management by introducing good software engineering practice. </a:t>
            </a:r>
          </a:p>
          <a:p>
            <a:pPr lvl="1"/>
            <a:r>
              <a:rPr lang="en-US" dirty="0"/>
              <a:t>The level of process maturity indicates how consistently and effectively an organization has adopted and applied good technical and management practices across its software development activities.</a:t>
            </a:r>
          </a:p>
          <a:p>
            <a:r>
              <a:rPr lang="en-US" b="1" dirty="0"/>
              <a:t>The agile approach:</a:t>
            </a:r>
          </a:p>
          <a:p>
            <a:pPr lvl="1"/>
            <a:r>
              <a:rPr lang="en-US" dirty="0"/>
              <a:t>It focuses on iterative development and the reduction of overheads in the software process. </a:t>
            </a:r>
          </a:p>
          <a:p>
            <a:pPr lvl="1"/>
            <a:r>
              <a:rPr lang="en-US" dirty="0"/>
              <a:t>The primary characteristics of agile methods are rapid delivery of functionality and responsiveness to changing customer requirements.</a:t>
            </a:r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936099"/>
      </p:ext>
    </p:extLst>
  </p:cSld>
  <p:clrMapOvr>
    <a:masterClrMapping/>
  </p:clrMapOvr>
  <p:transition spd="med">
    <p:wipe dir="r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C041B-028C-2F2F-B170-EDAE8390E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Process Maturity Approach Vs. Agile Approach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0FBBA46-CD00-9EBC-166E-AAC676E3078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2080101"/>
          <a:ext cx="7886700" cy="356616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8237203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335581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50140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1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1" dirty="0"/>
                        <a:t>Process Maturity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1" dirty="0"/>
                        <a:t>Agile Approach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264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1"/>
                        <a:t>Focus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/>
                        <a:t>Process improvement &amp;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/>
                        <a:t>Fast delivery &amp; adaptability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2200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1"/>
                        <a:t>Goal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/>
                        <a:t>Standardization and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/>
                        <a:t>Flexibility and responsiveness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90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1"/>
                        <a:t>Style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dirty="0"/>
                        <a:t>Structured, planned, documented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/>
                        <a:t>Iterative, informal, adaptive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4145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1"/>
                        <a:t>Best for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/>
                        <a:t>Large, stable organizations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/>
                        <a:t>Dynamic, changing environments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7332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b="1"/>
                        <a:t>Example</a:t>
                      </a:r>
                      <a:endParaRPr lang="en-CA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/>
                        <a:t>CMMI, ISO standards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dirty="0"/>
                        <a:t>Scrum, XP, Kanban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878367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271B9-8F4D-CFA4-3A03-EAD14EBD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687FE-552B-6502-2B1C-7563BBB9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78F67-03E7-965C-C26B-472F8B54C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29866"/>
      </p:ext>
    </p:extLst>
  </p:cSld>
  <p:clrMapOvr>
    <a:masterClrMapping/>
  </p:clrMapOvr>
  <p:transition spd="med">
    <p:wipe dir="r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process improvement cycle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Content Placeholder 3" descr="26.3 Process improvement.eps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-5976" b="-2227"/>
          <a:stretch/>
        </p:blipFill>
        <p:spPr>
          <a:xfrm>
            <a:off x="1760331" y="1698510"/>
            <a:ext cx="4876799" cy="4110668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002720"/>
      </p:ext>
    </p:extLst>
  </p:cSld>
  <p:clrMapOvr>
    <a:masterClrMapping/>
  </p:clrMapOvr>
  <p:transition spd="med">
    <p:wipe dir="r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improvement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Process measurement </a:t>
            </a:r>
          </a:p>
          <a:p>
            <a:pPr lvl="1"/>
            <a:r>
              <a:rPr lang="en-US" dirty="0"/>
              <a:t>You measure one or more attributes of the software process or product. These measurements forms a baseline that helps you decide if process improvements have been effective. </a:t>
            </a:r>
            <a:r>
              <a:rPr lang="en-GB" dirty="0"/>
              <a:t> </a:t>
            </a:r>
          </a:p>
          <a:p>
            <a:r>
              <a:rPr lang="en-US" i="1" dirty="0"/>
              <a:t>Process analysis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current process is assessed, and process weaknesses and bottlenecks are identified. Process models (sometimes called process maps) that describe the process may be developed. </a:t>
            </a:r>
            <a:r>
              <a:rPr lang="en-GB" dirty="0"/>
              <a:t> </a:t>
            </a:r>
          </a:p>
          <a:p>
            <a:r>
              <a:rPr lang="en-US" i="1" dirty="0"/>
              <a:t>Process change </a:t>
            </a:r>
          </a:p>
          <a:p>
            <a:pPr lvl="1"/>
            <a:r>
              <a:rPr lang="en-US" dirty="0"/>
              <a:t>Process changes are proposed to address some of the identified process weaknesses. These are introduced and the cycle resumes to collect data about the effectiveness of the changes.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08528"/>
      </p:ext>
    </p:extLst>
  </p:cSld>
  <p:clrMapOvr>
    <a:masterClrMapping/>
  </p:clrMapOvr>
  <p:transition spd="med">
    <p:wipe dir="r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/>
              <a:t>Process measurement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40496" cy="4525963"/>
          </a:xfrm>
          <a:noFill/>
          <a:ln/>
        </p:spPr>
        <p:txBody>
          <a:bodyPr lIns="90487" tIns="44450" rIns="90487" bIns="44450"/>
          <a:lstStyle/>
          <a:p>
            <a:r>
              <a:rPr lang="en-GB" sz="2400" dirty="0"/>
              <a:t>Wherever possible, quantitative process data </a:t>
            </a:r>
            <a:br>
              <a:rPr lang="en-GB" sz="2400" dirty="0"/>
            </a:br>
            <a:r>
              <a:rPr lang="en-GB" sz="2400" dirty="0"/>
              <a:t>should be collected</a:t>
            </a:r>
          </a:p>
          <a:p>
            <a:pPr lvl="1"/>
            <a:r>
              <a:rPr lang="en-GB" sz="2000" dirty="0"/>
              <a:t>However, where organisations do not have clearly defined process standards this is very difficult as you don’t know what to measure. A process may have to be defined before any measurement is possible.</a:t>
            </a:r>
          </a:p>
          <a:p>
            <a:r>
              <a:rPr lang="en-GB" sz="2400" dirty="0"/>
              <a:t>Process measurements should be used to </a:t>
            </a:r>
            <a:br>
              <a:rPr lang="en-GB" sz="2400" dirty="0"/>
            </a:br>
            <a:r>
              <a:rPr lang="en-GB" sz="2400" dirty="0"/>
              <a:t>assess process improvements</a:t>
            </a:r>
          </a:p>
          <a:p>
            <a:pPr lvl="1"/>
            <a:r>
              <a:rPr lang="en-GB" sz="2000" dirty="0"/>
              <a:t>But this does not mean that measurements should drive the improvements. The improvement driver should be the organizational objectives.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88252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/>
              <a:t>Process metrics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 lIns="90487" tIns="44450" rIns="90487" bIns="44450"/>
          <a:lstStyle/>
          <a:p>
            <a:r>
              <a:rPr lang="en-GB" dirty="0"/>
              <a:t>Time taken for process activities to be </a:t>
            </a:r>
            <a:br>
              <a:rPr lang="en-GB" dirty="0"/>
            </a:br>
            <a:r>
              <a:rPr lang="en-GB" dirty="0"/>
              <a:t>completed</a:t>
            </a:r>
          </a:p>
          <a:p>
            <a:pPr lvl="1"/>
            <a:r>
              <a:rPr lang="en-GB" dirty="0"/>
              <a:t>E.g. Calendar time or effort to complete an activity or process.</a:t>
            </a:r>
          </a:p>
          <a:p>
            <a:r>
              <a:rPr lang="en-GB" dirty="0"/>
              <a:t>Resources required for processes or activities</a:t>
            </a:r>
          </a:p>
          <a:p>
            <a:pPr lvl="1"/>
            <a:r>
              <a:rPr lang="en-GB" dirty="0"/>
              <a:t>E.g. Total effort in person-days.</a:t>
            </a:r>
          </a:p>
          <a:p>
            <a:r>
              <a:rPr lang="en-GB" dirty="0"/>
              <a:t>Number of occurrences of a particular event</a:t>
            </a:r>
          </a:p>
          <a:p>
            <a:pPr lvl="1"/>
            <a:r>
              <a:rPr lang="en-GB" dirty="0"/>
              <a:t>E.g. Number of defects discovered.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427100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Capability maturity levels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D3D7160-CC12-AAFB-F056-19EB4D1C9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1716607"/>
            <a:ext cx="8229600" cy="4525963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goal of Capability Maturity Levels</a:t>
            </a:r>
            <a:r>
              <a:rPr lang="en-US" dirty="0"/>
              <a:t> is to:</a:t>
            </a:r>
          </a:p>
          <a:p>
            <a:pPr lvl="1"/>
            <a:r>
              <a:rPr lang="en-US" dirty="0"/>
              <a:t>Provide a structured way to assess, improve, and control how well an organization’s software development processes are defined, managed, measured, and continuously improved.</a:t>
            </a:r>
          </a:p>
          <a:p>
            <a:r>
              <a:rPr lang="en-US" dirty="0"/>
              <a:t>Capability maturity levels aim to help organizations:</a:t>
            </a:r>
          </a:p>
          <a:p>
            <a:pPr lvl="1"/>
            <a:r>
              <a:rPr lang="en-US" dirty="0"/>
              <a:t>Move from ad hoc, unpredictable practices to disciplined, repeatable, and optimized processes</a:t>
            </a:r>
          </a:p>
          <a:p>
            <a:pPr lvl="1"/>
            <a:r>
              <a:rPr lang="en-US" dirty="0"/>
              <a:t>Reduce risk and cost overruns</a:t>
            </a:r>
          </a:p>
          <a:p>
            <a:pPr lvl="1"/>
            <a:r>
              <a:rPr lang="en-US" dirty="0"/>
              <a:t>Improve software quality and reliability</a:t>
            </a:r>
          </a:p>
          <a:p>
            <a:pPr lvl="1"/>
            <a:r>
              <a:rPr lang="en-US" dirty="0"/>
              <a:t>Make project outcomes more predictable</a:t>
            </a:r>
          </a:p>
          <a:p>
            <a:pPr lvl="1"/>
            <a:r>
              <a:rPr lang="en-US" dirty="0"/>
              <a:t>Support continuous process improvement</a:t>
            </a:r>
          </a:p>
          <a:p>
            <a:pPr lvl="2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49935750"/>
      </p:ext>
    </p:extLst>
  </p:cSld>
  <p:clrMapOvr>
    <a:masterClrMapping/>
  </p:clrMapOvr>
  <p:transition spd="med">
    <p:wipe dir="r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1DBFD-51A0-D903-930B-FC55F2A4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4C90F-94F4-9DE8-E37E-CB362C49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Capability maturity levels</a:t>
            </a:r>
            <a:endParaRPr lang="en-US" dirty="0"/>
          </a:p>
        </p:txBody>
      </p:sp>
      <p:pic>
        <p:nvPicPr>
          <p:cNvPr id="4" name="Content Placeholder 3" descr="26.10 StagesCMMI.eps">
            <a:extLst>
              <a:ext uri="{FF2B5EF4-FFF2-40B4-BE49-F238E27FC236}">
                <a16:creationId xmlns:a16="http://schemas.microsoft.com/office/drawing/2014/main" id="{1501CD4A-91E2-2E80-4FE6-0BDC14BB3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-12585" b="-4028"/>
          <a:stretch/>
        </p:blipFill>
        <p:spPr>
          <a:xfrm>
            <a:off x="1320882" y="1481963"/>
            <a:ext cx="6502235" cy="4874387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D92C5-C191-9696-4110-6B4C7B52B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273EA-4561-C5C0-C4C9-5CB380E4C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4B7B18-EA7A-9E27-35C0-744801CA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128320"/>
      </p:ext>
    </p:extLst>
  </p:cSld>
  <p:clrMapOvr>
    <a:masterClrMapping/>
  </p:clrMapOvr>
  <p:transition spd="med">
    <p:wipe dir="r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SEI capability maturity model</a:t>
            </a:r>
          </a:p>
        </p:txBody>
      </p:sp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Level 1-Initial</a:t>
            </a:r>
          </a:p>
          <a:p>
            <a:pPr lvl="1"/>
            <a:r>
              <a:rPr lang="en-US" dirty="0"/>
              <a:t>Processes are </a:t>
            </a:r>
            <a:r>
              <a:rPr lang="en-US" b="1" dirty="0"/>
              <a:t>ad hoc and unpredictable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Success depends largely on individual effort rather than well-defined processes.”</a:t>
            </a:r>
          </a:p>
          <a:p>
            <a:pPr lvl="1"/>
            <a:r>
              <a:rPr lang="en-US" dirty="0"/>
              <a:t>Projects may succeed, but outcomes are inconsistent and hard to repeat</a:t>
            </a:r>
          </a:p>
          <a:p>
            <a:r>
              <a:rPr lang="en-GB" dirty="0"/>
              <a:t>Level 2-Managed</a:t>
            </a:r>
          </a:p>
          <a:p>
            <a:pPr lvl="1"/>
            <a:r>
              <a:rPr lang="en-GB" dirty="0"/>
              <a:t>Product management procedures defined and used</a:t>
            </a:r>
          </a:p>
          <a:p>
            <a:pPr lvl="1"/>
            <a:r>
              <a:rPr lang="en-US" dirty="0"/>
              <a:t>Processes are planned and tracked, and past experience is used to manage future projects, but practices may still vary between teams.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87285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C3258-ED36-613F-6E8A-5EDD9A25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80A1A82B-8FA9-FD50-163D-10459EA59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SEI capability maturity model</a:t>
            </a: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DC2C868C-3BF2-ADD2-E8FB-A0D1E03DF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Level 3-Defined</a:t>
            </a:r>
          </a:p>
          <a:p>
            <a:pPr lvl="1"/>
            <a:r>
              <a:rPr lang="en-GB" dirty="0"/>
              <a:t>Process management procedures and strategies defined </a:t>
            </a:r>
            <a:br>
              <a:rPr lang="en-GB" dirty="0"/>
            </a:br>
            <a:r>
              <a:rPr lang="en-GB" dirty="0"/>
              <a:t>and used</a:t>
            </a:r>
          </a:p>
          <a:p>
            <a:pPr lvl="1"/>
            <a:r>
              <a:rPr lang="en-GB" dirty="0"/>
              <a:t>P</a:t>
            </a:r>
            <a:r>
              <a:rPr lang="en-US" dirty="0"/>
              <a:t>processes are </a:t>
            </a:r>
            <a:r>
              <a:rPr lang="en-US" b="1" dirty="0"/>
              <a:t>documented, standardized, and organization-wide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Everyone follows a common set of defined software engineering and management processes.</a:t>
            </a:r>
            <a:endParaRPr lang="en-GB" dirty="0"/>
          </a:p>
          <a:p>
            <a:r>
              <a:rPr lang="en-GB" dirty="0"/>
              <a:t>Level 4- Quantitatively Managed</a:t>
            </a:r>
          </a:p>
          <a:p>
            <a:pPr lvl="1"/>
            <a:r>
              <a:rPr lang="en-US" dirty="0"/>
              <a:t>The organization uses </a:t>
            </a:r>
            <a:r>
              <a:rPr lang="en-US" b="1" dirty="0"/>
              <a:t>quantitative measurements</a:t>
            </a:r>
            <a:r>
              <a:rPr lang="en-US" dirty="0"/>
              <a:t> to control and improve processes.</a:t>
            </a:r>
          </a:p>
          <a:p>
            <a:pPr lvl="1"/>
            <a:r>
              <a:rPr lang="en-US" dirty="0"/>
              <a:t>Performance is measured using data, allowing managers to predict outcomes and detect problems early.</a:t>
            </a:r>
            <a:br>
              <a:rPr lang="en-US"/>
            </a:b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70D73F-A057-D8AF-1BEA-F8055D4C9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99824-4D7F-D848-A3B0-5370CBF9A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F67F48-255A-E9D2-550F-3FA938D4D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74251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285E2-F761-7889-DD23-37F1CF019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>
            <a:extLst>
              <a:ext uri="{FF2B5EF4-FFF2-40B4-BE49-F238E27FC236}">
                <a16:creationId xmlns:a16="http://schemas.microsoft.com/office/drawing/2014/main" id="{5D8D01E2-13A5-16AB-8E2E-22C57BF4C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SEI capability maturity model</a:t>
            </a: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89EA8C7-0CBA-F5DA-F90E-A327C325C5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Level 5-Optimising</a:t>
            </a:r>
          </a:p>
          <a:p>
            <a:pPr lvl="1"/>
            <a:r>
              <a:rPr lang="en-GB" dirty="0"/>
              <a:t>Process improvement strategies defined and used</a:t>
            </a:r>
          </a:p>
          <a:p>
            <a:pPr lvl="1"/>
            <a:r>
              <a:rPr lang="en-US" dirty="0"/>
              <a:t>The organization systematically identifies weaknesses, introduces innovations, and adapts processes to improve quality and efficiency by </a:t>
            </a:r>
            <a:r>
              <a:rPr lang="en-US" b="1" dirty="0"/>
              <a:t>continuous process improvement.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3C4CF-575F-C2C8-158C-E23F0BB77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2 Software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0A747-9D08-DA27-8FD8-F484F70CA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EBCE9-A86B-9C48-9EF4-AA1E30B0DC27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903EC8-525A-DCFD-8FA8-5FFE2C6D1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43861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Software processes are the activities involved in producing a software system. Software process models are abstract representations of these processes.</a:t>
            </a:r>
          </a:p>
          <a:p>
            <a:r>
              <a:rPr lang="en-GB" dirty="0"/>
              <a:t>General process models describe the organization of software processes. </a:t>
            </a:r>
          </a:p>
          <a:p>
            <a:pPr lvl="1"/>
            <a:r>
              <a:rPr lang="en-GB" dirty="0"/>
              <a:t>Examples of these general models include the ‘waterfall’ model,  incremental development, and reuse-oriented development.</a:t>
            </a:r>
          </a:p>
          <a:p>
            <a:r>
              <a:rPr lang="en-GB" dirty="0"/>
              <a:t>Requirements engineering is the process of developing a software specification.</a:t>
            </a:r>
          </a:p>
          <a:p>
            <a:pPr lvl="1"/>
            <a:endParaRPr lang="en-GB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79458"/>
      </p:ext>
    </p:extLst>
  </p:cSld>
  <p:clrMapOvr>
    <a:masterClrMapping/>
  </p:clrMapOvr>
  <p:transition spd="med">
    <p:wipe dir="r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Design and implementation processes are concerned with transforming a requirements specification into an executable software system. </a:t>
            </a:r>
          </a:p>
          <a:p>
            <a:r>
              <a:rPr lang="en-GB" dirty="0"/>
              <a:t>Software validation is the process of checking that the system conforms to its specification and that it meets the real needs of the users of the system.</a:t>
            </a:r>
          </a:p>
          <a:p>
            <a:r>
              <a:rPr lang="en-GB" dirty="0"/>
              <a:t>Software evolution takes place when you change existing software systems to meet new requirements. The software must evolve to remain useful.</a:t>
            </a:r>
          </a:p>
          <a:p>
            <a:r>
              <a:rPr lang="en-GB" dirty="0"/>
              <a:t>Processes should include activities such as prototyping and incremental delivery to cope with change.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500701"/>
      </p:ext>
    </p:extLst>
  </p:cSld>
  <p:clrMapOvr>
    <a:masterClrMapping/>
  </p:clrMapOvr>
  <p:transition spd="med">
    <p:wipe dir="r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points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Processes may be structured for iterative development and delivery so that changes may be made without disrupting the system as a whole.</a:t>
            </a:r>
          </a:p>
          <a:p>
            <a:r>
              <a:rPr lang="en-GB" dirty="0"/>
              <a:t> The principal approaches to process improvement are agile approaches, geared to reducing process overheads, and maturity-based approaches based on better process management and the use of good software engineering practice.</a:t>
            </a:r>
          </a:p>
          <a:p>
            <a:r>
              <a:rPr lang="en-GB" dirty="0"/>
              <a:t>The SEI process maturity framework identifies maturity levels that essentially correspond to the use of good software engineering practice.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Software Processes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D720AD-0A16-4141-82CA-5619F80A2BC8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30/10/2014</a:t>
            </a:r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SE10 slides.thmx</Template>
  <TotalTime>12156</TotalTime>
  <Words>3782</Words>
  <Application>Microsoft Office PowerPoint</Application>
  <PresentationFormat>On-screen Show (4:3)</PresentationFormat>
  <Paragraphs>548</Paragraphs>
  <Slides>63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Arial</vt:lpstr>
      <vt:lpstr>Calibri</vt:lpstr>
      <vt:lpstr>Wingdings</vt:lpstr>
      <vt:lpstr>SE10 slides</vt:lpstr>
      <vt:lpstr>Chapter 2 – Software Processes</vt:lpstr>
      <vt:lpstr>Topics covered</vt:lpstr>
      <vt:lpstr>The software process</vt:lpstr>
      <vt:lpstr>Software process descriptions</vt:lpstr>
      <vt:lpstr>Plan-driven and agile processes</vt:lpstr>
      <vt:lpstr>Software process models</vt:lpstr>
      <vt:lpstr>Software process models</vt:lpstr>
      <vt:lpstr>The waterfall model </vt:lpstr>
      <vt:lpstr>Waterfall model phases</vt:lpstr>
      <vt:lpstr>Waterfall model problems</vt:lpstr>
      <vt:lpstr>Incremental development  </vt:lpstr>
      <vt:lpstr>Incremental development benefits</vt:lpstr>
      <vt:lpstr>Incremental development problems</vt:lpstr>
      <vt:lpstr>Integration and configuration</vt:lpstr>
      <vt:lpstr>Types of reusable software</vt:lpstr>
      <vt:lpstr>Reuse-oriented software engineering</vt:lpstr>
      <vt:lpstr>Advantages and disadvantages</vt:lpstr>
      <vt:lpstr>Process activities</vt:lpstr>
      <vt:lpstr>Process activities</vt:lpstr>
      <vt:lpstr>The requirements engineering process </vt:lpstr>
      <vt:lpstr>Software specification</vt:lpstr>
      <vt:lpstr>Software design and implementation</vt:lpstr>
      <vt:lpstr>A general model of the design process  </vt:lpstr>
      <vt:lpstr>Design activities</vt:lpstr>
      <vt:lpstr>System implementation</vt:lpstr>
      <vt:lpstr>Software validation</vt:lpstr>
      <vt:lpstr>Stages of testing </vt:lpstr>
      <vt:lpstr>Testing stages</vt:lpstr>
      <vt:lpstr>Testing phases in a plan-driven software process (V-model)</vt:lpstr>
      <vt:lpstr>Software evolution</vt:lpstr>
      <vt:lpstr>System evolution </vt:lpstr>
      <vt:lpstr>Coping with change</vt:lpstr>
      <vt:lpstr>Coping with change</vt:lpstr>
      <vt:lpstr>Reducing the costs of rework</vt:lpstr>
      <vt:lpstr>Reducing the costs of rework</vt:lpstr>
      <vt:lpstr>Coping with changing requirements</vt:lpstr>
      <vt:lpstr>Software prototyping</vt:lpstr>
      <vt:lpstr>Benefits of prototyping</vt:lpstr>
      <vt:lpstr>Benefits of prototyping</vt:lpstr>
      <vt:lpstr>The process of prototype development </vt:lpstr>
      <vt:lpstr>Prototype development</vt:lpstr>
      <vt:lpstr>Throw-away prototypes</vt:lpstr>
      <vt:lpstr>Incremental delivery</vt:lpstr>
      <vt:lpstr>Incremental development and delivery</vt:lpstr>
      <vt:lpstr>Incremental delivery </vt:lpstr>
      <vt:lpstr>Incremental delivery advantages</vt:lpstr>
      <vt:lpstr>Incremental delivery problems</vt:lpstr>
      <vt:lpstr>Process improvement</vt:lpstr>
      <vt:lpstr>Process improvement</vt:lpstr>
      <vt:lpstr>Approaches to improvement</vt:lpstr>
      <vt:lpstr>Process Maturity Approach Vs. Agile Approach</vt:lpstr>
      <vt:lpstr>The process improvement cycle </vt:lpstr>
      <vt:lpstr>Process improvement activities</vt:lpstr>
      <vt:lpstr>Process measurement</vt:lpstr>
      <vt:lpstr>Process metrics</vt:lpstr>
      <vt:lpstr>Capability maturity levels</vt:lpstr>
      <vt:lpstr>Capability maturity levels</vt:lpstr>
      <vt:lpstr>The SEI capability maturity model</vt:lpstr>
      <vt:lpstr>The SEI capability maturity model</vt:lpstr>
      <vt:lpstr>The SEI capability maturity model</vt:lpstr>
      <vt:lpstr>Key points</vt:lpstr>
      <vt:lpstr>Key points</vt:lpstr>
      <vt:lpstr>Key points</vt:lpstr>
    </vt:vector>
  </TitlesOfParts>
  <Company>St Andrews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Figures-Chapter</dc:title>
  <dc:creator>Ian Sommerville</dc:creator>
  <cp:lastModifiedBy>Shimaa Abdelmeguid</cp:lastModifiedBy>
  <cp:revision>29</cp:revision>
  <dcterms:created xsi:type="dcterms:W3CDTF">2010-01-06T19:57:16Z</dcterms:created>
  <dcterms:modified xsi:type="dcterms:W3CDTF">2026-01-14T16:40:29Z</dcterms:modified>
</cp:coreProperties>
</file>