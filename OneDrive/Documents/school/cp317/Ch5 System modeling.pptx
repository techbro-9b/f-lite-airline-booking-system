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3"/>
  </p:notesMasterIdLst>
  <p:handoutMasterIdLst>
    <p:handoutMasterId r:id="rId64"/>
  </p:handoutMasterIdLst>
  <p:sldIdLst>
    <p:sldId id="256" r:id="rId2"/>
    <p:sldId id="281" r:id="rId3"/>
    <p:sldId id="282" r:id="rId4"/>
    <p:sldId id="280" r:id="rId5"/>
    <p:sldId id="283" r:id="rId6"/>
    <p:sldId id="284" r:id="rId7"/>
    <p:sldId id="285" r:id="rId8"/>
    <p:sldId id="311" r:id="rId9"/>
    <p:sldId id="287" r:id="rId10"/>
    <p:sldId id="321" r:id="rId11"/>
    <p:sldId id="286" r:id="rId12"/>
    <p:sldId id="320" r:id="rId13"/>
    <p:sldId id="257" r:id="rId14"/>
    <p:sldId id="288" r:id="rId15"/>
    <p:sldId id="322" r:id="rId16"/>
    <p:sldId id="258" r:id="rId17"/>
    <p:sldId id="313" r:id="rId18"/>
    <p:sldId id="289" r:id="rId19"/>
    <p:sldId id="323" r:id="rId20"/>
    <p:sldId id="290" r:id="rId21"/>
    <p:sldId id="259" r:id="rId22"/>
    <p:sldId id="260" r:id="rId23"/>
    <p:sldId id="261" r:id="rId24"/>
    <p:sldId id="299" r:id="rId25"/>
    <p:sldId id="262" r:id="rId26"/>
    <p:sldId id="263" r:id="rId27"/>
    <p:sldId id="312" r:id="rId28"/>
    <p:sldId id="291" r:id="rId29"/>
    <p:sldId id="292" r:id="rId30"/>
    <p:sldId id="264" r:id="rId31"/>
    <p:sldId id="265" r:id="rId32"/>
    <p:sldId id="266" r:id="rId33"/>
    <p:sldId id="300" r:id="rId34"/>
    <p:sldId id="301" r:id="rId35"/>
    <p:sldId id="267" r:id="rId36"/>
    <p:sldId id="268" r:id="rId37"/>
    <p:sldId id="293" r:id="rId38"/>
    <p:sldId id="269" r:id="rId39"/>
    <p:sldId id="315" r:id="rId40"/>
    <p:sldId id="294" r:id="rId41"/>
    <p:sldId id="295" r:id="rId42"/>
    <p:sldId id="270" r:id="rId43"/>
    <p:sldId id="271" r:id="rId44"/>
    <p:sldId id="302" r:id="rId45"/>
    <p:sldId id="278" r:id="rId46"/>
    <p:sldId id="272" r:id="rId47"/>
    <p:sldId id="274" r:id="rId48"/>
    <p:sldId id="273" r:id="rId49"/>
    <p:sldId id="277" r:id="rId50"/>
    <p:sldId id="316" r:id="rId51"/>
    <p:sldId id="303" r:id="rId52"/>
    <p:sldId id="325" r:id="rId53"/>
    <p:sldId id="304" r:id="rId54"/>
    <p:sldId id="297" r:id="rId55"/>
    <p:sldId id="326" r:id="rId56"/>
    <p:sldId id="305" r:id="rId57"/>
    <p:sldId id="329" r:id="rId58"/>
    <p:sldId id="275" r:id="rId59"/>
    <p:sldId id="276" r:id="rId60"/>
    <p:sldId id="314" r:id="rId61"/>
    <p:sldId id="298" r:id="rId62"/>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B86A2B-57E3-42D6-B50F-F57BEACB5B3B}" v="2" dt="2026-02-11T19:55:10.0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701" autoAdjust="0"/>
  </p:normalViewPr>
  <p:slideViewPr>
    <p:cSldViewPr snapToGrid="0" snapToObjects="1">
      <p:cViewPr varScale="1">
        <p:scale>
          <a:sx n="46" d="100"/>
          <a:sy n="46" d="100"/>
        </p:scale>
        <p:origin x="2506" y="43"/>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maa Abdelmeguid" userId="47fd2e4c-d07d-4c27-b7bc-d96a4ea2e7cf" providerId="ADAL" clId="{13C3C948-E538-4E74-ABA6-FB3B14096097}"/>
    <pc:docChg chg="custSel addSld delSld modSld">
      <pc:chgData name="Shimaa Abdelmeguid" userId="47fd2e4c-d07d-4c27-b7bc-d96a4ea2e7cf" providerId="ADAL" clId="{13C3C948-E538-4E74-ABA6-FB3B14096097}" dt="2026-02-11T19:56:52.169" v="124" actId="6549"/>
      <pc:docMkLst>
        <pc:docMk/>
      </pc:docMkLst>
      <pc:sldChg chg="modNotesTx">
        <pc:chgData name="Shimaa Abdelmeguid" userId="47fd2e4c-d07d-4c27-b7bc-d96a4ea2e7cf" providerId="ADAL" clId="{13C3C948-E538-4E74-ABA6-FB3B14096097}" dt="2026-02-04T05:36:54.910" v="0" actId="6549"/>
        <pc:sldMkLst>
          <pc:docMk/>
          <pc:sldMk cId="0" sldId="256"/>
        </pc:sldMkLst>
      </pc:sldChg>
      <pc:sldChg chg="add del modNotes modNotesTx">
        <pc:chgData name="Shimaa Abdelmeguid" userId="47fd2e4c-d07d-4c27-b7bc-d96a4ea2e7cf" providerId="ADAL" clId="{13C3C948-E538-4E74-ABA6-FB3B14096097}" dt="2026-02-11T19:55:10.130" v="103" actId="27636"/>
        <pc:sldMkLst>
          <pc:docMk/>
          <pc:sldMk cId="0" sldId="257"/>
        </pc:sldMkLst>
      </pc:sldChg>
      <pc:sldChg chg="add del modNotes modNotesTx">
        <pc:chgData name="Shimaa Abdelmeguid" userId="47fd2e4c-d07d-4c27-b7bc-d96a4ea2e7cf" providerId="ADAL" clId="{13C3C948-E538-4E74-ABA6-FB3B14096097}" dt="2026-02-11T19:55:10.146" v="106" actId="27636"/>
        <pc:sldMkLst>
          <pc:docMk/>
          <pc:sldMk cId="0" sldId="258"/>
        </pc:sldMkLst>
      </pc:sldChg>
      <pc:sldChg chg="add del modNotesTx">
        <pc:chgData name="Shimaa Abdelmeguid" userId="47fd2e4c-d07d-4c27-b7bc-d96a4ea2e7cf" providerId="ADAL" clId="{13C3C948-E538-4E74-ABA6-FB3B14096097}" dt="2026-02-04T17:31:30.369" v="86" actId="6549"/>
        <pc:sldMkLst>
          <pc:docMk/>
          <pc:sldMk cId="0" sldId="259"/>
        </pc:sldMkLst>
      </pc:sldChg>
      <pc:sldChg chg="add del modNotes modNotesTx">
        <pc:chgData name="Shimaa Abdelmeguid" userId="47fd2e4c-d07d-4c27-b7bc-d96a4ea2e7cf" providerId="ADAL" clId="{13C3C948-E538-4E74-ABA6-FB3B14096097}" dt="2026-02-11T19:55:10.146" v="109" actId="27636"/>
        <pc:sldMkLst>
          <pc:docMk/>
          <pc:sldMk cId="0" sldId="260"/>
        </pc:sldMkLst>
      </pc:sldChg>
      <pc:sldChg chg="add del modNotes modNotesTx">
        <pc:chgData name="Shimaa Abdelmeguid" userId="47fd2e4c-d07d-4c27-b7bc-d96a4ea2e7cf" providerId="ADAL" clId="{13C3C948-E538-4E74-ABA6-FB3B14096097}" dt="2026-02-11T19:55:10.146" v="110" actId="27636"/>
        <pc:sldMkLst>
          <pc:docMk/>
          <pc:sldMk cId="0" sldId="261"/>
        </pc:sldMkLst>
      </pc:sldChg>
      <pc:sldChg chg="addSp delSp modSp add del mod modNotes modNotesTx">
        <pc:chgData name="Shimaa Abdelmeguid" userId="47fd2e4c-d07d-4c27-b7bc-d96a4ea2e7cf" providerId="ADAL" clId="{13C3C948-E538-4E74-ABA6-FB3B14096097}" dt="2026-02-11T19:55:10.146" v="111" actId="27636"/>
        <pc:sldMkLst>
          <pc:docMk/>
          <pc:sldMk cId="0" sldId="262"/>
        </pc:sldMkLst>
        <pc:picChg chg="add mod">
          <ac:chgData name="Shimaa Abdelmeguid" userId="47fd2e4c-d07d-4c27-b7bc-d96a4ea2e7cf" providerId="ADAL" clId="{13C3C948-E538-4E74-ABA6-FB3B14096097}" dt="2026-02-04T17:32:27.893" v="94" actId="1076"/>
          <ac:picMkLst>
            <pc:docMk/>
            <pc:sldMk cId="0" sldId="262"/>
            <ac:picMk id="7" creationId="{802A8DE2-FB94-12E8-BEE4-833BB2E5029F}"/>
          </ac:picMkLst>
        </pc:picChg>
      </pc:sldChg>
      <pc:sldChg chg="add del modNotes modNotesTx">
        <pc:chgData name="Shimaa Abdelmeguid" userId="47fd2e4c-d07d-4c27-b7bc-d96a4ea2e7cf" providerId="ADAL" clId="{13C3C948-E538-4E74-ABA6-FB3B14096097}" dt="2026-02-11T19:55:10.162" v="112" actId="27636"/>
        <pc:sldMkLst>
          <pc:docMk/>
          <pc:sldMk cId="0" sldId="263"/>
        </pc:sldMkLst>
      </pc:sldChg>
      <pc:sldChg chg="modNotesTx">
        <pc:chgData name="Shimaa Abdelmeguid" userId="47fd2e4c-d07d-4c27-b7bc-d96a4ea2e7cf" providerId="ADAL" clId="{13C3C948-E538-4E74-ABA6-FB3B14096097}" dt="2026-02-04T05:38:51.911" v="26" actId="6549"/>
        <pc:sldMkLst>
          <pc:docMk/>
          <pc:sldMk cId="0" sldId="264"/>
        </pc:sldMkLst>
      </pc:sldChg>
      <pc:sldChg chg="modNotesTx">
        <pc:chgData name="Shimaa Abdelmeguid" userId="47fd2e4c-d07d-4c27-b7bc-d96a4ea2e7cf" providerId="ADAL" clId="{13C3C948-E538-4E74-ABA6-FB3B14096097}" dt="2026-02-04T05:38:56.695" v="27" actId="6549"/>
        <pc:sldMkLst>
          <pc:docMk/>
          <pc:sldMk cId="0" sldId="265"/>
        </pc:sldMkLst>
      </pc:sldChg>
      <pc:sldChg chg="modNotesTx">
        <pc:chgData name="Shimaa Abdelmeguid" userId="47fd2e4c-d07d-4c27-b7bc-d96a4ea2e7cf" providerId="ADAL" clId="{13C3C948-E538-4E74-ABA6-FB3B14096097}" dt="2026-02-04T05:39:05.854" v="28" actId="6549"/>
        <pc:sldMkLst>
          <pc:docMk/>
          <pc:sldMk cId="0" sldId="266"/>
        </pc:sldMkLst>
      </pc:sldChg>
      <pc:sldChg chg="modNotesTx">
        <pc:chgData name="Shimaa Abdelmeguid" userId="47fd2e4c-d07d-4c27-b7bc-d96a4ea2e7cf" providerId="ADAL" clId="{13C3C948-E538-4E74-ABA6-FB3B14096097}" dt="2026-02-04T05:39:13.557" v="29" actId="6549"/>
        <pc:sldMkLst>
          <pc:docMk/>
          <pc:sldMk cId="0" sldId="267"/>
        </pc:sldMkLst>
      </pc:sldChg>
      <pc:sldChg chg="modNotesTx">
        <pc:chgData name="Shimaa Abdelmeguid" userId="47fd2e4c-d07d-4c27-b7bc-d96a4ea2e7cf" providerId="ADAL" clId="{13C3C948-E538-4E74-ABA6-FB3B14096097}" dt="2026-02-04T05:39:17.443" v="30" actId="6549"/>
        <pc:sldMkLst>
          <pc:docMk/>
          <pc:sldMk cId="0" sldId="268"/>
        </pc:sldMkLst>
      </pc:sldChg>
      <pc:sldChg chg="modNotesTx">
        <pc:chgData name="Shimaa Abdelmeguid" userId="47fd2e4c-d07d-4c27-b7bc-d96a4ea2e7cf" providerId="ADAL" clId="{13C3C948-E538-4E74-ABA6-FB3B14096097}" dt="2026-02-04T05:39:22.802" v="31" actId="6549"/>
        <pc:sldMkLst>
          <pc:docMk/>
          <pc:sldMk cId="0" sldId="269"/>
        </pc:sldMkLst>
      </pc:sldChg>
      <pc:sldChg chg="modNotesTx">
        <pc:chgData name="Shimaa Abdelmeguid" userId="47fd2e4c-d07d-4c27-b7bc-d96a4ea2e7cf" providerId="ADAL" clId="{13C3C948-E538-4E74-ABA6-FB3B14096097}" dt="2026-02-04T05:39:35.719" v="34" actId="6549"/>
        <pc:sldMkLst>
          <pc:docMk/>
          <pc:sldMk cId="0" sldId="270"/>
        </pc:sldMkLst>
      </pc:sldChg>
      <pc:sldChg chg="modNotesTx">
        <pc:chgData name="Shimaa Abdelmeguid" userId="47fd2e4c-d07d-4c27-b7bc-d96a4ea2e7cf" providerId="ADAL" clId="{13C3C948-E538-4E74-ABA6-FB3B14096097}" dt="2026-02-04T05:39:39.196" v="35" actId="6549"/>
        <pc:sldMkLst>
          <pc:docMk/>
          <pc:sldMk cId="0" sldId="271"/>
        </pc:sldMkLst>
      </pc:sldChg>
      <pc:sldChg chg="modNotes modNotesTx">
        <pc:chgData name="Shimaa Abdelmeguid" userId="47fd2e4c-d07d-4c27-b7bc-d96a4ea2e7cf" providerId="ADAL" clId="{13C3C948-E538-4E74-ABA6-FB3B14096097}" dt="2026-02-04T17:30:18.628" v="60" actId="27636"/>
        <pc:sldMkLst>
          <pc:docMk/>
          <pc:sldMk cId="0" sldId="272"/>
        </pc:sldMkLst>
      </pc:sldChg>
      <pc:sldChg chg="modNotesTx">
        <pc:chgData name="Shimaa Abdelmeguid" userId="47fd2e4c-d07d-4c27-b7bc-d96a4ea2e7cf" providerId="ADAL" clId="{13C3C948-E538-4E74-ABA6-FB3B14096097}" dt="2026-02-04T05:39:57.852" v="39" actId="6549"/>
        <pc:sldMkLst>
          <pc:docMk/>
          <pc:sldMk cId="0" sldId="273"/>
        </pc:sldMkLst>
      </pc:sldChg>
      <pc:sldChg chg="modNotesTx">
        <pc:chgData name="Shimaa Abdelmeguid" userId="47fd2e4c-d07d-4c27-b7bc-d96a4ea2e7cf" providerId="ADAL" clId="{13C3C948-E538-4E74-ABA6-FB3B14096097}" dt="2026-02-04T05:39:53.495" v="38" actId="6549"/>
        <pc:sldMkLst>
          <pc:docMk/>
          <pc:sldMk cId="0" sldId="274"/>
        </pc:sldMkLst>
      </pc:sldChg>
      <pc:sldChg chg="add del modNotes modNotesTx">
        <pc:chgData name="Shimaa Abdelmeguid" userId="47fd2e4c-d07d-4c27-b7bc-d96a4ea2e7cf" providerId="ADAL" clId="{13C3C948-E538-4E74-ABA6-FB3B14096097}" dt="2026-02-11T19:56:48.654" v="123" actId="6549"/>
        <pc:sldMkLst>
          <pc:docMk/>
          <pc:sldMk cId="0" sldId="275"/>
        </pc:sldMkLst>
      </pc:sldChg>
      <pc:sldChg chg="add del modNotes modNotesTx">
        <pc:chgData name="Shimaa Abdelmeguid" userId="47fd2e4c-d07d-4c27-b7bc-d96a4ea2e7cf" providerId="ADAL" clId="{13C3C948-E538-4E74-ABA6-FB3B14096097}" dt="2026-02-11T19:56:52.169" v="124" actId="6549"/>
        <pc:sldMkLst>
          <pc:docMk/>
          <pc:sldMk cId="0" sldId="276"/>
        </pc:sldMkLst>
      </pc:sldChg>
      <pc:sldChg chg="modNotesTx">
        <pc:chgData name="Shimaa Abdelmeguid" userId="47fd2e4c-d07d-4c27-b7bc-d96a4ea2e7cf" providerId="ADAL" clId="{13C3C948-E538-4E74-ABA6-FB3B14096097}" dt="2026-02-04T05:39:45.214" v="36" actId="6549"/>
        <pc:sldMkLst>
          <pc:docMk/>
          <pc:sldMk cId="0" sldId="278"/>
        </pc:sldMkLst>
      </pc:sldChg>
      <pc:sldChg chg="add del modNotes modNotesTx">
        <pc:chgData name="Shimaa Abdelmeguid" userId="47fd2e4c-d07d-4c27-b7bc-d96a4ea2e7cf" providerId="ADAL" clId="{13C3C948-E538-4E74-ABA6-FB3B14096097}" dt="2026-02-11T19:55:10.130" v="98" actId="27636"/>
        <pc:sldMkLst>
          <pc:docMk/>
          <pc:sldMk cId="0" sldId="280"/>
        </pc:sldMkLst>
      </pc:sldChg>
      <pc:sldChg chg="modNotes modNotesTx">
        <pc:chgData name="Shimaa Abdelmeguid" userId="47fd2e4c-d07d-4c27-b7bc-d96a4ea2e7cf" providerId="ADAL" clId="{13C3C948-E538-4E74-ABA6-FB3B14096097}" dt="2026-02-04T17:30:18.517" v="52" actId="27636"/>
        <pc:sldMkLst>
          <pc:docMk/>
          <pc:sldMk cId="0" sldId="281"/>
        </pc:sldMkLst>
      </pc:sldChg>
      <pc:sldChg chg="add del modNotes modNotesTx">
        <pc:chgData name="Shimaa Abdelmeguid" userId="47fd2e4c-d07d-4c27-b7bc-d96a4ea2e7cf" providerId="ADAL" clId="{13C3C948-E538-4E74-ABA6-FB3B14096097}" dt="2026-02-11T19:55:10.130" v="97" actId="27636"/>
        <pc:sldMkLst>
          <pc:docMk/>
          <pc:sldMk cId="0" sldId="282"/>
        </pc:sldMkLst>
      </pc:sldChg>
      <pc:sldChg chg="add del modNotes modNotesTx">
        <pc:chgData name="Shimaa Abdelmeguid" userId="47fd2e4c-d07d-4c27-b7bc-d96a4ea2e7cf" providerId="ADAL" clId="{13C3C948-E538-4E74-ABA6-FB3B14096097}" dt="2026-02-11T19:55:10.130" v="99" actId="27636"/>
        <pc:sldMkLst>
          <pc:docMk/>
          <pc:sldMk cId="0" sldId="283"/>
        </pc:sldMkLst>
      </pc:sldChg>
      <pc:sldChg chg="add del modNotes modNotesTx">
        <pc:chgData name="Shimaa Abdelmeguid" userId="47fd2e4c-d07d-4c27-b7bc-d96a4ea2e7cf" providerId="ADAL" clId="{13C3C948-E538-4E74-ABA6-FB3B14096097}" dt="2026-02-11T19:55:10.130" v="100" actId="27636"/>
        <pc:sldMkLst>
          <pc:docMk/>
          <pc:sldMk cId="0" sldId="284"/>
        </pc:sldMkLst>
      </pc:sldChg>
      <pc:sldChg chg="add del modNotesTx">
        <pc:chgData name="Shimaa Abdelmeguid" userId="47fd2e4c-d07d-4c27-b7bc-d96a4ea2e7cf" providerId="ADAL" clId="{13C3C948-E538-4E74-ABA6-FB3B14096097}" dt="2026-02-04T17:30:38.437" v="72" actId="6549"/>
        <pc:sldMkLst>
          <pc:docMk/>
          <pc:sldMk cId="0" sldId="285"/>
        </pc:sldMkLst>
      </pc:sldChg>
      <pc:sldChg chg="add del modNotes modNotesTx">
        <pc:chgData name="Shimaa Abdelmeguid" userId="47fd2e4c-d07d-4c27-b7bc-d96a4ea2e7cf" providerId="ADAL" clId="{13C3C948-E538-4E74-ABA6-FB3B14096097}" dt="2026-02-11T19:55:10.130" v="102" actId="27636"/>
        <pc:sldMkLst>
          <pc:docMk/>
          <pc:sldMk cId="0" sldId="286"/>
        </pc:sldMkLst>
      </pc:sldChg>
      <pc:sldChg chg="add del modNotesTx">
        <pc:chgData name="Shimaa Abdelmeguid" userId="47fd2e4c-d07d-4c27-b7bc-d96a4ea2e7cf" providerId="ADAL" clId="{13C3C948-E538-4E74-ABA6-FB3B14096097}" dt="2026-02-04T17:30:45.991" v="74" actId="6549"/>
        <pc:sldMkLst>
          <pc:docMk/>
          <pc:sldMk cId="0" sldId="287"/>
        </pc:sldMkLst>
      </pc:sldChg>
      <pc:sldChg chg="add del modNotes modNotesTx">
        <pc:chgData name="Shimaa Abdelmeguid" userId="47fd2e4c-d07d-4c27-b7bc-d96a4ea2e7cf" providerId="ADAL" clId="{13C3C948-E538-4E74-ABA6-FB3B14096097}" dt="2026-02-11T19:55:10.146" v="104" actId="27636"/>
        <pc:sldMkLst>
          <pc:docMk/>
          <pc:sldMk cId="0" sldId="288"/>
        </pc:sldMkLst>
      </pc:sldChg>
      <pc:sldChg chg="add del modNotes modNotesTx">
        <pc:chgData name="Shimaa Abdelmeguid" userId="47fd2e4c-d07d-4c27-b7bc-d96a4ea2e7cf" providerId="ADAL" clId="{13C3C948-E538-4E74-ABA6-FB3B14096097}" dt="2026-02-11T19:55:10.146" v="107" actId="27636"/>
        <pc:sldMkLst>
          <pc:docMk/>
          <pc:sldMk cId="0" sldId="289"/>
        </pc:sldMkLst>
      </pc:sldChg>
      <pc:sldChg chg="add del modNotes modNotesTx">
        <pc:chgData name="Shimaa Abdelmeguid" userId="47fd2e4c-d07d-4c27-b7bc-d96a4ea2e7cf" providerId="ADAL" clId="{13C3C948-E538-4E74-ABA6-FB3B14096097}" dt="2026-02-11T19:55:10.146" v="108" actId="27636"/>
        <pc:sldMkLst>
          <pc:docMk/>
          <pc:sldMk cId="0" sldId="290"/>
        </pc:sldMkLst>
      </pc:sldChg>
      <pc:sldChg chg="modNotes modNotesTx">
        <pc:chgData name="Shimaa Abdelmeguid" userId="47fd2e4c-d07d-4c27-b7bc-d96a4ea2e7cf" providerId="ADAL" clId="{13C3C948-E538-4E74-ABA6-FB3B14096097}" dt="2026-02-04T17:30:18.628" v="59" actId="27636"/>
        <pc:sldMkLst>
          <pc:docMk/>
          <pc:sldMk cId="0" sldId="294"/>
        </pc:sldMkLst>
      </pc:sldChg>
      <pc:sldChg chg="modNotesTx">
        <pc:chgData name="Shimaa Abdelmeguid" userId="47fd2e4c-d07d-4c27-b7bc-d96a4ea2e7cf" providerId="ADAL" clId="{13C3C948-E538-4E74-ABA6-FB3B14096097}" dt="2026-02-04T05:39:31.841" v="33" actId="6549"/>
        <pc:sldMkLst>
          <pc:docMk/>
          <pc:sldMk cId="0" sldId="295"/>
        </pc:sldMkLst>
      </pc:sldChg>
      <pc:sldChg chg="add del modNotesTx">
        <pc:chgData name="Shimaa Abdelmeguid" userId="47fd2e4c-d07d-4c27-b7bc-d96a4ea2e7cf" providerId="ADAL" clId="{13C3C948-E538-4E74-ABA6-FB3B14096097}" dt="2026-02-11T19:56:31.319" v="119" actId="6549"/>
        <pc:sldMkLst>
          <pc:docMk/>
          <pc:sldMk cId="0" sldId="297"/>
        </pc:sldMkLst>
      </pc:sldChg>
      <pc:sldChg chg="add del modNotesTx">
        <pc:chgData name="Shimaa Abdelmeguid" userId="47fd2e4c-d07d-4c27-b7bc-d96a4ea2e7cf" providerId="ADAL" clId="{13C3C948-E538-4E74-ABA6-FB3B14096097}" dt="2026-02-04T17:31:42.186" v="89" actId="6549"/>
        <pc:sldMkLst>
          <pc:docMk/>
          <pc:sldMk cId="0" sldId="299"/>
        </pc:sldMkLst>
      </pc:sldChg>
      <pc:sldChg chg="add del modNotes modNotesTx">
        <pc:chgData name="Shimaa Abdelmeguid" userId="47fd2e4c-d07d-4c27-b7bc-d96a4ea2e7cf" providerId="ADAL" clId="{13C3C948-E538-4E74-ABA6-FB3B14096097}" dt="2026-02-11T19:56:20.393" v="116" actId="6549"/>
        <pc:sldMkLst>
          <pc:docMk/>
          <pc:sldMk cId="0" sldId="303"/>
        </pc:sldMkLst>
      </pc:sldChg>
      <pc:sldChg chg="add del modNotes modNotesTx">
        <pc:chgData name="Shimaa Abdelmeguid" userId="47fd2e4c-d07d-4c27-b7bc-d96a4ea2e7cf" providerId="ADAL" clId="{13C3C948-E538-4E74-ABA6-FB3B14096097}" dt="2026-02-11T19:56:27.401" v="118" actId="6549"/>
        <pc:sldMkLst>
          <pc:docMk/>
          <pc:sldMk cId="0" sldId="304"/>
        </pc:sldMkLst>
      </pc:sldChg>
      <pc:sldChg chg="add del modNotes modNotesTx">
        <pc:chgData name="Shimaa Abdelmeguid" userId="47fd2e4c-d07d-4c27-b7bc-d96a4ea2e7cf" providerId="ADAL" clId="{13C3C948-E538-4E74-ABA6-FB3B14096097}" dt="2026-02-11T19:56:39.194" v="121" actId="6549"/>
        <pc:sldMkLst>
          <pc:docMk/>
          <pc:sldMk cId="0" sldId="305"/>
        </pc:sldMkLst>
      </pc:sldChg>
      <pc:sldChg chg="del modNotes modNotesTx">
        <pc:chgData name="Shimaa Abdelmeguid" userId="47fd2e4c-d07d-4c27-b7bc-d96a4ea2e7cf" providerId="ADAL" clId="{13C3C948-E538-4E74-ABA6-FB3B14096097}" dt="2026-02-11T19:55:07.298" v="95" actId="47"/>
        <pc:sldMkLst>
          <pc:docMk/>
          <pc:sldMk cId="0" sldId="306"/>
        </pc:sldMkLst>
      </pc:sldChg>
      <pc:sldChg chg="add del modNotesTx">
        <pc:chgData name="Shimaa Abdelmeguid" userId="47fd2e4c-d07d-4c27-b7bc-d96a4ea2e7cf" providerId="ADAL" clId="{13C3C948-E538-4E74-ABA6-FB3B14096097}" dt="2026-02-04T17:30:42.079" v="73" actId="6549"/>
        <pc:sldMkLst>
          <pc:docMk/>
          <pc:sldMk cId="3742427380" sldId="311"/>
        </pc:sldMkLst>
      </pc:sldChg>
      <pc:sldChg chg="add del modNotesTx">
        <pc:chgData name="Shimaa Abdelmeguid" userId="47fd2e4c-d07d-4c27-b7bc-d96a4ea2e7cf" providerId="ADAL" clId="{13C3C948-E538-4E74-ABA6-FB3B14096097}" dt="2026-02-04T17:31:15.379" v="82" actId="6549"/>
        <pc:sldMkLst>
          <pc:docMk/>
          <pc:sldMk cId="3541773823" sldId="313"/>
        </pc:sldMkLst>
      </pc:sldChg>
      <pc:sldChg chg="add del modNotesTx">
        <pc:chgData name="Shimaa Abdelmeguid" userId="47fd2e4c-d07d-4c27-b7bc-d96a4ea2e7cf" providerId="ADAL" clId="{13C3C948-E538-4E74-ABA6-FB3B14096097}" dt="2026-02-11T19:56:16.671" v="115" actId="6549"/>
        <pc:sldMkLst>
          <pc:docMk/>
          <pc:sldMk cId="567563530" sldId="316"/>
        </pc:sldMkLst>
      </pc:sldChg>
      <pc:sldChg chg="del modNotes modNotesTx">
        <pc:chgData name="Shimaa Abdelmeguid" userId="47fd2e4c-d07d-4c27-b7bc-d96a4ea2e7cf" providerId="ADAL" clId="{13C3C948-E538-4E74-ABA6-FB3B14096097}" dt="2026-02-11T19:55:07.298" v="95" actId="47"/>
        <pc:sldMkLst>
          <pc:docMk/>
          <pc:sldMk cId="946207213" sldId="317"/>
        </pc:sldMkLst>
      </pc:sldChg>
      <pc:sldChg chg="del modNotes modNotesTx">
        <pc:chgData name="Shimaa Abdelmeguid" userId="47fd2e4c-d07d-4c27-b7bc-d96a4ea2e7cf" providerId="ADAL" clId="{13C3C948-E538-4E74-ABA6-FB3B14096097}" dt="2026-02-11T19:55:07.298" v="95" actId="47"/>
        <pc:sldMkLst>
          <pc:docMk/>
          <pc:sldMk cId="1065400208" sldId="318"/>
        </pc:sldMkLst>
      </pc:sldChg>
      <pc:sldChg chg="del modNotes modNotesTx">
        <pc:chgData name="Shimaa Abdelmeguid" userId="47fd2e4c-d07d-4c27-b7bc-d96a4ea2e7cf" providerId="ADAL" clId="{13C3C948-E538-4E74-ABA6-FB3B14096097}" dt="2026-02-11T19:55:07.298" v="95" actId="47"/>
        <pc:sldMkLst>
          <pc:docMk/>
          <pc:sldMk cId="883037779" sldId="319"/>
        </pc:sldMkLst>
      </pc:sldChg>
      <pc:sldChg chg="add del modNotes modNotesTx">
        <pc:chgData name="Shimaa Abdelmeguid" userId="47fd2e4c-d07d-4c27-b7bc-d96a4ea2e7cf" providerId="ADAL" clId="{13C3C948-E538-4E74-ABA6-FB3B14096097}" dt="2026-02-04T17:30:56.429" v="77" actId="6549"/>
        <pc:sldMkLst>
          <pc:docMk/>
          <pc:sldMk cId="4111011153" sldId="320"/>
        </pc:sldMkLst>
      </pc:sldChg>
      <pc:sldChg chg="add del modNotes modNotesTx">
        <pc:chgData name="Shimaa Abdelmeguid" userId="47fd2e4c-d07d-4c27-b7bc-d96a4ea2e7cf" providerId="ADAL" clId="{13C3C948-E538-4E74-ABA6-FB3B14096097}" dt="2026-02-11T19:55:10.130" v="101" actId="27636"/>
        <pc:sldMkLst>
          <pc:docMk/>
          <pc:sldMk cId="133050504" sldId="321"/>
        </pc:sldMkLst>
      </pc:sldChg>
      <pc:sldChg chg="add del modNotes modNotesTx">
        <pc:chgData name="Shimaa Abdelmeguid" userId="47fd2e4c-d07d-4c27-b7bc-d96a4ea2e7cf" providerId="ADAL" clId="{13C3C948-E538-4E74-ABA6-FB3B14096097}" dt="2026-02-11T19:55:10.146" v="105" actId="27636"/>
        <pc:sldMkLst>
          <pc:docMk/>
          <pc:sldMk cId="1466326798" sldId="322"/>
        </pc:sldMkLst>
      </pc:sldChg>
      <pc:sldChg chg="add del modNotesTx">
        <pc:chgData name="Shimaa Abdelmeguid" userId="47fd2e4c-d07d-4c27-b7bc-d96a4ea2e7cf" providerId="ADAL" clId="{13C3C948-E538-4E74-ABA6-FB3B14096097}" dt="2026-02-04T17:31:23.364" v="84" actId="6549"/>
        <pc:sldMkLst>
          <pc:docMk/>
          <pc:sldMk cId="2507994774" sldId="323"/>
        </pc:sldMkLst>
      </pc:sldChg>
      <pc:sldChg chg="add modNotesTx">
        <pc:chgData name="Shimaa Abdelmeguid" userId="47fd2e4c-d07d-4c27-b7bc-d96a4ea2e7cf" providerId="ADAL" clId="{13C3C948-E538-4E74-ABA6-FB3B14096097}" dt="2026-02-11T19:56:24.055" v="117" actId="6549"/>
        <pc:sldMkLst>
          <pc:docMk/>
          <pc:sldMk cId="968134770" sldId="325"/>
        </pc:sldMkLst>
      </pc:sldChg>
      <pc:sldChg chg="add modNotesTx">
        <pc:chgData name="Shimaa Abdelmeguid" userId="47fd2e4c-d07d-4c27-b7bc-d96a4ea2e7cf" providerId="ADAL" clId="{13C3C948-E538-4E74-ABA6-FB3B14096097}" dt="2026-02-11T19:56:35.295" v="120" actId="6549"/>
        <pc:sldMkLst>
          <pc:docMk/>
          <pc:sldMk cId="1110266188" sldId="326"/>
        </pc:sldMkLst>
      </pc:sldChg>
      <pc:sldChg chg="add modNotesTx">
        <pc:chgData name="Shimaa Abdelmeguid" userId="47fd2e4c-d07d-4c27-b7bc-d96a4ea2e7cf" providerId="ADAL" clId="{13C3C948-E538-4E74-ABA6-FB3B14096097}" dt="2026-02-11T19:56:44.929" v="122" actId="6549"/>
        <pc:sldMkLst>
          <pc:docMk/>
          <pc:sldMk cId="4082687760" sldId="32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t>2/11/2026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29478693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t>2/11/2026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extLst>
      <p:ext uri="{BB962C8B-B14F-4D97-AF65-F5344CB8AC3E}">
        <p14:creationId xmlns:p14="http://schemas.microsoft.com/office/powerpoint/2010/main" val="20087135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1</a:t>
            </a:fld>
            <a:endParaRPr lang="en-US"/>
          </a:p>
        </p:txBody>
      </p:sp>
    </p:spTree>
    <p:extLst>
      <p:ext uri="{BB962C8B-B14F-4D97-AF65-F5344CB8AC3E}">
        <p14:creationId xmlns:p14="http://schemas.microsoft.com/office/powerpoint/2010/main" val="3976112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2</a:t>
            </a:fld>
            <a:endParaRPr lang="en-US"/>
          </a:p>
        </p:txBody>
      </p:sp>
    </p:spTree>
    <p:extLst>
      <p:ext uri="{BB962C8B-B14F-4D97-AF65-F5344CB8AC3E}">
        <p14:creationId xmlns:p14="http://schemas.microsoft.com/office/powerpoint/2010/main" val="3740768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3</a:t>
            </a:fld>
            <a:endParaRPr lang="en-US"/>
          </a:p>
        </p:txBody>
      </p:sp>
    </p:spTree>
    <p:extLst>
      <p:ext uri="{BB962C8B-B14F-4D97-AF65-F5344CB8AC3E}">
        <p14:creationId xmlns:p14="http://schemas.microsoft.com/office/powerpoint/2010/main" val="79296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4</a:t>
            </a:fld>
            <a:endParaRPr lang="en-US"/>
          </a:p>
        </p:txBody>
      </p:sp>
    </p:spTree>
    <p:extLst>
      <p:ext uri="{BB962C8B-B14F-4D97-AF65-F5344CB8AC3E}">
        <p14:creationId xmlns:p14="http://schemas.microsoft.com/office/powerpoint/2010/main" val="709534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5</a:t>
            </a:fld>
            <a:endParaRPr lang="en-US"/>
          </a:p>
        </p:txBody>
      </p:sp>
    </p:spTree>
    <p:extLst>
      <p:ext uri="{BB962C8B-B14F-4D97-AF65-F5344CB8AC3E}">
        <p14:creationId xmlns:p14="http://schemas.microsoft.com/office/powerpoint/2010/main" val="2638694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6</a:t>
            </a:fld>
            <a:endParaRPr lang="en-US"/>
          </a:p>
        </p:txBody>
      </p:sp>
    </p:spTree>
    <p:extLst>
      <p:ext uri="{BB962C8B-B14F-4D97-AF65-F5344CB8AC3E}">
        <p14:creationId xmlns:p14="http://schemas.microsoft.com/office/powerpoint/2010/main" val="1729342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7</a:t>
            </a:fld>
            <a:endParaRPr lang="en-US"/>
          </a:p>
        </p:txBody>
      </p:sp>
    </p:spTree>
    <p:extLst>
      <p:ext uri="{BB962C8B-B14F-4D97-AF65-F5344CB8AC3E}">
        <p14:creationId xmlns:p14="http://schemas.microsoft.com/office/powerpoint/2010/main" val="1956299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8</a:t>
            </a:fld>
            <a:endParaRPr lang="en-US"/>
          </a:p>
        </p:txBody>
      </p:sp>
    </p:spTree>
    <p:extLst>
      <p:ext uri="{BB962C8B-B14F-4D97-AF65-F5344CB8AC3E}">
        <p14:creationId xmlns:p14="http://schemas.microsoft.com/office/powerpoint/2010/main" val="2639213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F999B78F-7C08-ED42-8E36-4ED23DEF8F74}" type="slidenum">
              <a:rPr lang="en-US" smtClean="0"/>
              <a:t>9</a:t>
            </a:fld>
            <a:endParaRPr lang="en-US"/>
          </a:p>
        </p:txBody>
      </p:sp>
    </p:spTree>
    <p:extLst>
      <p:ext uri="{BB962C8B-B14F-4D97-AF65-F5344CB8AC3E}">
        <p14:creationId xmlns:p14="http://schemas.microsoft.com/office/powerpoint/2010/main" val="142836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86F75-0B08-0FBF-C4AA-DC79F10D5C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BB61B-955B-9131-2C78-0F209F964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81291-CDE1-8F22-6EC6-D316FFB5D8E0}"/>
              </a:ext>
            </a:extLst>
          </p:cNvPr>
          <p:cNvSpPr>
            <a:spLocks noGrp="1"/>
          </p:cNvSpPr>
          <p:nvPr>
            <p:ph type="body" idx="1"/>
          </p:nvPr>
        </p:nvSpPr>
        <p:spPr/>
        <p:txBody>
          <a:bodyPr>
            <a:normAutofit/>
          </a:bodyPr>
          <a:lstStyle/>
          <a:p>
            <a:endParaRPr lang="en-US" b="1" u="sng" dirty="0"/>
          </a:p>
        </p:txBody>
      </p:sp>
      <p:sp>
        <p:nvSpPr>
          <p:cNvPr id="4" name="Slide Number Placeholder 3">
            <a:extLst>
              <a:ext uri="{FF2B5EF4-FFF2-40B4-BE49-F238E27FC236}">
                <a16:creationId xmlns:a16="http://schemas.microsoft.com/office/drawing/2014/main" id="{E327C10D-CCFC-40B7-AE36-BBE926890478}"/>
              </a:ext>
            </a:extLst>
          </p:cNvPr>
          <p:cNvSpPr>
            <a:spLocks noGrp="1"/>
          </p:cNvSpPr>
          <p:nvPr>
            <p:ph type="sldNum" sz="quarter" idx="5"/>
          </p:nvPr>
        </p:nvSpPr>
        <p:spPr/>
        <p:txBody>
          <a:bodyPr/>
          <a:lstStyle/>
          <a:p>
            <a:fld id="{F999B78F-7C08-ED42-8E36-4ED23DEF8F74}" type="slidenum">
              <a:rPr lang="en-US" smtClean="0"/>
              <a:t>10</a:t>
            </a:fld>
            <a:endParaRPr lang="en-US"/>
          </a:p>
        </p:txBody>
      </p:sp>
    </p:spTree>
    <p:extLst>
      <p:ext uri="{BB962C8B-B14F-4D97-AF65-F5344CB8AC3E}">
        <p14:creationId xmlns:p14="http://schemas.microsoft.com/office/powerpoint/2010/main" val="1737772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F999B78F-7C08-ED42-8E36-4ED23DEF8F74}" type="slidenum">
              <a:rPr lang="en-US" smtClean="0"/>
              <a:t>11</a:t>
            </a:fld>
            <a:endParaRPr lang="en-US"/>
          </a:p>
        </p:txBody>
      </p:sp>
    </p:spTree>
    <p:extLst>
      <p:ext uri="{BB962C8B-B14F-4D97-AF65-F5344CB8AC3E}">
        <p14:creationId xmlns:p14="http://schemas.microsoft.com/office/powerpoint/2010/main" val="3992855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7F2E5-CABE-9206-5222-0FB362448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929AA-8363-7578-4C7E-0C0511698B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BC692-784F-42AE-6DF2-D6614E11FC5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4106282-4DB8-341D-3045-DE9F9CBBBB7D}"/>
              </a:ext>
            </a:extLst>
          </p:cNvPr>
          <p:cNvSpPr>
            <a:spLocks noGrp="1"/>
          </p:cNvSpPr>
          <p:nvPr>
            <p:ph type="sldNum" sz="quarter" idx="5"/>
          </p:nvPr>
        </p:nvSpPr>
        <p:spPr/>
        <p:txBody>
          <a:bodyPr/>
          <a:lstStyle/>
          <a:p>
            <a:fld id="{F999B78F-7C08-ED42-8E36-4ED23DEF8F74}" type="slidenum">
              <a:rPr lang="en-US" smtClean="0"/>
              <a:t>12</a:t>
            </a:fld>
            <a:endParaRPr lang="en-US"/>
          </a:p>
        </p:txBody>
      </p:sp>
    </p:spTree>
    <p:extLst>
      <p:ext uri="{BB962C8B-B14F-4D97-AF65-F5344CB8AC3E}">
        <p14:creationId xmlns:p14="http://schemas.microsoft.com/office/powerpoint/2010/main" val="277946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F999B78F-7C08-ED42-8E36-4ED23DEF8F74}" type="slidenum">
              <a:rPr lang="en-US" smtClean="0"/>
              <a:t>13</a:t>
            </a:fld>
            <a:endParaRPr lang="en-US"/>
          </a:p>
        </p:txBody>
      </p:sp>
    </p:spTree>
    <p:extLst>
      <p:ext uri="{BB962C8B-B14F-4D97-AF65-F5344CB8AC3E}">
        <p14:creationId xmlns:p14="http://schemas.microsoft.com/office/powerpoint/2010/main" val="1059104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F999B78F-7C08-ED42-8E36-4ED23DEF8F74}" type="slidenum">
              <a:rPr lang="en-US" smtClean="0"/>
              <a:t>14</a:t>
            </a:fld>
            <a:endParaRPr lang="en-US"/>
          </a:p>
        </p:txBody>
      </p:sp>
    </p:spTree>
    <p:extLst>
      <p:ext uri="{BB962C8B-B14F-4D97-AF65-F5344CB8AC3E}">
        <p14:creationId xmlns:p14="http://schemas.microsoft.com/office/powerpoint/2010/main" val="3295700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B941-A020-7023-1F0C-65F1ADBB0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1216C-8B62-21FB-2284-DB9D849A8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D89FD-BD42-D93E-ED9B-F417623CB0FF}"/>
              </a:ext>
            </a:extLst>
          </p:cNvPr>
          <p:cNvSpPr>
            <a:spLocks noGrp="1"/>
          </p:cNvSpPr>
          <p:nvPr>
            <p:ph type="body" idx="1"/>
          </p:nvPr>
        </p:nvSpPr>
        <p:spPr/>
        <p:txBody>
          <a:bodyPr>
            <a:normAutofit/>
          </a:bodyPr>
          <a:lstStyle/>
          <a:p>
            <a:endParaRPr lang="en-CA" dirty="0"/>
          </a:p>
        </p:txBody>
      </p:sp>
      <p:sp>
        <p:nvSpPr>
          <p:cNvPr id="4" name="Slide Number Placeholder 3">
            <a:extLst>
              <a:ext uri="{FF2B5EF4-FFF2-40B4-BE49-F238E27FC236}">
                <a16:creationId xmlns:a16="http://schemas.microsoft.com/office/drawing/2014/main" id="{22FAE35C-F28E-A341-2064-EB3DF3A943C7}"/>
              </a:ext>
            </a:extLst>
          </p:cNvPr>
          <p:cNvSpPr>
            <a:spLocks noGrp="1"/>
          </p:cNvSpPr>
          <p:nvPr>
            <p:ph type="sldNum" sz="quarter" idx="5"/>
          </p:nvPr>
        </p:nvSpPr>
        <p:spPr/>
        <p:txBody>
          <a:bodyPr/>
          <a:lstStyle/>
          <a:p>
            <a:fld id="{F999B78F-7C08-ED42-8E36-4ED23DEF8F74}" type="slidenum">
              <a:rPr lang="en-US" smtClean="0"/>
              <a:t>15</a:t>
            </a:fld>
            <a:endParaRPr lang="en-US"/>
          </a:p>
        </p:txBody>
      </p:sp>
    </p:spTree>
    <p:extLst>
      <p:ext uri="{BB962C8B-B14F-4D97-AF65-F5344CB8AC3E}">
        <p14:creationId xmlns:p14="http://schemas.microsoft.com/office/powerpoint/2010/main" val="2087115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en-US" dirty="0"/>
          </a:p>
        </p:txBody>
      </p:sp>
      <p:sp>
        <p:nvSpPr>
          <p:cNvPr id="4" name="Slide Number Placeholder 3"/>
          <p:cNvSpPr>
            <a:spLocks noGrp="1"/>
          </p:cNvSpPr>
          <p:nvPr>
            <p:ph type="sldNum" sz="quarter" idx="5"/>
          </p:nvPr>
        </p:nvSpPr>
        <p:spPr/>
        <p:txBody>
          <a:bodyPr/>
          <a:lstStyle/>
          <a:p>
            <a:fld id="{F999B78F-7C08-ED42-8E36-4ED23DEF8F74}" type="slidenum">
              <a:rPr lang="en-US" smtClean="0"/>
              <a:t>16</a:t>
            </a:fld>
            <a:endParaRPr lang="en-US"/>
          </a:p>
        </p:txBody>
      </p:sp>
    </p:spTree>
    <p:extLst>
      <p:ext uri="{BB962C8B-B14F-4D97-AF65-F5344CB8AC3E}">
        <p14:creationId xmlns:p14="http://schemas.microsoft.com/office/powerpoint/2010/main" val="22707441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17</a:t>
            </a:fld>
            <a:endParaRPr lang="en-US"/>
          </a:p>
        </p:txBody>
      </p:sp>
    </p:spTree>
    <p:extLst>
      <p:ext uri="{BB962C8B-B14F-4D97-AF65-F5344CB8AC3E}">
        <p14:creationId xmlns:p14="http://schemas.microsoft.com/office/powerpoint/2010/main" val="4037719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18</a:t>
            </a:fld>
            <a:endParaRPr lang="en-US"/>
          </a:p>
        </p:txBody>
      </p:sp>
    </p:spTree>
    <p:extLst>
      <p:ext uri="{BB962C8B-B14F-4D97-AF65-F5344CB8AC3E}">
        <p14:creationId xmlns:p14="http://schemas.microsoft.com/office/powerpoint/2010/main" val="21041547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8C862-AA14-CFDD-5A56-250851E4F7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A7F39-0EC2-9AC3-C893-7C6691337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DA812-D247-53DC-6992-FCA027E3A8AD}"/>
              </a:ext>
            </a:extLst>
          </p:cNvPr>
          <p:cNvSpPr>
            <a:spLocks noGrp="1"/>
          </p:cNvSpPr>
          <p:nvPr>
            <p:ph type="body" idx="1"/>
          </p:nvPr>
        </p:nvSpPr>
        <p:spPr/>
        <p:txBody>
          <a:bodyPr>
            <a:normAutofit/>
          </a:bodyPr>
          <a:lstStyle/>
          <a:p>
            <a:endParaRPr lang="en-CA" dirty="0"/>
          </a:p>
        </p:txBody>
      </p:sp>
      <p:sp>
        <p:nvSpPr>
          <p:cNvPr id="4" name="Slide Number Placeholder 3">
            <a:extLst>
              <a:ext uri="{FF2B5EF4-FFF2-40B4-BE49-F238E27FC236}">
                <a16:creationId xmlns:a16="http://schemas.microsoft.com/office/drawing/2014/main" id="{7E378656-107C-8027-857F-6E6DA186C78D}"/>
              </a:ext>
            </a:extLst>
          </p:cNvPr>
          <p:cNvSpPr>
            <a:spLocks noGrp="1"/>
          </p:cNvSpPr>
          <p:nvPr>
            <p:ph type="sldNum" sz="quarter" idx="5"/>
          </p:nvPr>
        </p:nvSpPr>
        <p:spPr/>
        <p:txBody>
          <a:bodyPr/>
          <a:lstStyle/>
          <a:p>
            <a:fld id="{F999B78F-7C08-ED42-8E36-4ED23DEF8F74}" type="slidenum">
              <a:rPr lang="en-US" smtClean="0"/>
              <a:t>19</a:t>
            </a:fld>
            <a:endParaRPr lang="en-US"/>
          </a:p>
        </p:txBody>
      </p:sp>
    </p:spTree>
    <p:extLst>
      <p:ext uri="{BB962C8B-B14F-4D97-AF65-F5344CB8AC3E}">
        <p14:creationId xmlns:p14="http://schemas.microsoft.com/office/powerpoint/2010/main" val="14405592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5"/>
          </p:nvPr>
        </p:nvSpPr>
        <p:spPr/>
        <p:txBody>
          <a:bodyPr/>
          <a:lstStyle/>
          <a:p>
            <a:fld id="{F999B78F-7C08-ED42-8E36-4ED23DEF8F74}" type="slidenum">
              <a:rPr lang="en-US" smtClean="0"/>
              <a:t>20</a:t>
            </a:fld>
            <a:endParaRPr lang="en-US"/>
          </a:p>
        </p:txBody>
      </p:sp>
    </p:spTree>
    <p:extLst>
      <p:ext uri="{BB962C8B-B14F-4D97-AF65-F5344CB8AC3E}">
        <p14:creationId xmlns:p14="http://schemas.microsoft.com/office/powerpoint/2010/main" val="2173302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21</a:t>
            </a:fld>
            <a:endParaRPr lang="en-US"/>
          </a:p>
        </p:txBody>
      </p:sp>
    </p:spTree>
    <p:extLst>
      <p:ext uri="{BB962C8B-B14F-4D97-AF65-F5344CB8AC3E}">
        <p14:creationId xmlns:p14="http://schemas.microsoft.com/office/powerpoint/2010/main" val="42389766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22</a:t>
            </a:fld>
            <a:endParaRPr lang="en-US"/>
          </a:p>
        </p:txBody>
      </p:sp>
    </p:spTree>
    <p:extLst>
      <p:ext uri="{BB962C8B-B14F-4D97-AF65-F5344CB8AC3E}">
        <p14:creationId xmlns:p14="http://schemas.microsoft.com/office/powerpoint/2010/main" val="3586598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23</a:t>
            </a:fld>
            <a:endParaRPr lang="en-US"/>
          </a:p>
        </p:txBody>
      </p:sp>
    </p:spTree>
    <p:extLst>
      <p:ext uri="{BB962C8B-B14F-4D97-AF65-F5344CB8AC3E}">
        <p14:creationId xmlns:p14="http://schemas.microsoft.com/office/powerpoint/2010/main" val="3614349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24</a:t>
            </a:fld>
            <a:endParaRPr lang="en-US"/>
          </a:p>
        </p:txBody>
      </p:sp>
    </p:spTree>
    <p:extLst>
      <p:ext uri="{BB962C8B-B14F-4D97-AF65-F5344CB8AC3E}">
        <p14:creationId xmlns:p14="http://schemas.microsoft.com/office/powerpoint/2010/main" val="37322251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25</a:t>
            </a:fld>
            <a:endParaRPr lang="en-US"/>
          </a:p>
        </p:txBody>
      </p:sp>
    </p:spTree>
    <p:extLst>
      <p:ext uri="{BB962C8B-B14F-4D97-AF65-F5344CB8AC3E}">
        <p14:creationId xmlns:p14="http://schemas.microsoft.com/office/powerpoint/2010/main" val="25459328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26</a:t>
            </a:fld>
            <a:endParaRPr lang="en-US"/>
          </a:p>
        </p:txBody>
      </p:sp>
    </p:spTree>
    <p:extLst>
      <p:ext uri="{BB962C8B-B14F-4D97-AF65-F5344CB8AC3E}">
        <p14:creationId xmlns:p14="http://schemas.microsoft.com/office/powerpoint/2010/main" val="6667239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30</a:t>
            </a:fld>
            <a:endParaRPr lang="en-US"/>
          </a:p>
        </p:txBody>
      </p:sp>
    </p:spTree>
    <p:extLst>
      <p:ext uri="{BB962C8B-B14F-4D97-AF65-F5344CB8AC3E}">
        <p14:creationId xmlns:p14="http://schemas.microsoft.com/office/powerpoint/2010/main" val="11719166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31</a:t>
            </a:fld>
            <a:endParaRPr lang="en-US"/>
          </a:p>
        </p:txBody>
      </p:sp>
    </p:spTree>
    <p:extLst>
      <p:ext uri="{BB962C8B-B14F-4D97-AF65-F5344CB8AC3E}">
        <p14:creationId xmlns:p14="http://schemas.microsoft.com/office/powerpoint/2010/main" val="21080328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32</a:t>
            </a:fld>
            <a:endParaRPr lang="en-US"/>
          </a:p>
        </p:txBody>
      </p:sp>
    </p:spTree>
    <p:extLst>
      <p:ext uri="{BB962C8B-B14F-4D97-AF65-F5344CB8AC3E}">
        <p14:creationId xmlns:p14="http://schemas.microsoft.com/office/powerpoint/2010/main" val="21542584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35</a:t>
            </a:fld>
            <a:endParaRPr lang="en-US"/>
          </a:p>
        </p:txBody>
      </p:sp>
    </p:spTree>
    <p:extLst>
      <p:ext uri="{BB962C8B-B14F-4D97-AF65-F5344CB8AC3E}">
        <p14:creationId xmlns:p14="http://schemas.microsoft.com/office/powerpoint/2010/main" val="38239408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36</a:t>
            </a:fld>
            <a:endParaRPr lang="en-US"/>
          </a:p>
        </p:txBody>
      </p:sp>
    </p:spTree>
    <p:extLst>
      <p:ext uri="{BB962C8B-B14F-4D97-AF65-F5344CB8AC3E}">
        <p14:creationId xmlns:p14="http://schemas.microsoft.com/office/powerpoint/2010/main" val="28805030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38</a:t>
            </a:fld>
            <a:endParaRPr lang="en-US"/>
          </a:p>
        </p:txBody>
      </p:sp>
    </p:spTree>
    <p:extLst>
      <p:ext uri="{BB962C8B-B14F-4D97-AF65-F5344CB8AC3E}">
        <p14:creationId xmlns:p14="http://schemas.microsoft.com/office/powerpoint/2010/main" val="11551485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40</a:t>
            </a:fld>
            <a:endParaRPr lang="en-US"/>
          </a:p>
        </p:txBody>
      </p:sp>
    </p:spTree>
    <p:extLst>
      <p:ext uri="{BB962C8B-B14F-4D97-AF65-F5344CB8AC3E}">
        <p14:creationId xmlns:p14="http://schemas.microsoft.com/office/powerpoint/2010/main" val="3354613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41</a:t>
            </a:fld>
            <a:endParaRPr lang="en-US"/>
          </a:p>
        </p:txBody>
      </p:sp>
    </p:spTree>
    <p:extLst>
      <p:ext uri="{BB962C8B-B14F-4D97-AF65-F5344CB8AC3E}">
        <p14:creationId xmlns:p14="http://schemas.microsoft.com/office/powerpoint/2010/main" val="41343966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42</a:t>
            </a:fld>
            <a:endParaRPr lang="en-US"/>
          </a:p>
        </p:txBody>
      </p:sp>
    </p:spTree>
    <p:extLst>
      <p:ext uri="{BB962C8B-B14F-4D97-AF65-F5344CB8AC3E}">
        <p14:creationId xmlns:p14="http://schemas.microsoft.com/office/powerpoint/2010/main" val="36037463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43</a:t>
            </a:fld>
            <a:endParaRPr lang="en-US"/>
          </a:p>
        </p:txBody>
      </p:sp>
    </p:spTree>
    <p:extLst>
      <p:ext uri="{BB962C8B-B14F-4D97-AF65-F5344CB8AC3E}">
        <p14:creationId xmlns:p14="http://schemas.microsoft.com/office/powerpoint/2010/main" val="8113443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45</a:t>
            </a:fld>
            <a:endParaRPr lang="en-US"/>
          </a:p>
        </p:txBody>
      </p:sp>
    </p:spTree>
    <p:extLst>
      <p:ext uri="{BB962C8B-B14F-4D97-AF65-F5344CB8AC3E}">
        <p14:creationId xmlns:p14="http://schemas.microsoft.com/office/powerpoint/2010/main" val="25340361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46</a:t>
            </a:fld>
            <a:endParaRPr lang="en-US"/>
          </a:p>
        </p:txBody>
      </p:sp>
    </p:spTree>
    <p:extLst>
      <p:ext uri="{BB962C8B-B14F-4D97-AF65-F5344CB8AC3E}">
        <p14:creationId xmlns:p14="http://schemas.microsoft.com/office/powerpoint/2010/main" val="10983080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47</a:t>
            </a:fld>
            <a:endParaRPr lang="en-US"/>
          </a:p>
        </p:txBody>
      </p:sp>
    </p:spTree>
    <p:extLst>
      <p:ext uri="{BB962C8B-B14F-4D97-AF65-F5344CB8AC3E}">
        <p14:creationId xmlns:p14="http://schemas.microsoft.com/office/powerpoint/2010/main" val="36025800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48</a:t>
            </a:fld>
            <a:endParaRPr lang="en-US"/>
          </a:p>
        </p:txBody>
      </p:sp>
    </p:spTree>
    <p:extLst>
      <p:ext uri="{BB962C8B-B14F-4D97-AF65-F5344CB8AC3E}">
        <p14:creationId xmlns:p14="http://schemas.microsoft.com/office/powerpoint/2010/main" val="40168960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50</a:t>
            </a:fld>
            <a:endParaRPr lang="en-US"/>
          </a:p>
        </p:txBody>
      </p:sp>
    </p:spTree>
    <p:extLst>
      <p:ext uri="{BB962C8B-B14F-4D97-AF65-F5344CB8AC3E}">
        <p14:creationId xmlns:p14="http://schemas.microsoft.com/office/powerpoint/2010/main" val="15296330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51</a:t>
            </a:fld>
            <a:endParaRPr lang="en-US"/>
          </a:p>
        </p:txBody>
      </p:sp>
    </p:spTree>
    <p:extLst>
      <p:ext uri="{BB962C8B-B14F-4D97-AF65-F5344CB8AC3E}">
        <p14:creationId xmlns:p14="http://schemas.microsoft.com/office/powerpoint/2010/main" val="28049052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908E2-2E5B-5721-746C-812A51F98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EAA31-B832-6659-A918-8EC2B3C18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78D783-9DD0-343D-7E54-1EF5718EBF7B}"/>
              </a:ext>
            </a:extLst>
          </p:cNvPr>
          <p:cNvSpPr>
            <a:spLocks noGrp="1"/>
          </p:cNvSpPr>
          <p:nvPr>
            <p:ph type="body" idx="1"/>
          </p:nvPr>
        </p:nvSpPr>
        <p:spPr/>
        <p:txBody>
          <a:bodyPr>
            <a:normAutofit/>
          </a:bodyPr>
          <a:lstStyle/>
          <a:p>
            <a:endParaRPr lang="en-CA" dirty="0"/>
          </a:p>
        </p:txBody>
      </p:sp>
      <p:sp>
        <p:nvSpPr>
          <p:cNvPr id="4" name="Slide Number Placeholder 3">
            <a:extLst>
              <a:ext uri="{FF2B5EF4-FFF2-40B4-BE49-F238E27FC236}">
                <a16:creationId xmlns:a16="http://schemas.microsoft.com/office/drawing/2014/main" id="{320FEBC1-B13E-3785-231B-DB59AC37D028}"/>
              </a:ext>
            </a:extLst>
          </p:cNvPr>
          <p:cNvSpPr>
            <a:spLocks noGrp="1"/>
          </p:cNvSpPr>
          <p:nvPr>
            <p:ph type="sldNum" sz="quarter" idx="5"/>
          </p:nvPr>
        </p:nvSpPr>
        <p:spPr/>
        <p:txBody>
          <a:bodyPr/>
          <a:lstStyle/>
          <a:p>
            <a:fld id="{F999B78F-7C08-ED42-8E36-4ED23DEF8F74}" type="slidenum">
              <a:rPr lang="en-US" smtClean="0"/>
              <a:t>52</a:t>
            </a:fld>
            <a:endParaRPr lang="en-US"/>
          </a:p>
        </p:txBody>
      </p:sp>
    </p:spTree>
    <p:extLst>
      <p:ext uri="{BB962C8B-B14F-4D97-AF65-F5344CB8AC3E}">
        <p14:creationId xmlns:p14="http://schemas.microsoft.com/office/powerpoint/2010/main" val="28631235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53</a:t>
            </a:fld>
            <a:endParaRPr lang="en-US"/>
          </a:p>
        </p:txBody>
      </p:sp>
    </p:spTree>
    <p:extLst>
      <p:ext uri="{BB962C8B-B14F-4D97-AF65-F5344CB8AC3E}">
        <p14:creationId xmlns:p14="http://schemas.microsoft.com/office/powerpoint/2010/main" val="22343636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54</a:t>
            </a:fld>
            <a:endParaRPr lang="en-US"/>
          </a:p>
        </p:txBody>
      </p:sp>
    </p:spTree>
    <p:extLst>
      <p:ext uri="{BB962C8B-B14F-4D97-AF65-F5344CB8AC3E}">
        <p14:creationId xmlns:p14="http://schemas.microsoft.com/office/powerpoint/2010/main" val="29795910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A57B8-F4CA-B706-8BCA-DB66AC61D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44DF2-C0CE-A4A6-66EF-6D12A659E7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6E7B4-76F8-1BBC-EF52-1E2988734A2F}"/>
              </a:ext>
            </a:extLst>
          </p:cNvPr>
          <p:cNvSpPr>
            <a:spLocks noGrp="1"/>
          </p:cNvSpPr>
          <p:nvPr>
            <p:ph type="body" idx="1"/>
          </p:nvPr>
        </p:nvSpPr>
        <p:spPr/>
        <p:txBody>
          <a:bodyPr>
            <a:normAutofit fontScale="92500" lnSpcReduction="20000"/>
          </a:bodyPr>
          <a:lstStyle/>
          <a:p>
            <a:endParaRPr lang="en-CA" dirty="0"/>
          </a:p>
        </p:txBody>
      </p:sp>
      <p:sp>
        <p:nvSpPr>
          <p:cNvPr id="4" name="Slide Number Placeholder 3">
            <a:extLst>
              <a:ext uri="{FF2B5EF4-FFF2-40B4-BE49-F238E27FC236}">
                <a16:creationId xmlns:a16="http://schemas.microsoft.com/office/drawing/2014/main" id="{46F8AB36-6A0D-E576-EE94-A8D6AA43FA17}"/>
              </a:ext>
            </a:extLst>
          </p:cNvPr>
          <p:cNvSpPr>
            <a:spLocks noGrp="1"/>
          </p:cNvSpPr>
          <p:nvPr>
            <p:ph type="sldNum" sz="quarter" idx="5"/>
          </p:nvPr>
        </p:nvSpPr>
        <p:spPr/>
        <p:txBody>
          <a:bodyPr/>
          <a:lstStyle/>
          <a:p>
            <a:fld id="{F999B78F-7C08-ED42-8E36-4ED23DEF8F74}" type="slidenum">
              <a:rPr lang="en-US" smtClean="0"/>
              <a:t>55</a:t>
            </a:fld>
            <a:endParaRPr lang="en-US"/>
          </a:p>
        </p:txBody>
      </p:sp>
    </p:spTree>
    <p:extLst>
      <p:ext uri="{BB962C8B-B14F-4D97-AF65-F5344CB8AC3E}">
        <p14:creationId xmlns:p14="http://schemas.microsoft.com/office/powerpoint/2010/main" val="3348179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56</a:t>
            </a:fld>
            <a:endParaRPr lang="en-US"/>
          </a:p>
        </p:txBody>
      </p:sp>
    </p:spTree>
    <p:extLst>
      <p:ext uri="{BB962C8B-B14F-4D97-AF65-F5344CB8AC3E}">
        <p14:creationId xmlns:p14="http://schemas.microsoft.com/office/powerpoint/2010/main" val="31572096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999B78F-7C08-ED42-8E36-4ED23DEF8F74}" type="slidenum">
              <a:rPr lang="en-US" smtClean="0"/>
              <a:t>57</a:t>
            </a:fld>
            <a:endParaRPr lang="en-US"/>
          </a:p>
        </p:txBody>
      </p:sp>
    </p:spTree>
    <p:extLst>
      <p:ext uri="{BB962C8B-B14F-4D97-AF65-F5344CB8AC3E}">
        <p14:creationId xmlns:p14="http://schemas.microsoft.com/office/powerpoint/2010/main" val="27252752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endParaRPr lang="en-US" dirty="0"/>
          </a:p>
        </p:txBody>
      </p:sp>
      <p:sp>
        <p:nvSpPr>
          <p:cNvPr id="4" name="Slide Number Placeholder 3"/>
          <p:cNvSpPr>
            <a:spLocks noGrp="1"/>
          </p:cNvSpPr>
          <p:nvPr>
            <p:ph type="sldNum" sz="quarter" idx="5"/>
          </p:nvPr>
        </p:nvSpPr>
        <p:spPr/>
        <p:txBody>
          <a:bodyPr/>
          <a:lstStyle/>
          <a:p>
            <a:fld id="{F999B78F-7C08-ED42-8E36-4ED23DEF8F74}" type="slidenum">
              <a:rPr lang="en-US" smtClean="0"/>
              <a:t>58</a:t>
            </a:fld>
            <a:endParaRPr lang="en-US"/>
          </a:p>
        </p:txBody>
      </p:sp>
    </p:spTree>
    <p:extLst>
      <p:ext uri="{BB962C8B-B14F-4D97-AF65-F5344CB8AC3E}">
        <p14:creationId xmlns:p14="http://schemas.microsoft.com/office/powerpoint/2010/main" val="17828451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endParaRPr lang="en-US" dirty="0"/>
          </a:p>
        </p:txBody>
      </p:sp>
      <p:sp>
        <p:nvSpPr>
          <p:cNvPr id="4" name="Slide Number Placeholder 3"/>
          <p:cNvSpPr>
            <a:spLocks noGrp="1"/>
          </p:cNvSpPr>
          <p:nvPr>
            <p:ph type="sldNum" sz="quarter" idx="5"/>
          </p:nvPr>
        </p:nvSpPr>
        <p:spPr/>
        <p:txBody>
          <a:bodyPr/>
          <a:lstStyle/>
          <a:p>
            <a:fld id="{F999B78F-7C08-ED42-8E36-4ED23DEF8F74}" type="slidenum">
              <a:rPr lang="en-US" smtClean="0"/>
              <a:t>59</a:t>
            </a:fld>
            <a:endParaRPr lang="en-US"/>
          </a:p>
        </p:txBody>
      </p:sp>
    </p:spTree>
    <p:extLst>
      <p:ext uri="{BB962C8B-B14F-4D97-AF65-F5344CB8AC3E}">
        <p14:creationId xmlns:p14="http://schemas.microsoft.com/office/powerpoint/2010/main" val="2961020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9FE8DFF9-44C4-6B4E-B5A3-96ED369AFD93}"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DEC9DA09-039A-A841-BA90-58CFCFBF8E01}"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50F2F7EC-46EB-964D-B691-B03AC1106FC0}"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31F6D4F7-D30A-2D46-8C56-BBD860B78FB6}"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9" name="Slide Number Placeholder 5"/>
          <p:cNvSpPr>
            <a:spLocks noGrp="1"/>
          </p:cNvSpPr>
          <p:nvPr>
            <p:ph type="sldNum" sz="quarter" idx="12"/>
          </p:nvPr>
        </p:nvSpPr>
        <p:spPr/>
        <p:txBody>
          <a:bodyPr/>
          <a:lstStyle>
            <a:lvl1pPr>
              <a:defRPr/>
            </a:lvl1pPr>
          </a:lstStyle>
          <a:p>
            <a:pPr>
              <a:defRPr/>
            </a:pPr>
            <a:fld id="{D227A3EF-D9D8-3141-91A2-80F03BEF3F96}"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5" name="Slide Number Placeholder 5"/>
          <p:cNvSpPr>
            <a:spLocks noGrp="1"/>
          </p:cNvSpPr>
          <p:nvPr>
            <p:ph type="sldNum" sz="quarter" idx="12"/>
          </p:nvPr>
        </p:nvSpPr>
        <p:spPr/>
        <p:txBody>
          <a:bodyPr/>
          <a:lstStyle>
            <a:lvl1pPr>
              <a:defRPr/>
            </a:lvl1pPr>
          </a:lstStyle>
          <a:p>
            <a:pPr>
              <a:defRPr/>
            </a:pPr>
            <a:fld id="{964AD586-7C25-0244-A129-E014CC0A164A}"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4" name="Slide Number Placeholder 5"/>
          <p:cNvSpPr>
            <a:spLocks noGrp="1"/>
          </p:cNvSpPr>
          <p:nvPr>
            <p:ph type="sldNum" sz="quarter" idx="12"/>
          </p:nvPr>
        </p:nvSpPr>
        <p:spPr/>
        <p:txBody>
          <a:bodyPr/>
          <a:lstStyle>
            <a:lvl1pPr>
              <a:defRPr/>
            </a:lvl1pPr>
          </a:lstStyle>
          <a:p>
            <a:pPr>
              <a:defRPr/>
            </a:pPr>
            <a:fld id="{9941E2DB-6B26-1148-BBB7-224489DC4320}"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C7EC744-B227-4A42-B0B8-DD1F9FC186DB}"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26C30EE-4725-9040-82E4-7631508820E2}"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8869BD90-93E8-7D4C-B473-7191F00429CB}"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BA7DC435-2897-F34A-8447-1EC8A691D119}"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5 System Modeling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5AC5F77F-66C9-B04B-B94C-B68F7102428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573578" y="2286000"/>
            <a:ext cx="7293232" cy="1143000"/>
          </a:xfrm>
        </p:spPr>
        <p:txBody>
          <a:bodyPr/>
          <a:lstStyle/>
          <a:p>
            <a:pPr algn="ctr"/>
            <a:r>
              <a:rPr lang="en-US" dirty="0"/>
              <a:t>Chapter 5 – System Modeling</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Context models</a:t>
            </a:r>
            <a:endParaRPr lang="en-GB" dirty="0"/>
          </a:p>
          <a:p>
            <a:r>
              <a:rPr lang="en-US" dirty="0"/>
              <a:t>Interaction models</a:t>
            </a:r>
            <a:endParaRPr lang="en-GB" dirty="0"/>
          </a:p>
          <a:p>
            <a:r>
              <a:rPr lang="en-US" dirty="0"/>
              <a:t>Structural models</a:t>
            </a:r>
            <a:endParaRPr lang="en-GB" dirty="0"/>
          </a:p>
          <a:p>
            <a:r>
              <a:rPr lang="en-US" dirty="0"/>
              <a:t>Behavioral models</a:t>
            </a:r>
            <a:endParaRPr lang="en-GB" dirty="0"/>
          </a:p>
          <a:p>
            <a:r>
              <a:rPr lang="en-US" dirty="0"/>
              <a:t>Model-driven engineering</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p:txBody>
          <a:bodyPr/>
          <a:lstStyle/>
          <a:p>
            <a:r>
              <a:rPr lang="en-US" dirty="0"/>
              <a:t>System modeling is the process of developing abstract models of a system, with each model presenting a different view or perspective of that system. </a:t>
            </a:r>
          </a:p>
          <a:p>
            <a:r>
              <a:rPr lang="en-US" dirty="0"/>
              <a:t>System modeling has now come to mean representing a system using some kind of graphical notation, which is now almost always based on notations in the Unified Modeling Language (UML). </a:t>
            </a:r>
          </a:p>
          <a:p>
            <a:r>
              <a:rPr lang="en-GB" dirty="0"/>
              <a:t>System modelling helps the analyst to understand the functionality of the system and models are used to communicate with customers.</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Existing and planned system models</a:t>
            </a:r>
          </a:p>
        </p:txBody>
      </p:sp>
      <p:sp>
        <p:nvSpPr>
          <p:cNvPr id="7171" name="Rectangle 3"/>
          <p:cNvSpPr>
            <a:spLocks noGrp="1" noChangeArrowheads="1"/>
          </p:cNvSpPr>
          <p:nvPr>
            <p:ph idx="1"/>
          </p:nvPr>
        </p:nvSpPr>
        <p:spPr>
          <a:noFill/>
          <a:ln/>
        </p:spPr>
        <p:txBody>
          <a:bodyPr lIns="90487" tIns="44450" rIns="90487" bIns="44450"/>
          <a:lstStyle/>
          <a:p>
            <a:r>
              <a:rPr lang="en-US" sz="2200" dirty="0"/>
              <a:t>Models of the </a:t>
            </a:r>
            <a:r>
              <a:rPr lang="en-US" sz="2200" b="1" dirty="0"/>
              <a:t>existing system </a:t>
            </a:r>
            <a:r>
              <a:rPr lang="en-US" sz="2200" dirty="0"/>
              <a:t>are used during requirements engineering. They help clarify what the existing system does and can be used as a basis for discussing its strengths and weaknesses. These then lead to requirements for the new system.</a:t>
            </a:r>
            <a:endParaRPr lang="en-GB" sz="2200" dirty="0"/>
          </a:p>
          <a:p>
            <a:r>
              <a:rPr lang="en-US" sz="2200" dirty="0"/>
              <a:t>Models of the </a:t>
            </a:r>
            <a:r>
              <a:rPr lang="en-US" sz="2200" b="1" dirty="0"/>
              <a:t>new system </a:t>
            </a:r>
            <a:r>
              <a:rPr lang="en-US" sz="2200" dirty="0"/>
              <a:t>are used during requirements engineering to help explain the proposed requirements to other system stakeholders. Engineers use these models to discuss design proposals and to document the system for implementation. </a:t>
            </a:r>
          </a:p>
          <a:p>
            <a:r>
              <a:rPr lang="en-US" sz="2200" dirty="0"/>
              <a:t>In a model-driven engineering process, it is possible to generate a complete or partial system implementation from the system model.</a:t>
            </a:r>
            <a:r>
              <a:rPr lang="en-US" dirty="0"/>
              <a:t> </a:t>
            </a:r>
            <a:endParaRPr lang="en-GB" dirty="0"/>
          </a:p>
          <a:p>
            <a:endParaRPr lang="en-GB" sz="2000"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perspectives</a:t>
            </a:r>
          </a:p>
        </p:txBody>
      </p:sp>
      <p:sp>
        <p:nvSpPr>
          <p:cNvPr id="3" name="Content Placeholder 2"/>
          <p:cNvSpPr>
            <a:spLocks noGrp="1"/>
          </p:cNvSpPr>
          <p:nvPr>
            <p:ph idx="1"/>
          </p:nvPr>
        </p:nvSpPr>
        <p:spPr>
          <a:xfrm>
            <a:off x="457200" y="1600200"/>
            <a:ext cx="8686800" cy="4525963"/>
          </a:xfrm>
        </p:spPr>
        <p:txBody>
          <a:bodyPr/>
          <a:lstStyle/>
          <a:p>
            <a:r>
              <a:rPr lang="en-US" b="1" dirty="0"/>
              <a:t>An external perspective, </a:t>
            </a:r>
            <a:r>
              <a:rPr lang="en-US" dirty="0"/>
              <a:t>where you model the context or environment of the system.</a:t>
            </a:r>
          </a:p>
          <a:p>
            <a:pPr lvl="1"/>
            <a:r>
              <a:rPr lang="en-US" dirty="0"/>
              <a:t>This helps define the </a:t>
            </a:r>
            <a:r>
              <a:rPr lang="en-US" b="1" dirty="0"/>
              <a:t>system boundary</a:t>
            </a:r>
            <a:r>
              <a:rPr lang="en-US" dirty="0"/>
              <a:t>.</a:t>
            </a:r>
            <a:endParaRPr lang="en-GB" dirty="0"/>
          </a:p>
          <a:p>
            <a:r>
              <a:rPr lang="en-US" b="1" dirty="0"/>
              <a:t>An interaction perspective</a:t>
            </a:r>
            <a:r>
              <a:rPr lang="en-US" dirty="0"/>
              <a:t>, where you model the interactions between a system and its environment, or between the components of a system.</a:t>
            </a:r>
            <a:endParaRPr lang="en-GB" dirty="0"/>
          </a:p>
          <a:p>
            <a:r>
              <a:rPr lang="en-US" b="1" dirty="0"/>
              <a:t>A structural perspective</a:t>
            </a:r>
            <a:r>
              <a:rPr lang="en-US" dirty="0"/>
              <a:t>, where you model the organization of a system or the structure of the data that is processed by the system.</a:t>
            </a:r>
          </a:p>
          <a:p>
            <a:pPr lvl="1"/>
            <a:r>
              <a:rPr lang="en-US" dirty="0"/>
              <a:t>This is important for understanding the system’s </a:t>
            </a:r>
            <a:r>
              <a:rPr lang="en-US" b="1" dirty="0"/>
              <a:t>architecture</a:t>
            </a:r>
            <a:r>
              <a:rPr lang="en-US" dirty="0"/>
              <a:t>.</a:t>
            </a:r>
            <a:endParaRPr lang="en-GB" dirty="0"/>
          </a:p>
          <a:p>
            <a:r>
              <a:rPr lang="en-US" b="1" dirty="0"/>
              <a:t>A behavioral perspective, </a:t>
            </a:r>
            <a:r>
              <a:rPr lang="en-US" dirty="0"/>
              <a:t>where you model the dynamic behavior of the system and how it responds to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diagram types</a:t>
            </a:r>
          </a:p>
        </p:txBody>
      </p:sp>
      <p:sp>
        <p:nvSpPr>
          <p:cNvPr id="3" name="Content Placeholder 2"/>
          <p:cNvSpPr>
            <a:spLocks noGrp="1"/>
          </p:cNvSpPr>
          <p:nvPr>
            <p:ph idx="1"/>
          </p:nvPr>
        </p:nvSpPr>
        <p:spPr/>
        <p:txBody>
          <a:bodyPr/>
          <a:lstStyle/>
          <a:p>
            <a:r>
              <a:rPr lang="en-US" b="1" dirty="0"/>
              <a:t>Activity diagrams</a:t>
            </a:r>
            <a:r>
              <a:rPr lang="en-US" dirty="0"/>
              <a:t>, which show the activities involved in a process or in data processing .</a:t>
            </a:r>
            <a:endParaRPr lang="en-GB" dirty="0"/>
          </a:p>
          <a:p>
            <a:r>
              <a:rPr lang="en-US" b="1" dirty="0"/>
              <a:t>Use case diagrams</a:t>
            </a:r>
            <a:r>
              <a:rPr lang="en-US" dirty="0"/>
              <a:t>, which show the interactions between a system and its environment. </a:t>
            </a:r>
            <a:endParaRPr lang="en-GB" dirty="0"/>
          </a:p>
          <a:p>
            <a:r>
              <a:rPr lang="en-US" b="1" dirty="0"/>
              <a:t>Sequence diagrams</a:t>
            </a:r>
            <a:r>
              <a:rPr lang="en-US" dirty="0"/>
              <a:t>, which show interactions between actors and the system and between system components.</a:t>
            </a:r>
            <a:endParaRPr lang="en-GB" dirty="0"/>
          </a:p>
          <a:p>
            <a:r>
              <a:rPr lang="en-US" b="1" dirty="0"/>
              <a:t>Class diagrams, </a:t>
            </a:r>
            <a:r>
              <a:rPr lang="en-US" dirty="0"/>
              <a:t>which show the object classes in the system and the associations between these classes.</a:t>
            </a:r>
            <a:endParaRPr lang="en-GB" dirty="0"/>
          </a:p>
          <a:p>
            <a:r>
              <a:rPr lang="en-US" b="1" dirty="0"/>
              <a:t>State diagrams</a:t>
            </a:r>
            <a:r>
              <a:rPr lang="en-US" dirty="0"/>
              <a:t>, which show how the system reacts to internal and external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graphical models</a:t>
            </a:r>
          </a:p>
        </p:txBody>
      </p:sp>
      <p:sp>
        <p:nvSpPr>
          <p:cNvPr id="3" name="Content Placeholder 2"/>
          <p:cNvSpPr>
            <a:spLocks noGrp="1"/>
          </p:cNvSpPr>
          <p:nvPr>
            <p:ph idx="1"/>
          </p:nvPr>
        </p:nvSpPr>
        <p:spPr/>
        <p:txBody>
          <a:bodyPr/>
          <a:lstStyle/>
          <a:p>
            <a:r>
              <a:rPr lang="en-US" dirty="0"/>
              <a:t>As a means of facilitating </a:t>
            </a:r>
            <a:r>
              <a:rPr lang="en-US" b="1" dirty="0"/>
              <a:t>discussion</a:t>
            </a:r>
            <a:r>
              <a:rPr lang="en-US" dirty="0"/>
              <a:t> about an existing or proposed system</a:t>
            </a:r>
          </a:p>
          <a:p>
            <a:pPr lvl="1"/>
            <a:r>
              <a:rPr lang="en-US" dirty="0"/>
              <a:t>Incomplete and incorrect models are OK as their role is to support discussion.</a:t>
            </a:r>
            <a:endParaRPr lang="en-GB" dirty="0"/>
          </a:p>
          <a:p>
            <a:r>
              <a:rPr lang="en-US" dirty="0"/>
              <a:t>As a way of </a:t>
            </a:r>
            <a:r>
              <a:rPr lang="en-US" b="1" dirty="0"/>
              <a:t>documenting an existing system</a:t>
            </a:r>
          </a:p>
          <a:p>
            <a:pPr lvl="1"/>
            <a:r>
              <a:rPr lang="en-US" dirty="0"/>
              <a:t>Models should be an accurate representation of the system but need not be complete.</a:t>
            </a:r>
            <a:endParaRPr lang="en-GB" dirty="0"/>
          </a:p>
          <a:p>
            <a:r>
              <a:rPr lang="en-US" dirty="0"/>
              <a:t>As a </a:t>
            </a:r>
            <a:r>
              <a:rPr lang="en-US" b="1" dirty="0"/>
              <a:t>detailed system description </a:t>
            </a:r>
            <a:r>
              <a:rPr lang="en-US" dirty="0"/>
              <a:t>that can be used to generate a system implementation</a:t>
            </a:r>
          </a:p>
          <a:p>
            <a:pPr lvl="1"/>
            <a:r>
              <a:rPr lang="en-US" dirty="0"/>
              <a:t>Models have to be both correct and complete.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93938"/>
            <a:ext cx="8229600" cy="1143000"/>
          </a:xfrm>
        </p:spPr>
        <p:txBody>
          <a:bodyPr/>
          <a:lstStyle/>
          <a:p>
            <a:pPr algn="ctr"/>
            <a:r>
              <a:rPr lang="en-US" dirty="0"/>
              <a:t>Context models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42427380"/>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Context models</a:t>
            </a:r>
          </a:p>
        </p:txBody>
      </p:sp>
      <p:sp>
        <p:nvSpPr>
          <p:cNvPr id="35843" name="Rectangle 3"/>
          <p:cNvSpPr>
            <a:spLocks noGrp="1" noChangeArrowheads="1"/>
          </p:cNvSpPr>
          <p:nvPr>
            <p:ph idx="1"/>
          </p:nvPr>
        </p:nvSpPr>
        <p:spPr>
          <a:xfrm>
            <a:off x="457200" y="1600200"/>
            <a:ext cx="8454044" cy="4525963"/>
          </a:xfrm>
        </p:spPr>
        <p:txBody>
          <a:bodyPr/>
          <a:lstStyle/>
          <a:p>
            <a:r>
              <a:rPr lang="en-GB" dirty="0"/>
              <a:t>Context models are used to illustrate the operational context of a system - they show what lies outside the system boundaries.</a:t>
            </a:r>
          </a:p>
          <a:p>
            <a:pPr lvl="1"/>
            <a:r>
              <a:rPr lang="en-US" dirty="0"/>
              <a:t>Such as users, other software systems, hardware devices, and external organizations that interact with the system.</a:t>
            </a:r>
            <a:endParaRPr lang="en-GB" dirty="0"/>
          </a:p>
          <a:p>
            <a:r>
              <a:rPr lang="en-US" dirty="0"/>
              <a:t>One key challenge in creating a context model is deciding </a:t>
            </a:r>
            <a:r>
              <a:rPr lang="en-US" b="1" dirty="0"/>
              <a:t>where to draw the system boundary</a:t>
            </a:r>
            <a:r>
              <a:rPr lang="en-US" dirty="0"/>
              <a:t>.</a:t>
            </a:r>
          </a:p>
          <a:p>
            <a:pPr lvl="1"/>
            <a:r>
              <a:rPr lang="en-US" dirty="0"/>
              <a:t>This is not always a purely technical decision.</a:t>
            </a:r>
            <a:endParaRPr lang="en-GB" dirty="0"/>
          </a:p>
          <a:p>
            <a:r>
              <a:rPr lang="en-GB" dirty="0"/>
              <a:t>Social and organisational concerns may affect the decision on where to position system boundaries.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EA1C0-7707-0748-5CA7-D799B0A3A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D1FB0-886D-9B9E-89A4-D77DFAC198C5}"/>
              </a:ext>
            </a:extLst>
          </p:cNvPr>
          <p:cNvSpPr>
            <a:spLocks noGrp="1"/>
          </p:cNvSpPr>
          <p:nvPr>
            <p:ph type="title"/>
          </p:nvPr>
        </p:nvSpPr>
        <p:spPr/>
        <p:txBody>
          <a:bodyPr/>
          <a:lstStyle/>
          <a:p>
            <a:r>
              <a:rPr lang="en-US" dirty="0"/>
              <a:t>System boundaries</a:t>
            </a:r>
          </a:p>
        </p:txBody>
      </p:sp>
      <p:sp>
        <p:nvSpPr>
          <p:cNvPr id="3" name="Content Placeholder 2">
            <a:extLst>
              <a:ext uri="{FF2B5EF4-FFF2-40B4-BE49-F238E27FC236}">
                <a16:creationId xmlns:a16="http://schemas.microsoft.com/office/drawing/2014/main" id="{9759E7EA-21FE-25D6-931B-AA0894B98F43}"/>
              </a:ext>
            </a:extLst>
          </p:cNvPr>
          <p:cNvSpPr>
            <a:spLocks noGrp="1"/>
          </p:cNvSpPr>
          <p:nvPr>
            <p:ph idx="1"/>
          </p:nvPr>
        </p:nvSpPr>
        <p:spPr>
          <a:xfrm>
            <a:off x="232756" y="1417638"/>
            <a:ext cx="8936182" cy="4525963"/>
          </a:xfrm>
        </p:spPr>
        <p:txBody>
          <a:bodyPr/>
          <a:lstStyle/>
          <a:p>
            <a:r>
              <a:rPr lang="en-US" sz="2000" dirty="0"/>
              <a:t>System boundaries are established to define what is inside and what is outside the system.</a:t>
            </a:r>
          </a:p>
          <a:p>
            <a:pPr lvl="1"/>
            <a:r>
              <a:rPr lang="en-US" sz="1800" b="1" dirty="0"/>
              <a:t>Example (</a:t>
            </a:r>
            <a:r>
              <a:rPr lang="en-US" sz="1800" b="1" dirty="0" err="1"/>
              <a:t>Mentcare</a:t>
            </a:r>
            <a:r>
              <a:rPr lang="en-US" sz="1800" b="1" dirty="0"/>
              <a:t>):</a:t>
            </a:r>
          </a:p>
          <a:p>
            <a:pPr lvl="2"/>
            <a:r>
              <a:rPr lang="en-US" sz="1600" dirty="0"/>
              <a:t>Inside the boundary:</a:t>
            </a:r>
          </a:p>
          <a:p>
            <a:pPr lvl="3"/>
            <a:r>
              <a:rPr lang="en-US" sz="1600" dirty="0"/>
              <a:t>Managing patient records</a:t>
            </a:r>
          </a:p>
          <a:p>
            <a:pPr lvl="3"/>
            <a:r>
              <a:rPr lang="en-US" sz="1600" dirty="0"/>
              <a:t>Scheduling appointments</a:t>
            </a:r>
          </a:p>
          <a:p>
            <a:pPr lvl="3"/>
            <a:r>
              <a:rPr lang="en-US" sz="1600" dirty="0"/>
              <a:t>Generating reports</a:t>
            </a:r>
          </a:p>
          <a:p>
            <a:pPr lvl="2"/>
            <a:r>
              <a:rPr lang="en-US" sz="1600" dirty="0"/>
              <a:t>Outside the boundary:</a:t>
            </a:r>
          </a:p>
          <a:p>
            <a:pPr lvl="3"/>
            <a:r>
              <a:rPr lang="en-US" sz="1600" dirty="0"/>
              <a:t>Managing hospital finances</a:t>
            </a:r>
          </a:p>
          <a:p>
            <a:pPr lvl="3"/>
            <a:r>
              <a:rPr lang="en-US" sz="1600" dirty="0"/>
              <a:t>National health statistics database</a:t>
            </a:r>
          </a:p>
          <a:p>
            <a:pPr lvl="3"/>
            <a:r>
              <a:rPr lang="en-US" sz="1600" dirty="0"/>
              <a:t>Pharmacy inventory system</a:t>
            </a:r>
          </a:p>
          <a:p>
            <a:r>
              <a:rPr lang="en-US" sz="2000" dirty="0"/>
              <a:t>System boundaries show other systems that are used or depend on the system being developed.</a:t>
            </a:r>
          </a:p>
          <a:p>
            <a:pPr lvl="1"/>
            <a:r>
              <a:rPr lang="en-US" sz="1800" b="1" dirty="0"/>
              <a:t>Example (</a:t>
            </a:r>
            <a:r>
              <a:rPr lang="en-US" sz="1800" b="1" dirty="0" err="1"/>
              <a:t>Mentcare</a:t>
            </a:r>
            <a:r>
              <a:rPr lang="en-US" sz="1800" b="1" dirty="0"/>
              <a:t>):</a:t>
            </a:r>
            <a:endParaRPr lang="en-US" sz="1800" dirty="0"/>
          </a:p>
          <a:p>
            <a:pPr lvl="2"/>
            <a:r>
              <a:rPr lang="en-US" sz="1600" dirty="0" err="1"/>
              <a:t>Mentcare</a:t>
            </a:r>
            <a:r>
              <a:rPr lang="en-US" sz="1600" dirty="0"/>
              <a:t> depends on the </a:t>
            </a:r>
            <a:r>
              <a:rPr lang="en-US" sz="1600" b="1" dirty="0"/>
              <a:t>Hospital Database</a:t>
            </a:r>
            <a:r>
              <a:rPr lang="en-US" sz="1600" dirty="0"/>
              <a:t> to get patient IDs.</a:t>
            </a:r>
          </a:p>
          <a:p>
            <a:pPr lvl="2"/>
            <a:r>
              <a:rPr lang="en-US" sz="1600" dirty="0"/>
              <a:t>The </a:t>
            </a:r>
            <a:r>
              <a:rPr lang="en-US" sz="1600" b="1" dirty="0"/>
              <a:t>Government Health Reporting System</a:t>
            </a:r>
            <a:r>
              <a:rPr lang="en-US" sz="1600" dirty="0"/>
              <a:t> depends on </a:t>
            </a:r>
            <a:r>
              <a:rPr lang="en-US" sz="1600" dirty="0" err="1"/>
              <a:t>Mentcare</a:t>
            </a:r>
            <a:r>
              <a:rPr lang="en-US" sz="1600" dirty="0"/>
              <a:t> to send mental health statistics.</a:t>
            </a:r>
          </a:p>
          <a:p>
            <a:pPr lvl="1"/>
            <a:endParaRPr lang="en-US" sz="1800" dirty="0"/>
          </a:p>
        </p:txBody>
      </p:sp>
      <p:sp>
        <p:nvSpPr>
          <p:cNvPr id="5" name="Footer Placeholder 4">
            <a:extLst>
              <a:ext uri="{FF2B5EF4-FFF2-40B4-BE49-F238E27FC236}">
                <a16:creationId xmlns:a16="http://schemas.microsoft.com/office/drawing/2014/main" id="{5758B083-F491-F766-20E9-692F60EC110D}"/>
              </a:ext>
            </a:extLst>
          </p:cNvPr>
          <p:cNvSpPr>
            <a:spLocks noGrp="1"/>
          </p:cNvSpPr>
          <p:nvPr>
            <p:ph type="ftr" sz="quarter" idx="11"/>
          </p:nvPr>
        </p:nvSpPr>
        <p:spPr/>
        <p:txBody>
          <a:bodyPr/>
          <a:lstStyle/>
          <a:p>
            <a:pPr>
              <a:defRPr/>
            </a:pPr>
            <a:r>
              <a:rPr lang="en-US"/>
              <a:t>Chapter 5 System Modeling</a:t>
            </a:r>
          </a:p>
        </p:txBody>
      </p:sp>
      <p:sp>
        <p:nvSpPr>
          <p:cNvPr id="4" name="Slide Number Placeholder 3">
            <a:extLst>
              <a:ext uri="{FF2B5EF4-FFF2-40B4-BE49-F238E27FC236}">
                <a16:creationId xmlns:a16="http://schemas.microsoft.com/office/drawing/2014/main" id="{1017C462-3AC9-9123-6AFF-4C31FD7B202B}"/>
              </a:ext>
            </a:extLst>
          </p:cNvPr>
          <p:cNvSpPr>
            <a:spLocks noGrp="1"/>
          </p:cNvSpPr>
          <p:nvPr>
            <p:ph type="sldNum" sz="quarter" idx="12"/>
          </p:nvPr>
        </p:nvSpPr>
        <p:spPr/>
        <p:txBody>
          <a:bodyPr/>
          <a:lstStyle/>
          <a:p>
            <a:pPr>
              <a:defRPr/>
            </a:pPr>
            <a:fld id="{DEC9DA09-039A-A841-BA90-58CFCFBF8E01}" type="slidenum">
              <a:rPr lang="en-US" smtClean="0"/>
              <a:pPr>
                <a:defRPr/>
              </a:pPr>
              <a:t>10</a:t>
            </a:fld>
            <a:endParaRPr lang="en-US"/>
          </a:p>
        </p:txBody>
      </p:sp>
      <p:sp>
        <p:nvSpPr>
          <p:cNvPr id="6" name="Date Placeholder 5">
            <a:extLst>
              <a:ext uri="{FF2B5EF4-FFF2-40B4-BE49-F238E27FC236}">
                <a16:creationId xmlns:a16="http://schemas.microsoft.com/office/drawing/2014/main" id="{42116BEE-537C-62B3-D381-F69A393775D8}"/>
              </a:ext>
            </a:extLst>
          </p:cNvPr>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133050504"/>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boundaries</a:t>
            </a:r>
          </a:p>
        </p:txBody>
      </p:sp>
      <p:sp>
        <p:nvSpPr>
          <p:cNvPr id="3" name="Content Placeholder 2"/>
          <p:cNvSpPr>
            <a:spLocks noGrp="1"/>
          </p:cNvSpPr>
          <p:nvPr>
            <p:ph idx="1"/>
          </p:nvPr>
        </p:nvSpPr>
        <p:spPr/>
        <p:txBody>
          <a:bodyPr/>
          <a:lstStyle/>
          <a:p>
            <a:r>
              <a:rPr lang="en-US" sz="2800" dirty="0"/>
              <a:t>The position of the system boundary has a profound effect on the system requirements. </a:t>
            </a:r>
          </a:p>
          <a:p>
            <a:pPr lvl="1"/>
            <a:r>
              <a:rPr lang="en-US" sz="2400" b="1" dirty="0"/>
              <a:t>Example (</a:t>
            </a:r>
            <a:r>
              <a:rPr lang="en-US" sz="2400" b="1" dirty="0" err="1"/>
              <a:t>Mentcare</a:t>
            </a:r>
            <a:r>
              <a:rPr lang="en-US" sz="2400" b="1" dirty="0"/>
              <a:t>):</a:t>
            </a:r>
          </a:p>
          <a:p>
            <a:pPr lvl="2"/>
            <a:r>
              <a:rPr lang="en-US" sz="2000" dirty="0"/>
              <a:t>If </a:t>
            </a:r>
            <a:r>
              <a:rPr lang="en-US" sz="2000" b="1" dirty="0"/>
              <a:t>appointment scheduling</a:t>
            </a:r>
            <a:r>
              <a:rPr lang="en-US" sz="2000" dirty="0"/>
              <a:t> is inside </a:t>
            </a:r>
            <a:r>
              <a:rPr lang="en-US" sz="2000" dirty="0" err="1"/>
              <a:t>Mentcare</a:t>
            </a:r>
            <a:r>
              <a:rPr lang="en-US" sz="2000" dirty="0"/>
              <a:t>, we must define requirements such as:</a:t>
            </a:r>
          </a:p>
          <a:p>
            <a:pPr lvl="3"/>
            <a:r>
              <a:rPr lang="en-US" sz="2000" dirty="0"/>
              <a:t>Doctors can set available slots.</a:t>
            </a:r>
          </a:p>
          <a:p>
            <a:pPr lvl="3"/>
            <a:r>
              <a:rPr lang="en-US" sz="2000" dirty="0"/>
              <a:t>Patients can reschedule appointments.</a:t>
            </a:r>
          </a:p>
          <a:p>
            <a:pPr lvl="2"/>
            <a:r>
              <a:rPr lang="en-US" sz="2000" dirty="0"/>
              <a:t>If </a:t>
            </a:r>
            <a:r>
              <a:rPr lang="en-US" sz="2000" b="1" dirty="0"/>
              <a:t>appointment scheduling</a:t>
            </a:r>
            <a:r>
              <a:rPr lang="en-US" sz="2000" dirty="0"/>
              <a:t> is outside (handled by another hospital system), these requirements disappear — instead, </a:t>
            </a:r>
            <a:r>
              <a:rPr lang="en-US" sz="2000" dirty="0" err="1"/>
              <a:t>Mentcare</a:t>
            </a:r>
            <a:r>
              <a:rPr lang="en-US" sz="2000" dirty="0"/>
              <a:t> just needs to </a:t>
            </a:r>
            <a:r>
              <a:rPr lang="en-US" sz="2000" b="1" dirty="0"/>
              <a:t>exchange data</a:t>
            </a:r>
            <a:r>
              <a:rPr lang="en-US" sz="2000" dirty="0"/>
              <a:t> with that external system.</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B1FD7-345C-FF85-F548-2A45E512B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3D88F-9132-382C-8733-E05BF473CCC5}"/>
              </a:ext>
            </a:extLst>
          </p:cNvPr>
          <p:cNvSpPr>
            <a:spLocks noGrp="1"/>
          </p:cNvSpPr>
          <p:nvPr>
            <p:ph type="title"/>
          </p:nvPr>
        </p:nvSpPr>
        <p:spPr/>
        <p:txBody>
          <a:bodyPr/>
          <a:lstStyle/>
          <a:p>
            <a:r>
              <a:rPr lang="en-US" dirty="0"/>
              <a:t>System boundaries</a:t>
            </a:r>
          </a:p>
        </p:txBody>
      </p:sp>
      <p:sp>
        <p:nvSpPr>
          <p:cNvPr id="3" name="Content Placeholder 2">
            <a:extLst>
              <a:ext uri="{FF2B5EF4-FFF2-40B4-BE49-F238E27FC236}">
                <a16:creationId xmlns:a16="http://schemas.microsoft.com/office/drawing/2014/main" id="{4FC8CDF4-8F88-4D83-954A-3423193FE9FD}"/>
              </a:ext>
            </a:extLst>
          </p:cNvPr>
          <p:cNvSpPr>
            <a:spLocks noGrp="1"/>
          </p:cNvSpPr>
          <p:nvPr>
            <p:ph idx="1"/>
          </p:nvPr>
        </p:nvSpPr>
        <p:spPr/>
        <p:txBody>
          <a:bodyPr/>
          <a:lstStyle/>
          <a:p>
            <a:r>
              <a:rPr lang="en-US" sz="2000" dirty="0"/>
              <a:t>Defining a system boundary is a political judgment</a:t>
            </a:r>
          </a:p>
          <a:p>
            <a:pPr lvl="1"/>
            <a:r>
              <a:rPr lang="en-US" sz="1800" b="1" dirty="0"/>
              <a:t>Example (</a:t>
            </a:r>
            <a:r>
              <a:rPr lang="en-US" sz="1800" b="1" dirty="0" err="1"/>
              <a:t>Mentcare</a:t>
            </a:r>
            <a:r>
              <a:rPr lang="en-US" sz="1800" b="1" dirty="0"/>
              <a:t>):</a:t>
            </a:r>
            <a:endParaRPr lang="en-US" sz="1800" dirty="0"/>
          </a:p>
          <a:p>
            <a:pPr lvl="2"/>
            <a:r>
              <a:rPr lang="en-US" sz="1600" dirty="0"/>
              <a:t>The </a:t>
            </a:r>
            <a:r>
              <a:rPr lang="en-US" sz="1600" b="1" dirty="0"/>
              <a:t>nursing department</a:t>
            </a:r>
            <a:r>
              <a:rPr lang="en-US" sz="1600" dirty="0"/>
              <a:t> might want </a:t>
            </a:r>
            <a:r>
              <a:rPr lang="en-US" sz="1600" dirty="0" err="1"/>
              <a:t>Mentcare</a:t>
            </a:r>
            <a:r>
              <a:rPr lang="en-US" sz="1600" dirty="0"/>
              <a:t> to include medication tracking (so they have more control).</a:t>
            </a:r>
          </a:p>
          <a:p>
            <a:pPr lvl="2"/>
            <a:r>
              <a:rPr lang="en-US" sz="1600" dirty="0"/>
              <a:t>The </a:t>
            </a:r>
            <a:r>
              <a:rPr lang="en-US" sz="1600" b="1" dirty="0"/>
              <a:t>pharmacy department</a:t>
            </a:r>
            <a:r>
              <a:rPr lang="en-US" sz="1600" dirty="0"/>
              <a:t> might prefer that medication tracking stay outside </a:t>
            </a:r>
            <a:r>
              <a:rPr lang="en-US" sz="1600" dirty="0" err="1"/>
              <a:t>Mentcare</a:t>
            </a:r>
            <a:r>
              <a:rPr lang="en-US" sz="1600" dirty="0"/>
              <a:t> (so it remains their responsibility).</a:t>
            </a:r>
          </a:p>
          <a:p>
            <a:pPr lvl="1"/>
            <a:r>
              <a:rPr lang="en-US" sz="1800" dirty="0"/>
              <a:t>So, deciding where the boundary lies can become a </a:t>
            </a:r>
            <a:r>
              <a:rPr lang="en-US" sz="1800" b="1" dirty="0"/>
              <a:t>negotiation</a:t>
            </a:r>
            <a:r>
              <a:rPr lang="en-US" sz="1800" dirty="0"/>
              <a:t> between departments.</a:t>
            </a:r>
          </a:p>
          <a:p>
            <a:r>
              <a:rPr lang="en-US" sz="2000" dirty="0"/>
              <a:t>There may be pressures to develop system boundaries that increase / decrease workload of different parts of an organization.</a:t>
            </a:r>
          </a:p>
          <a:p>
            <a:pPr lvl="1"/>
            <a:r>
              <a:rPr lang="en-US" sz="1800" b="1" dirty="0"/>
              <a:t>Example (</a:t>
            </a:r>
            <a:r>
              <a:rPr lang="en-US" sz="1800" b="1" dirty="0" err="1"/>
              <a:t>Mentcare</a:t>
            </a:r>
            <a:r>
              <a:rPr lang="en-US" sz="1800" b="1" dirty="0"/>
              <a:t>):</a:t>
            </a:r>
            <a:endParaRPr lang="en-US" sz="1800" dirty="0"/>
          </a:p>
          <a:p>
            <a:pPr lvl="2"/>
            <a:r>
              <a:rPr lang="en-US" sz="1600" dirty="0"/>
              <a:t>If </a:t>
            </a:r>
            <a:r>
              <a:rPr lang="en-US" sz="1600" dirty="0" err="1"/>
              <a:t>Mentcare</a:t>
            </a:r>
            <a:r>
              <a:rPr lang="en-US" sz="1600" dirty="0"/>
              <a:t> includes </a:t>
            </a:r>
            <a:r>
              <a:rPr lang="en-US" sz="1600" b="1" dirty="0"/>
              <a:t>report generation</a:t>
            </a:r>
            <a:r>
              <a:rPr lang="en-US" sz="1600" dirty="0"/>
              <a:t> for hospital performance, the </a:t>
            </a:r>
            <a:r>
              <a:rPr lang="en-US" sz="1600" b="1" dirty="0"/>
              <a:t>IT department</a:t>
            </a:r>
            <a:r>
              <a:rPr lang="en-US" sz="1600" dirty="0"/>
              <a:t> gains more control and workload.</a:t>
            </a:r>
          </a:p>
          <a:p>
            <a:pPr lvl="2"/>
            <a:r>
              <a:rPr lang="en-US" sz="1600" dirty="0"/>
              <a:t>If that task is left to </a:t>
            </a:r>
            <a:r>
              <a:rPr lang="en-US" sz="1600" b="1" dirty="0"/>
              <a:t>administration</a:t>
            </a:r>
            <a:r>
              <a:rPr lang="en-US" sz="1600" dirty="0"/>
              <a:t>, </a:t>
            </a:r>
            <a:r>
              <a:rPr lang="en-US" sz="1600" dirty="0" err="1"/>
              <a:t>Mentcare’s</a:t>
            </a:r>
            <a:r>
              <a:rPr lang="en-US" sz="1600" dirty="0"/>
              <a:t> scope is smaller, and IT has less responsibility.</a:t>
            </a:r>
          </a:p>
          <a:p>
            <a:endParaRPr lang="en-US" dirty="0"/>
          </a:p>
        </p:txBody>
      </p:sp>
      <p:sp>
        <p:nvSpPr>
          <p:cNvPr id="5" name="Footer Placeholder 4">
            <a:extLst>
              <a:ext uri="{FF2B5EF4-FFF2-40B4-BE49-F238E27FC236}">
                <a16:creationId xmlns:a16="http://schemas.microsoft.com/office/drawing/2014/main" id="{A0EC2322-2A33-6012-23AC-77CF53624D74}"/>
              </a:ext>
            </a:extLst>
          </p:cNvPr>
          <p:cNvSpPr>
            <a:spLocks noGrp="1"/>
          </p:cNvSpPr>
          <p:nvPr>
            <p:ph type="ftr" sz="quarter" idx="11"/>
          </p:nvPr>
        </p:nvSpPr>
        <p:spPr/>
        <p:txBody>
          <a:bodyPr/>
          <a:lstStyle/>
          <a:p>
            <a:pPr>
              <a:defRPr/>
            </a:pPr>
            <a:r>
              <a:rPr lang="en-US"/>
              <a:t>Chapter 5 System Modeling</a:t>
            </a:r>
          </a:p>
        </p:txBody>
      </p:sp>
      <p:sp>
        <p:nvSpPr>
          <p:cNvPr id="4" name="Slide Number Placeholder 3">
            <a:extLst>
              <a:ext uri="{FF2B5EF4-FFF2-40B4-BE49-F238E27FC236}">
                <a16:creationId xmlns:a16="http://schemas.microsoft.com/office/drawing/2014/main" id="{BEFA6A38-0A9A-9BDD-52E0-94D3138C710F}"/>
              </a:ext>
            </a:extLst>
          </p:cNvPr>
          <p:cNvSpPr>
            <a:spLocks noGrp="1"/>
          </p:cNvSpPr>
          <p:nvPr>
            <p:ph type="sldNum" sz="quarter" idx="12"/>
          </p:nvPr>
        </p:nvSpPr>
        <p:spPr/>
        <p:txBody>
          <a:bodyPr/>
          <a:lstStyle/>
          <a:p>
            <a:pPr>
              <a:defRPr/>
            </a:pPr>
            <a:fld id="{DEC9DA09-039A-A841-BA90-58CFCFBF8E01}" type="slidenum">
              <a:rPr lang="en-US" smtClean="0"/>
              <a:pPr>
                <a:defRPr/>
              </a:pPr>
              <a:t>12</a:t>
            </a:fld>
            <a:endParaRPr lang="en-US"/>
          </a:p>
        </p:txBody>
      </p:sp>
      <p:sp>
        <p:nvSpPr>
          <p:cNvPr id="6" name="Date Placeholder 5">
            <a:extLst>
              <a:ext uri="{FF2B5EF4-FFF2-40B4-BE49-F238E27FC236}">
                <a16:creationId xmlns:a16="http://schemas.microsoft.com/office/drawing/2014/main" id="{B26FA1C8-A9B1-09AE-DE38-FA1CD76DE85B}"/>
              </a:ext>
            </a:extLst>
          </p:cNvPr>
          <p:cNvSpPr>
            <a:spLocks noGrp="1"/>
          </p:cNvSpPr>
          <p:nvPr>
            <p:ph type="dt" sz="half" idx="10"/>
          </p:nvPr>
        </p:nvSpPr>
        <p:spPr/>
        <p:txBody>
          <a:bodyPr/>
          <a:lstStyle/>
          <a:p>
            <a:pPr>
              <a:defRPr/>
            </a:pPr>
            <a:r>
              <a:rPr lang="en-GB" dirty="0"/>
              <a:t>30/10/2014</a:t>
            </a:r>
            <a:endParaRPr lang="en-US" dirty="0"/>
          </a:p>
        </p:txBody>
      </p:sp>
    </p:spTree>
    <p:extLst>
      <p:ext uri="{BB962C8B-B14F-4D97-AF65-F5344CB8AC3E}">
        <p14:creationId xmlns:p14="http://schemas.microsoft.com/office/powerpoint/2010/main" val="4111011153"/>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The context of the </a:t>
            </a:r>
            <a:r>
              <a:rPr lang="en-GB" dirty="0" err="1"/>
              <a:t>Mentcare</a:t>
            </a:r>
            <a:r>
              <a:rPr lang="en-GB" dirty="0"/>
              <a:t> system</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13</a:t>
            </a:fld>
            <a:endParaRPr lang="en-US"/>
          </a:p>
        </p:txBody>
      </p:sp>
      <p:pic>
        <p:nvPicPr>
          <p:cNvPr id="2" name="Picture 1" descr="5.1 Mentcare context.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5600" y="2057400"/>
            <a:ext cx="5645150" cy="3556000"/>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perspective</a:t>
            </a:r>
          </a:p>
        </p:txBody>
      </p:sp>
      <p:sp>
        <p:nvSpPr>
          <p:cNvPr id="4" name="Content Placeholder 3"/>
          <p:cNvSpPr>
            <a:spLocks noGrp="1"/>
          </p:cNvSpPr>
          <p:nvPr>
            <p:ph idx="1"/>
          </p:nvPr>
        </p:nvSpPr>
        <p:spPr>
          <a:xfrm>
            <a:off x="307570" y="1545359"/>
            <a:ext cx="8703425" cy="5038003"/>
          </a:xfrm>
        </p:spPr>
        <p:txBody>
          <a:bodyPr/>
          <a:lstStyle/>
          <a:p>
            <a:r>
              <a:rPr lang="en-US" sz="2800" dirty="0"/>
              <a:t>Context </a:t>
            </a:r>
            <a:r>
              <a:rPr lang="en-US" dirty="0"/>
              <a:t>models simply show the other systems in the environment, </a:t>
            </a:r>
            <a:r>
              <a:rPr lang="en-US" b="1" dirty="0"/>
              <a:t>not how</a:t>
            </a:r>
            <a:r>
              <a:rPr lang="en-US" dirty="0"/>
              <a:t> the system being developed </a:t>
            </a:r>
            <a:r>
              <a:rPr lang="en-US" b="1" dirty="0"/>
              <a:t>is used in that environment.</a:t>
            </a:r>
          </a:p>
          <a:p>
            <a:pPr lvl="1"/>
            <a:r>
              <a:rPr lang="en-US" b="1" dirty="0"/>
              <a:t>Example (</a:t>
            </a:r>
            <a:r>
              <a:rPr lang="en-US" b="1" dirty="0" err="1"/>
              <a:t>Mentcare</a:t>
            </a:r>
            <a:r>
              <a:rPr lang="en-US" b="1" dirty="0"/>
              <a:t>):</a:t>
            </a:r>
            <a:br>
              <a:rPr lang="en-US" dirty="0"/>
            </a:br>
            <a:r>
              <a:rPr lang="en-US" dirty="0"/>
              <a:t>The </a:t>
            </a:r>
            <a:r>
              <a:rPr lang="en-US" dirty="0" err="1"/>
              <a:t>Mentcare</a:t>
            </a:r>
            <a:r>
              <a:rPr lang="en-US" dirty="0"/>
              <a:t> context diagram might show connections like:</a:t>
            </a:r>
          </a:p>
          <a:p>
            <a:pPr lvl="2"/>
            <a:r>
              <a:rPr lang="en-US" dirty="0"/>
              <a:t>Hospital database (to get patient info)</a:t>
            </a:r>
          </a:p>
          <a:p>
            <a:pPr lvl="2"/>
            <a:r>
              <a:rPr lang="en-US" dirty="0"/>
              <a:t>Pharmacy system (to send prescriptions)</a:t>
            </a:r>
          </a:p>
          <a:p>
            <a:pPr lvl="2"/>
            <a:r>
              <a:rPr lang="en-US" dirty="0"/>
              <a:t>Government health reporting system (to share statistics)</a:t>
            </a:r>
          </a:p>
          <a:p>
            <a:pPr lvl="1"/>
            <a:r>
              <a:rPr lang="en-US" dirty="0"/>
              <a:t>But it doesn’t show what happens </a:t>
            </a:r>
            <a:r>
              <a:rPr lang="en-US" i="1" dirty="0"/>
              <a:t>inside</a:t>
            </a:r>
            <a:r>
              <a:rPr lang="en-US" dirty="0"/>
              <a:t> these interactions — like how a prescription is created or how a report is generated.</a:t>
            </a:r>
          </a:p>
          <a:p>
            <a:pPr lvl="1"/>
            <a:r>
              <a:rPr lang="en-US" dirty="0"/>
              <a:t> </a:t>
            </a:r>
            <a:r>
              <a:rPr lang="en-US" b="1" dirty="0"/>
              <a:t>So, a context model = "who connects to </a:t>
            </a:r>
            <a:r>
              <a:rPr lang="en-US" b="1" dirty="0" err="1"/>
              <a:t>Mentcare</a:t>
            </a:r>
            <a:r>
              <a:rPr lang="en-US" b="1" dirty="0"/>
              <a:t>", not "how </a:t>
            </a:r>
            <a:r>
              <a:rPr lang="en-US" b="1" dirty="0" err="1"/>
              <a:t>Mentcare</a:t>
            </a:r>
            <a:r>
              <a:rPr lang="en-US" b="1" dirty="0"/>
              <a:t> is used."</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14</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17C54-0ED7-4894-FA42-92DD5F932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3804C5-7225-13BF-1AEE-ECD8208161C1}"/>
              </a:ext>
            </a:extLst>
          </p:cNvPr>
          <p:cNvSpPr>
            <a:spLocks noGrp="1"/>
          </p:cNvSpPr>
          <p:nvPr>
            <p:ph type="title"/>
          </p:nvPr>
        </p:nvSpPr>
        <p:spPr/>
        <p:txBody>
          <a:bodyPr/>
          <a:lstStyle/>
          <a:p>
            <a:r>
              <a:rPr lang="en-US" dirty="0"/>
              <a:t>Process perspective</a:t>
            </a:r>
          </a:p>
        </p:txBody>
      </p:sp>
      <p:sp>
        <p:nvSpPr>
          <p:cNvPr id="4" name="Content Placeholder 3">
            <a:extLst>
              <a:ext uri="{FF2B5EF4-FFF2-40B4-BE49-F238E27FC236}">
                <a16:creationId xmlns:a16="http://schemas.microsoft.com/office/drawing/2014/main" id="{7D2B77FA-2485-7874-759C-E141ABA48BB5}"/>
              </a:ext>
            </a:extLst>
          </p:cNvPr>
          <p:cNvSpPr>
            <a:spLocks noGrp="1"/>
          </p:cNvSpPr>
          <p:nvPr>
            <p:ph idx="1"/>
          </p:nvPr>
        </p:nvSpPr>
        <p:spPr>
          <a:xfrm>
            <a:off x="307570" y="1545359"/>
            <a:ext cx="8703425" cy="5038003"/>
          </a:xfrm>
        </p:spPr>
        <p:txBody>
          <a:bodyPr/>
          <a:lstStyle/>
          <a:p>
            <a:r>
              <a:rPr lang="en-US" sz="1800" b="1" dirty="0"/>
              <a:t>Process models </a:t>
            </a:r>
            <a:r>
              <a:rPr lang="en-US" sz="1800" dirty="0"/>
              <a:t>reveal how the system being developed is used in broader business processes.</a:t>
            </a:r>
          </a:p>
          <a:p>
            <a:pPr lvl="1"/>
            <a:r>
              <a:rPr lang="en-US" sz="1800" dirty="0"/>
              <a:t>It describes how people and systems work together step-by-step to achieve goals.</a:t>
            </a:r>
          </a:p>
          <a:p>
            <a:pPr lvl="1"/>
            <a:r>
              <a:rPr lang="en-US" sz="1800" b="1" dirty="0"/>
              <a:t>Example (</a:t>
            </a:r>
            <a:r>
              <a:rPr lang="en-US" sz="1800" b="1" dirty="0" err="1"/>
              <a:t>Mentcare</a:t>
            </a:r>
            <a:r>
              <a:rPr lang="en-US" sz="1800" b="1" dirty="0"/>
              <a:t>):</a:t>
            </a:r>
            <a:br>
              <a:rPr lang="en-US" sz="1800" dirty="0"/>
            </a:br>
            <a:r>
              <a:rPr lang="en-US" sz="1800" dirty="0"/>
              <a:t>In a hospital, the broader process might be </a:t>
            </a:r>
            <a:r>
              <a:rPr lang="en-US" sz="1800" b="1" dirty="0"/>
              <a:t>“Managing Patient Treatment.”</a:t>
            </a:r>
            <a:br>
              <a:rPr lang="en-US" sz="1800" dirty="0"/>
            </a:br>
            <a:r>
              <a:rPr lang="en-US" sz="1800" dirty="0"/>
              <a:t>A process model could show:</a:t>
            </a:r>
          </a:p>
          <a:p>
            <a:pPr lvl="2"/>
            <a:r>
              <a:rPr lang="en-US" sz="1600" dirty="0"/>
              <a:t>A doctor examines the patient.</a:t>
            </a:r>
          </a:p>
          <a:p>
            <a:pPr lvl="2"/>
            <a:r>
              <a:rPr lang="en-US" sz="1600" dirty="0"/>
              <a:t>The doctor enters diagnosis data into </a:t>
            </a:r>
            <a:r>
              <a:rPr lang="en-US" sz="1600" b="1" dirty="0" err="1"/>
              <a:t>Mentcare</a:t>
            </a:r>
            <a:r>
              <a:rPr lang="en-US" sz="1600" dirty="0"/>
              <a:t>.</a:t>
            </a:r>
          </a:p>
          <a:p>
            <a:pPr lvl="2"/>
            <a:r>
              <a:rPr lang="en-US" sz="1600" dirty="0" err="1"/>
              <a:t>Mentcare</a:t>
            </a:r>
            <a:r>
              <a:rPr lang="en-US" sz="1600" dirty="0"/>
              <a:t> updates the patient’s health record.</a:t>
            </a:r>
          </a:p>
          <a:p>
            <a:pPr lvl="2"/>
            <a:r>
              <a:rPr lang="en-US" sz="1600" dirty="0" err="1"/>
              <a:t>Mentcare</a:t>
            </a:r>
            <a:r>
              <a:rPr lang="en-US" sz="1600" dirty="0"/>
              <a:t> sends the prescription to the </a:t>
            </a:r>
            <a:r>
              <a:rPr lang="en-US" sz="1600" b="1" dirty="0"/>
              <a:t>pharmacy system</a:t>
            </a:r>
            <a:r>
              <a:rPr lang="en-US" sz="1600" dirty="0"/>
              <a:t>.</a:t>
            </a:r>
          </a:p>
          <a:p>
            <a:pPr lvl="2"/>
            <a:r>
              <a:rPr lang="en-US" sz="1600" dirty="0"/>
              <a:t>The pharmacy dispenses medication to the patient.</a:t>
            </a:r>
          </a:p>
          <a:p>
            <a:pPr lvl="1"/>
            <a:r>
              <a:rPr lang="en-US" sz="1800" b="1" dirty="0"/>
              <a:t>So, a process model = “how </a:t>
            </a:r>
            <a:r>
              <a:rPr lang="en-US" sz="1800" b="1" dirty="0" err="1"/>
              <a:t>Mentcare</a:t>
            </a:r>
            <a:r>
              <a:rPr lang="en-US" sz="1800" b="1" dirty="0"/>
              <a:t> is used inside the hospital’s work process.”</a:t>
            </a:r>
            <a:endParaRPr lang="en-US" sz="1400" dirty="0"/>
          </a:p>
          <a:p>
            <a:r>
              <a:rPr lang="en-US" sz="1800" b="1" dirty="0"/>
              <a:t>UML activity diagrams </a:t>
            </a:r>
            <a:r>
              <a:rPr lang="en-US" sz="1800" dirty="0"/>
              <a:t>may be used to define business process models.</a:t>
            </a:r>
          </a:p>
        </p:txBody>
      </p:sp>
      <p:sp>
        <p:nvSpPr>
          <p:cNvPr id="6" name="Footer Placeholder 5">
            <a:extLst>
              <a:ext uri="{FF2B5EF4-FFF2-40B4-BE49-F238E27FC236}">
                <a16:creationId xmlns:a16="http://schemas.microsoft.com/office/drawing/2014/main" id="{DEE1B0D8-A0C7-3D08-74E5-3856277EB96F}"/>
              </a:ext>
            </a:extLst>
          </p:cNvPr>
          <p:cNvSpPr>
            <a:spLocks noGrp="1"/>
          </p:cNvSpPr>
          <p:nvPr>
            <p:ph type="ftr" sz="quarter" idx="11"/>
          </p:nvPr>
        </p:nvSpPr>
        <p:spPr/>
        <p:txBody>
          <a:bodyPr/>
          <a:lstStyle/>
          <a:p>
            <a:pPr>
              <a:defRPr/>
            </a:pPr>
            <a:r>
              <a:rPr lang="en-US"/>
              <a:t>Chapter 5 System Modeling</a:t>
            </a:r>
          </a:p>
        </p:txBody>
      </p:sp>
      <p:sp>
        <p:nvSpPr>
          <p:cNvPr id="5" name="Slide Number Placeholder 4">
            <a:extLst>
              <a:ext uri="{FF2B5EF4-FFF2-40B4-BE49-F238E27FC236}">
                <a16:creationId xmlns:a16="http://schemas.microsoft.com/office/drawing/2014/main" id="{779EDF36-E544-55AC-777F-5B7E8FBD2234}"/>
              </a:ext>
            </a:extLst>
          </p:cNvPr>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sp>
        <p:nvSpPr>
          <p:cNvPr id="3" name="Date Placeholder 2">
            <a:extLst>
              <a:ext uri="{FF2B5EF4-FFF2-40B4-BE49-F238E27FC236}">
                <a16:creationId xmlns:a16="http://schemas.microsoft.com/office/drawing/2014/main" id="{B41B4540-0233-8B72-0E60-55C71FDD9342}"/>
              </a:ext>
            </a:extLst>
          </p:cNvPr>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466326798"/>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Process model of involuntary detention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16</a:t>
            </a:fld>
            <a:endParaRPr lang="en-US"/>
          </a:p>
        </p:txBody>
      </p:sp>
      <p:pic>
        <p:nvPicPr>
          <p:cNvPr id="2" name="Picture 1" descr="5.2 Detention Proces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600" y="1765299"/>
            <a:ext cx="8331200" cy="4306013"/>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a:t>Interaction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17</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541773823"/>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Interaction models</a:t>
            </a:r>
          </a:p>
        </p:txBody>
      </p:sp>
      <p:sp>
        <p:nvSpPr>
          <p:cNvPr id="3" name="Content Placeholder 2"/>
          <p:cNvSpPr>
            <a:spLocks noGrp="1"/>
          </p:cNvSpPr>
          <p:nvPr>
            <p:ph idx="1"/>
          </p:nvPr>
        </p:nvSpPr>
        <p:spPr>
          <a:xfrm>
            <a:off x="116378" y="1645919"/>
            <a:ext cx="8728364" cy="4555375"/>
          </a:xfrm>
        </p:spPr>
        <p:txBody>
          <a:bodyPr/>
          <a:lstStyle/>
          <a:p>
            <a:pPr>
              <a:lnSpc>
                <a:spcPct val="150000"/>
              </a:lnSpc>
            </a:pPr>
            <a:r>
              <a:rPr lang="en-US" b="1" dirty="0"/>
              <a:t>Modeling user interaction </a:t>
            </a:r>
            <a:r>
              <a:rPr lang="en-US" dirty="0"/>
              <a:t>is important as it helps to identify user requirements. </a:t>
            </a:r>
          </a:p>
          <a:p>
            <a:pPr>
              <a:lnSpc>
                <a:spcPct val="150000"/>
              </a:lnSpc>
            </a:pPr>
            <a:r>
              <a:rPr lang="en-US" b="1" dirty="0"/>
              <a:t>Modeling system-to-system interaction </a:t>
            </a:r>
            <a:r>
              <a:rPr lang="en-US" dirty="0"/>
              <a:t>highlights the communication problems that may arise. </a:t>
            </a:r>
          </a:p>
          <a:p>
            <a:pPr>
              <a:lnSpc>
                <a:spcPct val="150000"/>
              </a:lnSpc>
            </a:pPr>
            <a:r>
              <a:rPr lang="en-US" b="1" dirty="0"/>
              <a:t>Modeling component interaction </a:t>
            </a:r>
            <a:r>
              <a:rPr lang="en-US" dirty="0"/>
              <a:t>helps us understand if a proposed system structure is likely </a:t>
            </a:r>
            <a:r>
              <a:rPr lang="en-US" b="1" dirty="0"/>
              <a:t>to deliver the required system performance</a:t>
            </a:r>
            <a:r>
              <a:rPr lang="en-US" dirty="0"/>
              <a:t> and </a:t>
            </a:r>
            <a:r>
              <a:rPr lang="en-US" b="1" dirty="0"/>
              <a:t>Remain reliable and dependable</a:t>
            </a:r>
            <a:endParaRPr lang="en-GB" b="1" dirty="0"/>
          </a:p>
          <a:p>
            <a:endParaRPr lang="en-US" sz="2000"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252C0-2999-AD13-E72E-4244A1848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2DF58-0F02-FAC3-9E8D-28165C952AF0}"/>
              </a:ext>
            </a:extLst>
          </p:cNvPr>
          <p:cNvSpPr>
            <a:spLocks noGrp="1"/>
          </p:cNvSpPr>
          <p:nvPr>
            <p:ph type="title"/>
          </p:nvPr>
        </p:nvSpPr>
        <p:spPr/>
        <p:txBody>
          <a:bodyPr/>
          <a:lstStyle/>
          <a:p>
            <a:r>
              <a:rPr lang="en-US" dirty="0"/>
              <a:t>Interaction models</a:t>
            </a:r>
          </a:p>
        </p:txBody>
      </p:sp>
      <p:sp>
        <p:nvSpPr>
          <p:cNvPr id="3" name="Content Placeholder 2">
            <a:extLst>
              <a:ext uri="{FF2B5EF4-FFF2-40B4-BE49-F238E27FC236}">
                <a16:creationId xmlns:a16="http://schemas.microsoft.com/office/drawing/2014/main" id="{62C452CF-6639-278D-8179-EF4D4230AD79}"/>
              </a:ext>
            </a:extLst>
          </p:cNvPr>
          <p:cNvSpPr>
            <a:spLocks noGrp="1"/>
          </p:cNvSpPr>
          <p:nvPr>
            <p:ph idx="1"/>
          </p:nvPr>
        </p:nvSpPr>
        <p:spPr>
          <a:xfrm>
            <a:off x="332509" y="1729841"/>
            <a:ext cx="8761615" cy="4314306"/>
          </a:xfrm>
        </p:spPr>
        <p:txBody>
          <a:bodyPr/>
          <a:lstStyle/>
          <a:p>
            <a:r>
              <a:rPr lang="en-GB" sz="2000" b="1" dirty="0"/>
              <a:t>Use case diagrams</a:t>
            </a:r>
            <a:r>
              <a:rPr lang="en-GB" sz="2000" dirty="0"/>
              <a:t> and </a:t>
            </a:r>
            <a:r>
              <a:rPr lang="en-GB" sz="2000" b="1" dirty="0"/>
              <a:t>sequence diagrams</a:t>
            </a:r>
            <a:r>
              <a:rPr lang="en-GB" sz="2000" dirty="0"/>
              <a:t> may be used for interaction modelling</a:t>
            </a:r>
            <a:r>
              <a:rPr lang="en-GB" dirty="0"/>
              <a:t>.</a:t>
            </a:r>
          </a:p>
          <a:p>
            <a:pPr lvl="1"/>
            <a:r>
              <a:rPr lang="en-US" sz="1800" b="1" dirty="0"/>
              <a:t>Use Case Diagrams</a:t>
            </a:r>
            <a:endParaRPr lang="en-US" sz="1800" dirty="0"/>
          </a:p>
          <a:p>
            <a:pPr lvl="2"/>
            <a:r>
              <a:rPr lang="en-US" sz="1600" dirty="0"/>
              <a:t>Show interactions between </a:t>
            </a:r>
            <a:r>
              <a:rPr lang="en-US" sz="1600" b="1" dirty="0"/>
              <a:t>users (actors)</a:t>
            </a:r>
            <a:r>
              <a:rPr lang="en-US" sz="1600" dirty="0"/>
              <a:t> and the system</a:t>
            </a:r>
          </a:p>
          <a:p>
            <a:pPr lvl="2"/>
            <a:r>
              <a:rPr lang="en-US" sz="1600" dirty="0"/>
              <a:t>Focus on </a:t>
            </a:r>
            <a:r>
              <a:rPr lang="en-US" sz="1600" b="1" dirty="0"/>
              <a:t>what the system does</a:t>
            </a:r>
            <a:r>
              <a:rPr lang="en-US" sz="1600" dirty="0"/>
              <a:t> from the user’s perspective</a:t>
            </a:r>
          </a:p>
          <a:p>
            <a:pPr lvl="1"/>
            <a:r>
              <a:rPr lang="en-US" sz="1800" b="1" dirty="0"/>
              <a:t>Sequence Diagrams</a:t>
            </a:r>
            <a:endParaRPr lang="en-US" sz="1800" dirty="0"/>
          </a:p>
          <a:p>
            <a:pPr lvl="2"/>
            <a:r>
              <a:rPr lang="en-US" sz="1600" dirty="0"/>
              <a:t>Show interactions </a:t>
            </a:r>
            <a:r>
              <a:rPr lang="en-US" sz="1600" b="1" dirty="0"/>
              <a:t>over time</a:t>
            </a:r>
            <a:endParaRPr lang="en-US" sz="1600" dirty="0"/>
          </a:p>
          <a:p>
            <a:pPr lvl="2"/>
            <a:r>
              <a:rPr lang="en-US" sz="1600" dirty="0"/>
              <a:t>Focus on </a:t>
            </a:r>
            <a:r>
              <a:rPr lang="en-US" sz="1600" b="1" dirty="0"/>
              <a:t>message exchanges</a:t>
            </a:r>
            <a:r>
              <a:rPr lang="en-US" sz="1600" dirty="0"/>
              <a:t> between users, systems, or components</a:t>
            </a:r>
            <a:endParaRPr lang="en-GB" sz="1600" dirty="0"/>
          </a:p>
          <a:p>
            <a:r>
              <a:rPr lang="en-US" sz="2000" dirty="0"/>
              <a:t>Use case diagrams give a </a:t>
            </a:r>
            <a:r>
              <a:rPr lang="en-US" sz="2000" b="1" dirty="0"/>
              <a:t>high-level view</a:t>
            </a:r>
            <a:r>
              <a:rPr lang="en-US" sz="2000" dirty="0"/>
              <a:t>, while sequence diagrams show </a:t>
            </a:r>
            <a:r>
              <a:rPr lang="en-US" sz="2000" b="1" dirty="0"/>
              <a:t>detailed behavior</a:t>
            </a:r>
            <a:r>
              <a:rPr lang="en-US" sz="2000" dirty="0"/>
              <a:t>.</a:t>
            </a:r>
          </a:p>
          <a:p>
            <a:r>
              <a:rPr lang="en-US" sz="2000" dirty="0"/>
              <a:t>Use case diagrams and sequence diagrams present interactions at different levels of detail and so may be used together</a:t>
            </a:r>
          </a:p>
          <a:p>
            <a:endParaRPr lang="en-CA" sz="2000" dirty="0"/>
          </a:p>
          <a:p>
            <a:endParaRPr lang="en-US" sz="2000" dirty="0"/>
          </a:p>
        </p:txBody>
      </p:sp>
      <p:sp>
        <p:nvSpPr>
          <p:cNvPr id="5" name="Footer Placeholder 4">
            <a:extLst>
              <a:ext uri="{FF2B5EF4-FFF2-40B4-BE49-F238E27FC236}">
                <a16:creationId xmlns:a16="http://schemas.microsoft.com/office/drawing/2014/main" id="{05559523-231B-BF1F-D391-FE003696DF58}"/>
              </a:ext>
            </a:extLst>
          </p:cNvPr>
          <p:cNvSpPr>
            <a:spLocks noGrp="1"/>
          </p:cNvSpPr>
          <p:nvPr>
            <p:ph type="ftr" sz="quarter" idx="11"/>
          </p:nvPr>
        </p:nvSpPr>
        <p:spPr/>
        <p:txBody>
          <a:bodyPr/>
          <a:lstStyle/>
          <a:p>
            <a:pPr>
              <a:defRPr/>
            </a:pPr>
            <a:r>
              <a:rPr lang="en-US"/>
              <a:t>Chapter 5 System Modeling</a:t>
            </a:r>
          </a:p>
        </p:txBody>
      </p:sp>
      <p:sp>
        <p:nvSpPr>
          <p:cNvPr id="4" name="Slide Number Placeholder 3">
            <a:extLst>
              <a:ext uri="{FF2B5EF4-FFF2-40B4-BE49-F238E27FC236}">
                <a16:creationId xmlns:a16="http://schemas.microsoft.com/office/drawing/2014/main" id="{C043B557-0396-2B33-2C18-D4996B4F0726}"/>
              </a:ext>
            </a:extLst>
          </p:cNvPr>
          <p:cNvSpPr>
            <a:spLocks noGrp="1"/>
          </p:cNvSpPr>
          <p:nvPr>
            <p:ph type="sldNum" sz="quarter" idx="12"/>
          </p:nvPr>
        </p:nvSpPr>
        <p:spPr/>
        <p:txBody>
          <a:bodyPr/>
          <a:lstStyle/>
          <a:p>
            <a:pPr>
              <a:defRPr/>
            </a:pPr>
            <a:fld id="{DEC9DA09-039A-A841-BA90-58CFCFBF8E01}" type="slidenum">
              <a:rPr lang="en-US" smtClean="0"/>
              <a:pPr>
                <a:defRPr/>
              </a:pPr>
              <a:t>19</a:t>
            </a:fld>
            <a:endParaRPr lang="en-US"/>
          </a:p>
        </p:txBody>
      </p:sp>
      <p:sp>
        <p:nvSpPr>
          <p:cNvPr id="6" name="Date Placeholder 5">
            <a:extLst>
              <a:ext uri="{FF2B5EF4-FFF2-40B4-BE49-F238E27FC236}">
                <a16:creationId xmlns:a16="http://schemas.microsoft.com/office/drawing/2014/main" id="{A12364F3-902A-ADBA-6F69-9DA4F12B2AF1}"/>
              </a:ext>
            </a:extLst>
          </p:cNvPr>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2507994774"/>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modeling</a:t>
            </a:r>
          </a:p>
        </p:txBody>
      </p:sp>
      <p:sp>
        <p:nvSpPr>
          <p:cNvPr id="3" name="Content Placeholder 2"/>
          <p:cNvSpPr>
            <a:spLocks noGrp="1"/>
          </p:cNvSpPr>
          <p:nvPr>
            <p:ph idx="1"/>
          </p:nvPr>
        </p:nvSpPr>
        <p:spPr>
          <a:xfrm>
            <a:off x="0" y="1821757"/>
            <a:ext cx="9102437" cy="4525963"/>
          </a:xfrm>
        </p:spPr>
        <p:txBody>
          <a:bodyPr/>
          <a:lstStyle/>
          <a:p>
            <a:r>
              <a:rPr lang="en-US" sz="2000" dirty="0"/>
              <a:t>Use cases were developed originally to support requirements elicitation and now incorporated into the UML.</a:t>
            </a:r>
          </a:p>
          <a:p>
            <a:pPr lvl="1"/>
            <a:r>
              <a:rPr lang="en-US" sz="1800" dirty="0"/>
              <a:t>Use cases started as a </a:t>
            </a:r>
            <a:r>
              <a:rPr lang="en-US" sz="1800" b="1" dirty="0"/>
              <a:t>requirements tool</a:t>
            </a:r>
            <a:r>
              <a:rPr lang="en-US" sz="1800" dirty="0"/>
              <a:t> before becoming a formal modeling technique</a:t>
            </a:r>
          </a:p>
          <a:p>
            <a:r>
              <a:rPr lang="en-US" sz="2000" dirty="0"/>
              <a:t>Each use case represents a discrete task that involves external interaction with a system.</a:t>
            </a:r>
          </a:p>
          <a:p>
            <a:r>
              <a:rPr lang="en-US" sz="2000" dirty="0"/>
              <a:t>Actors in a use case may be </a:t>
            </a:r>
            <a:r>
              <a:rPr lang="en-US" sz="2000" b="1" dirty="0"/>
              <a:t>people</a:t>
            </a:r>
            <a:r>
              <a:rPr lang="en-US" sz="2000" dirty="0"/>
              <a:t> or </a:t>
            </a:r>
            <a:r>
              <a:rPr lang="en-US" sz="2000" b="1" dirty="0"/>
              <a:t>other systems</a:t>
            </a:r>
            <a:r>
              <a:rPr lang="en-US" sz="2000" dirty="0"/>
              <a:t>.</a:t>
            </a:r>
          </a:p>
          <a:p>
            <a:pPr lvl="1"/>
            <a:r>
              <a:rPr lang="en-US" sz="1800" dirty="0"/>
              <a:t>Actors are </a:t>
            </a:r>
            <a:r>
              <a:rPr lang="en-US" sz="1800" b="1" dirty="0"/>
              <a:t>roles</a:t>
            </a:r>
            <a:r>
              <a:rPr lang="en-US" sz="1800" dirty="0"/>
              <a:t>, not specific individuals. For example, “Student” is a role played by many users.</a:t>
            </a:r>
          </a:p>
          <a:p>
            <a:r>
              <a:rPr lang="en-US" sz="2000" dirty="0"/>
              <a:t>Represented in </a:t>
            </a:r>
            <a:r>
              <a:rPr lang="en-US" sz="2000" b="1" dirty="0"/>
              <a:t>two complementary ways</a:t>
            </a:r>
            <a:r>
              <a:rPr lang="en-US" sz="2000" dirty="0"/>
              <a:t>:</a:t>
            </a:r>
          </a:p>
          <a:p>
            <a:pPr lvl="1"/>
            <a:r>
              <a:rPr lang="en-US" sz="1800" dirty="0"/>
              <a:t>Diagrammatically (Use Case Diagram) to provide an overview of the use case </a:t>
            </a:r>
          </a:p>
          <a:p>
            <a:pPr lvl="1"/>
            <a:r>
              <a:rPr lang="en-US" sz="1800" dirty="0"/>
              <a:t>Textual Form (Use Case Description) to explain </a:t>
            </a:r>
            <a:r>
              <a:rPr lang="en-US" sz="1800" b="1" dirty="0"/>
              <a:t>how the interaction actually happens</a:t>
            </a:r>
            <a:r>
              <a:rPr lang="en-US" sz="1800" dirty="0"/>
              <a:t>.</a:t>
            </a:r>
          </a:p>
          <a:p>
            <a:pPr lvl="1"/>
            <a:endParaRPr lang="en-US" sz="1800"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Transfer-data use case</a:t>
            </a:r>
            <a:r>
              <a:rPr lang="en-GB" dirty="0"/>
              <a:t> </a:t>
            </a:r>
            <a:endParaRPr lang="en-US" dirty="0"/>
          </a:p>
        </p:txBody>
      </p:sp>
      <p:sp>
        <p:nvSpPr>
          <p:cNvPr id="5" name="Content Placeholder 4"/>
          <p:cNvSpPr>
            <a:spLocks noGrp="1"/>
          </p:cNvSpPr>
          <p:nvPr>
            <p:ph idx="1"/>
          </p:nvPr>
        </p:nvSpPr>
        <p:spPr/>
        <p:txBody>
          <a:bodyPr/>
          <a:lstStyle/>
          <a:p>
            <a:r>
              <a:rPr lang="en-US" dirty="0"/>
              <a:t>A use case in the </a:t>
            </a:r>
            <a:r>
              <a:rPr lang="en-US" dirty="0" err="1"/>
              <a:t>Mentcare</a:t>
            </a:r>
            <a:r>
              <a:rPr lang="en-US" dirty="0"/>
              <a:t> system</a:t>
            </a:r>
          </a:p>
        </p:txBody>
      </p:sp>
      <p:sp>
        <p:nvSpPr>
          <p:cNvPr id="7" name="Footer Placeholder 6"/>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21</a:t>
            </a:fld>
            <a:endParaRPr lang="en-US"/>
          </a:p>
        </p:txBody>
      </p:sp>
      <p:pic>
        <p:nvPicPr>
          <p:cNvPr id="4" name="Picture 3" descr="5.3 UseCase.eps"/>
          <p:cNvPicPr>
            <a:picLocks noChangeAspect="1"/>
          </p:cNvPicPr>
          <p:nvPr/>
        </p:nvPicPr>
        <p:blipFill>
          <a:blip r:embed="rId3"/>
          <a:stretch>
            <a:fillRect/>
          </a:stretch>
        </p:blipFill>
        <p:spPr>
          <a:xfrm>
            <a:off x="866722" y="3259717"/>
            <a:ext cx="7486946" cy="121486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Tabular description of the ‘Transfer data’ use-case</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22</a:t>
            </a:fld>
            <a:endParaRPr lang="en-US"/>
          </a:p>
        </p:txBody>
      </p:sp>
      <p:graphicFrame>
        <p:nvGraphicFramePr>
          <p:cNvPr id="3" name="Table 2"/>
          <p:cNvGraphicFramePr>
            <a:graphicFrameLocks noGrp="1"/>
          </p:cNvGraphicFramePr>
          <p:nvPr/>
        </p:nvGraphicFramePr>
        <p:xfrm>
          <a:off x="909637" y="1866900"/>
          <a:ext cx="7519467" cy="4284519"/>
        </p:xfrm>
        <a:graphic>
          <a:graphicData uri="http://schemas.openxmlformats.org/drawingml/2006/table">
            <a:tbl>
              <a:tblPr/>
              <a:tblGrid>
                <a:gridCol w="2019438">
                  <a:extLst>
                    <a:ext uri="{9D8B030D-6E8A-4147-A177-3AD203B41FA5}">
                      <a16:colId xmlns:a16="http://schemas.microsoft.com/office/drawing/2014/main" val="20000"/>
                    </a:ext>
                  </a:extLst>
                </a:gridCol>
                <a:gridCol w="5500029">
                  <a:extLst>
                    <a:ext uri="{9D8B030D-6E8A-4147-A177-3AD203B41FA5}">
                      <a16:colId xmlns:a16="http://schemas.microsoft.com/office/drawing/2014/main" val="20001"/>
                    </a:ext>
                  </a:extLst>
                </a:gridCol>
              </a:tblGrid>
              <a:tr h="392798">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MHC-PMS: Transfer 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39279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Actors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154701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a:t>
                      </a:r>
                      <a:r>
                        <a:rPr kumimoji="0" lang="en-GB" sz="1600" b="0" i="0" u="none" strike="noStrike" cap="none" normalizeH="0" baseline="0" dirty="0" err="1">
                          <a:ln>
                            <a:noFill/>
                          </a:ln>
                          <a:solidFill>
                            <a:srgbClr val="000000"/>
                          </a:solidFill>
                          <a:effectLst/>
                          <a:latin typeface="Arial" charset="0"/>
                          <a:ea typeface="Times New Roman" charset="0"/>
                        </a:rPr>
                        <a:t>Mentcase</a:t>
                      </a:r>
                      <a:r>
                        <a:rPr kumimoji="0" lang="en-GB" sz="1600" b="0" i="0" u="none" strike="noStrike" cap="none" normalizeH="0" baseline="0" dirty="0">
                          <a:ln>
                            <a:noFill/>
                          </a:ln>
                          <a:solidFill>
                            <a:srgbClr val="000000"/>
                          </a:solidFill>
                          <a:effectLst/>
                          <a:latin typeface="Arial" charset="0"/>
                          <a:ea typeface="Times New Roman" charset="0"/>
                        </a:rPr>
                        <a:t> system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9279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9279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9279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a:t>
                      </a:r>
                      <a:r>
                        <a:rPr kumimoji="0" lang="en-GB" sz="1600" b="1" i="0" u="none" strike="noStrike" cap="none" normalizeH="0" baseline="0" dirty="0">
                          <a:ln>
                            <a:noFill/>
                          </a:ln>
                          <a:solidFill>
                            <a:srgbClr val="000000"/>
                          </a:solidFill>
                          <a:effectLst/>
                          <a:latin typeface="Arial" charset="0"/>
                          <a:ea typeface="Times New Roman" charset="0"/>
                        </a:rPr>
                        <a:t>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77351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t>
                      </a:r>
                      <a:r>
                        <a:rPr kumimoji="0" lang="en-GB" sz="1600" b="1" i="0" u="none" strike="noStrike" cap="none" normalizeH="0" baseline="0" dirty="0">
                          <a:ln>
                            <a:noFill/>
                          </a:ln>
                          <a:solidFill>
                            <a:srgbClr val="000000"/>
                          </a:solidFill>
                          <a:effectLst/>
                          <a:latin typeface="Arial" charset="0"/>
                          <a:ea typeface="Times New Roman" charset="0"/>
                        </a:rPr>
                        <a:t>appropriate security permissions </a:t>
                      </a:r>
                      <a:r>
                        <a:rPr kumimoji="0" lang="en-GB" sz="1600" b="0" i="0" u="none" strike="noStrike" cap="none" normalizeH="0" baseline="0" dirty="0">
                          <a:ln>
                            <a:noFill/>
                          </a:ln>
                          <a:solidFill>
                            <a:srgbClr val="000000"/>
                          </a:solidFill>
                          <a:effectLst/>
                          <a:latin typeface="Arial" charset="0"/>
                          <a:ea typeface="Times New Roman" charset="0"/>
                        </a:rPr>
                        <a:t>to access the patient information and the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Use cases in the </a:t>
            </a:r>
            <a:r>
              <a:rPr lang="en-US" dirty="0" err="1"/>
              <a:t>Mentcare</a:t>
            </a:r>
            <a:r>
              <a:rPr lang="en-US" dirty="0"/>
              <a:t> system involving the role ‘Medical Receptionist’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23</a:t>
            </a:fld>
            <a:endParaRPr lang="en-US"/>
          </a:p>
        </p:txBody>
      </p:sp>
      <p:pic>
        <p:nvPicPr>
          <p:cNvPr id="4" name="Picture 3" descr="5.5 RecepUseCases.eps"/>
          <p:cNvPicPr>
            <a:picLocks noChangeAspect="1"/>
          </p:cNvPicPr>
          <p:nvPr/>
        </p:nvPicPr>
        <p:blipFill>
          <a:blip r:embed="rId3"/>
          <a:stretch>
            <a:fillRect/>
          </a:stretch>
        </p:blipFill>
        <p:spPr>
          <a:xfrm>
            <a:off x="2279650" y="1747838"/>
            <a:ext cx="4451350" cy="479565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diagrams</a:t>
            </a:r>
          </a:p>
        </p:txBody>
      </p:sp>
      <p:sp>
        <p:nvSpPr>
          <p:cNvPr id="3" name="Content Placeholder 2"/>
          <p:cNvSpPr>
            <a:spLocks noGrp="1"/>
          </p:cNvSpPr>
          <p:nvPr>
            <p:ph idx="1"/>
          </p:nvPr>
        </p:nvSpPr>
        <p:spPr/>
        <p:txBody>
          <a:bodyPr/>
          <a:lstStyle/>
          <a:p>
            <a:r>
              <a:rPr lang="en-US" dirty="0"/>
              <a:t>Sequence diagrams are part of the UML and are used to model the interactions between the actors and the objects within a system.</a:t>
            </a:r>
          </a:p>
          <a:p>
            <a:r>
              <a:rPr lang="en-US" dirty="0"/>
              <a:t>A sequence diagram shows the sequence of interactions that take place during a particular use case or use case instance.</a:t>
            </a:r>
          </a:p>
          <a:p>
            <a:r>
              <a:rPr lang="en-US" b="1" dirty="0"/>
              <a:t>The objects </a:t>
            </a:r>
            <a:r>
              <a:rPr lang="en-US" dirty="0"/>
              <a:t>and </a:t>
            </a:r>
            <a:r>
              <a:rPr lang="en-US" b="1" dirty="0"/>
              <a:t>actors</a:t>
            </a:r>
            <a:r>
              <a:rPr lang="en-US" dirty="0"/>
              <a:t> involved are listed along the top of the diagram, with a dotted line drawn vertically </a:t>
            </a:r>
            <a:r>
              <a:rPr lang="en-US" b="1" dirty="0"/>
              <a:t>(lifeline)</a:t>
            </a:r>
            <a:r>
              <a:rPr lang="en-US" dirty="0"/>
              <a:t> from these. </a:t>
            </a:r>
          </a:p>
          <a:p>
            <a:r>
              <a:rPr lang="en-US" dirty="0"/>
              <a:t>Interactions between objects are indicated by annotated arrows between lifelines.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Sequence diagram for View patient information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25</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pic>
        <p:nvPicPr>
          <p:cNvPr id="7" name="Picture 6">
            <a:extLst>
              <a:ext uri="{FF2B5EF4-FFF2-40B4-BE49-F238E27FC236}">
                <a16:creationId xmlns:a16="http://schemas.microsoft.com/office/drawing/2014/main" id="{802A8DE2-FB94-12E8-BEE4-833BB2E5029F}"/>
              </a:ext>
            </a:extLst>
          </p:cNvPr>
          <p:cNvPicPr>
            <a:picLocks noChangeAspect="1"/>
          </p:cNvPicPr>
          <p:nvPr/>
        </p:nvPicPr>
        <p:blipFill>
          <a:blip r:embed="rId3"/>
          <a:stretch>
            <a:fillRect/>
          </a:stretch>
        </p:blipFill>
        <p:spPr>
          <a:xfrm>
            <a:off x="1223495" y="1809045"/>
            <a:ext cx="6697010" cy="5048955"/>
          </a:xfrm>
          <a:prstGeom prst="rect">
            <a:avLst/>
          </a:prstGeom>
        </p:spPr>
      </p:pic>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136525"/>
            <a:ext cx="6666345" cy="1143000"/>
          </a:xfrm>
        </p:spPr>
        <p:txBody>
          <a:bodyPr/>
          <a:lstStyle/>
          <a:p>
            <a:r>
              <a:rPr lang="en-US" dirty="0"/>
              <a:t>Sequence diagram for Transfer Data</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26</a:t>
            </a:fld>
            <a:endParaRPr lang="en-US"/>
          </a:p>
        </p:txBody>
      </p:sp>
      <p:sp>
        <p:nvSpPr>
          <p:cNvPr id="4" name="Date Placeholder 3"/>
          <p:cNvSpPr>
            <a:spLocks noGrp="1"/>
          </p:cNvSpPr>
          <p:nvPr>
            <p:ph type="dt" sz="half" idx="10"/>
          </p:nvPr>
        </p:nvSpPr>
        <p:spPr/>
        <p:txBody>
          <a:bodyPr/>
          <a:lstStyle/>
          <a:p>
            <a:pPr>
              <a:defRPr/>
            </a:pPr>
            <a:r>
              <a:rPr lang="en-GB"/>
              <a:t>30/10/2014</a:t>
            </a:r>
            <a:endParaRPr lang="en-US"/>
          </a:p>
        </p:txBody>
      </p:sp>
      <p:pic>
        <p:nvPicPr>
          <p:cNvPr id="12" name="Picture 11">
            <a:extLst>
              <a:ext uri="{FF2B5EF4-FFF2-40B4-BE49-F238E27FC236}">
                <a16:creationId xmlns:a16="http://schemas.microsoft.com/office/drawing/2014/main" id="{23A58D9F-A622-82A2-BE76-C3838B4EDAA8}"/>
              </a:ext>
            </a:extLst>
          </p:cNvPr>
          <p:cNvPicPr>
            <a:picLocks noChangeAspect="1"/>
          </p:cNvPicPr>
          <p:nvPr/>
        </p:nvPicPr>
        <p:blipFill>
          <a:blip r:embed="rId3"/>
          <a:stretch>
            <a:fillRect/>
          </a:stretch>
        </p:blipFill>
        <p:spPr>
          <a:xfrm>
            <a:off x="1445416" y="1328365"/>
            <a:ext cx="5678129" cy="5529635"/>
          </a:xfrm>
          <a:prstGeom prst="rect">
            <a:avLst/>
          </a:prstGeom>
        </p:spPr>
      </p:pic>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79638"/>
            <a:ext cx="8229600" cy="1143000"/>
          </a:xfrm>
        </p:spPr>
        <p:txBody>
          <a:bodyPr/>
          <a:lstStyle/>
          <a:p>
            <a:pPr algn="ctr"/>
            <a:r>
              <a:rPr lang="en-US" dirty="0"/>
              <a:t>Structural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27</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61216242"/>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p:txBody>
          <a:bodyPr/>
          <a:lstStyle/>
          <a:p>
            <a:r>
              <a:rPr lang="en-US" dirty="0"/>
              <a:t>Structural models of software display the organization of a system in terms of the components that make up that system and their relationships. </a:t>
            </a:r>
          </a:p>
          <a:p>
            <a:r>
              <a:rPr lang="en-US" dirty="0"/>
              <a:t>Structural models may be static models, which show the structure of the system design, or dynamic models, which show the organization of the system when it is executing. </a:t>
            </a:r>
          </a:p>
          <a:p>
            <a:r>
              <a:rPr lang="en-US" dirty="0"/>
              <a:t>You create structural models of a system when you are discussing and designing the system architecture.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diagrams</a:t>
            </a:r>
          </a:p>
        </p:txBody>
      </p:sp>
      <p:sp>
        <p:nvSpPr>
          <p:cNvPr id="3" name="Content Placeholder 2"/>
          <p:cNvSpPr>
            <a:spLocks noGrp="1"/>
          </p:cNvSpPr>
          <p:nvPr>
            <p:ph idx="1"/>
          </p:nvPr>
        </p:nvSpPr>
        <p:spPr/>
        <p:txBody>
          <a:bodyPr/>
          <a:lstStyle/>
          <a:p>
            <a:r>
              <a:rPr lang="en-US" dirty="0"/>
              <a:t>Class diagrams are used when developing an object-oriented system model to show the classes in a system and the associations between these classes. </a:t>
            </a:r>
          </a:p>
          <a:p>
            <a:r>
              <a:rPr lang="en-US" dirty="0"/>
              <a:t>An object class can be thought of as a general definition of one kind of system object. </a:t>
            </a:r>
          </a:p>
          <a:p>
            <a:r>
              <a:rPr lang="en-US" dirty="0"/>
              <a:t>An association is a link between classes that indicates that there is some relationship between these classes.</a:t>
            </a:r>
            <a:r>
              <a:rPr lang="en-GB" dirty="0"/>
              <a:t> </a:t>
            </a:r>
          </a:p>
          <a:p>
            <a:r>
              <a:rPr lang="en-US" dirty="0"/>
              <a:t>When you are developing models during the early stages of the software engineering process, objects represent something in the real world, such as a patient, a prescription, doctor, etc.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UML classes and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30</a:t>
            </a:fld>
            <a:endParaRPr lang="en-US"/>
          </a:p>
        </p:txBody>
      </p:sp>
      <p:pic>
        <p:nvPicPr>
          <p:cNvPr id="4" name="Picture 3" descr="5.8 ClassAssoc.eps"/>
          <p:cNvPicPr>
            <a:picLocks noChangeAspect="1"/>
          </p:cNvPicPr>
          <p:nvPr/>
        </p:nvPicPr>
        <p:blipFill>
          <a:blip r:embed="rId3"/>
          <a:stretch>
            <a:fillRect/>
          </a:stretch>
        </p:blipFill>
        <p:spPr>
          <a:xfrm>
            <a:off x="2076449" y="3060700"/>
            <a:ext cx="5312019" cy="952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Classes and associations in the MHC-PMS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31</a:t>
            </a:fld>
            <a:endParaRPr lang="en-US"/>
          </a:p>
        </p:txBody>
      </p:sp>
      <p:pic>
        <p:nvPicPr>
          <p:cNvPr id="4" name="Picture 3" descr="5.9 MHCPMS-classes.eps"/>
          <p:cNvPicPr>
            <a:picLocks noChangeAspect="1"/>
          </p:cNvPicPr>
          <p:nvPr/>
        </p:nvPicPr>
        <p:blipFill>
          <a:blip r:embed="rId3"/>
          <a:stretch>
            <a:fillRect/>
          </a:stretch>
        </p:blipFill>
        <p:spPr>
          <a:xfrm>
            <a:off x="1073149" y="1746249"/>
            <a:ext cx="6677283" cy="4477707"/>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The Consultation class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32</a:t>
            </a:fld>
            <a:endParaRPr lang="en-US"/>
          </a:p>
        </p:txBody>
      </p:sp>
      <p:pic>
        <p:nvPicPr>
          <p:cNvPr id="4" name="Picture 3" descr="5.10 Consultation Class.eps"/>
          <p:cNvPicPr>
            <a:picLocks noChangeAspect="1"/>
          </p:cNvPicPr>
          <p:nvPr/>
        </p:nvPicPr>
        <p:blipFill>
          <a:blip r:embed="rId3"/>
          <a:stretch>
            <a:fillRect/>
          </a:stretch>
        </p:blipFill>
        <p:spPr>
          <a:xfrm>
            <a:off x="3263900" y="1727199"/>
            <a:ext cx="2654300" cy="4550229"/>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5" name="Content Placeholder 4"/>
          <p:cNvSpPr>
            <a:spLocks noGrp="1"/>
          </p:cNvSpPr>
          <p:nvPr>
            <p:ph idx="1"/>
          </p:nvPr>
        </p:nvSpPr>
        <p:spPr/>
        <p:txBody>
          <a:bodyPr/>
          <a:lstStyle/>
          <a:p>
            <a:r>
              <a:rPr lang="en-US" dirty="0"/>
              <a:t>Generalization is an everyday technique that we use to manage complexity. </a:t>
            </a:r>
          </a:p>
          <a:p>
            <a:r>
              <a:rPr lang="en-US" dirty="0"/>
              <a:t>Rather than learn the detailed characteristics of every entity that we experience, we place these entities in more general classes (animals, cars, houses, etc.) and learn the characteristics of these classes. </a:t>
            </a:r>
          </a:p>
          <a:p>
            <a:r>
              <a:rPr lang="en-US" dirty="0"/>
              <a:t>This allows us to infer that different members of these classes have some common characteristics e.g. squirrels and rats are rodents.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r>
              <a:rPr lang="en-US" sz="2100" dirty="0"/>
              <a:t>In modeling systems, it is often useful to examine the classes in a system to see if there is scope for generalization. If changes are proposed, then you do not have to look at all classes in the system to see if they are affected by the change. </a:t>
            </a:r>
          </a:p>
          <a:p>
            <a:r>
              <a:rPr lang="en-US" sz="2100" dirty="0"/>
              <a:t>In object-oriented languages, such as Java, generalization is implemented using the class inheritance mechanisms built into the language.</a:t>
            </a:r>
            <a:r>
              <a:rPr lang="en-GB" sz="2100" dirty="0"/>
              <a:t> </a:t>
            </a:r>
          </a:p>
          <a:p>
            <a:r>
              <a:rPr lang="en-US" sz="2100" dirty="0"/>
              <a:t>In a generalization, the attributes and operations associated with higher-level classes are also associated with the lower-level classes.</a:t>
            </a:r>
          </a:p>
          <a:p>
            <a:r>
              <a:rPr lang="en-US" sz="2100" dirty="0"/>
              <a:t> The lower-level classes are subclasses inherit the attributes and operations from their </a:t>
            </a:r>
            <a:r>
              <a:rPr lang="en-US" sz="2100" dirty="0" err="1"/>
              <a:t>superclasses</a:t>
            </a:r>
            <a:r>
              <a:rPr lang="en-US" sz="2100" dirty="0"/>
              <a:t>. These lower-level classes then add more specific attributes and operations. </a:t>
            </a:r>
          </a:p>
        </p:txBody>
      </p:sp>
      <p:sp>
        <p:nvSpPr>
          <p:cNvPr id="4" name="Footer Placeholder 3"/>
          <p:cNvSpPr>
            <a:spLocks noGrp="1"/>
          </p:cNvSpPr>
          <p:nvPr>
            <p:ph type="ftr" sz="quarter" idx="11"/>
          </p:nvPr>
        </p:nvSpPr>
        <p:spPr/>
        <p:txBody>
          <a:bodyPr/>
          <a:lstStyle/>
          <a:p>
            <a:pPr>
              <a:defRPr/>
            </a:pPr>
            <a:r>
              <a:rPr lang="en-US"/>
              <a:t>Chapter 5 System Modeling</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34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A generalization hierarchy</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35</a:t>
            </a:fld>
            <a:endParaRPr lang="en-US"/>
          </a:p>
        </p:txBody>
      </p:sp>
      <p:pic>
        <p:nvPicPr>
          <p:cNvPr id="4" name="Picture 3" descr="5.11 GeneralizationHierarchy.eps"/>
          <p:cNvPicPr>
            <a:picLocks noChangeAspect="1"/>
          </p:cNvPicPr>
          <p:nvPr/>
        </p:nvPicPr>
        <p:blipFill>
          <a:blip r:embed="rId3"/>
          <a:stretch>
            <a:fillRect/>
          </a:stretch>
        </p:blipFill>
        <p:spPr>
          <a:xfrm>
            <a:off x="2374900" y="2133600"/>
            <a:ext cx="4495800" cy="3238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A generalization hierarchy with added detail</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36</a:t>
            </a:fld>
            <a:endParaRPr lang="en-US"/>
          </a:p>
        </p:txBody>
      </p:sp>
      <p:pic>
        <p:nvPicPr>
          <p:cNvPr id="4" name="Picture 3" descr="5.12 GeneralisationDetail.eps"/>
          <p:cNvPicPr>
            <a:picLocks noChangeAspect="1"/>
          </p:cNvPicPr>
          <p:nvPr/>
        </p:nvPicPr>
        <p:blipFill>
          <a:blip r:embed="rId3"/>
          <a:stretch>
            <a:fillRect/>
          </a:stretch>
        </p:blipFill>
        <p:spPr>
          <a:xfrm>
            <a:off x="2432049" y="1879600"/>
            <a:ext cx="4576879" cy="37719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0487" tIns="44450" rIns="90487" bIns="44450"/>
          <a:lstStyle/>
          <a:p>
            <a:r>
              <a:rPr lang="en-GB" dirty="0"/>
              <a:t>Object class aggregation models</a:t>
            </a:r>
          </a:p>
        </p:txBody>
      </p:sp>
      <p:sp>
        <p:nvSpPr>
          <p:cNvPr id="25603" name="Rectangle 3"/>
          <p:cNvSpPr>
            <a:spLocks noGrp="1" noChangeArrowheads="1"/>
          </p:cNvSpPr>
          <p:nvPr>
            <p:ph idx="1"/>
          </p:nvPr>
        </p:nvSpPr>
        <p:spPr>
          <a:noFill/>
          <a:ln/>
        </p:spPr>
        <p:txBody>
          <a:bodyPr lIns="90487" tIns="44450" rIns="90487" bIns="44450"/>
          <a:lstStyle/>
          <a:p>
            <a:r>
              <a:rPr lang="en-GB" dirty="0"/>
              <a:t>An aggregation model shows how classes that are collections are composed of other classes.</a:t>
            </a:r>
          </a:p>
          <a:p>
            <a:r>
              <a:rPr lang="en-GB" dirty="0"/>
              <a:t>Aggregation models are similar to the part-of relationship in semantic data models.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37</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The aggregation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38</a:t>
            </a:fld>
            <a:endParaRPr lang="en-US"/>
          </a:p>
        </p:txBody>
      </p:sp>
      <p:pic>
        <p:nvPicPr>
          <p:cNvPr id="4" name="Picture 3" descr="5.13 Aggregation.eps"/>
          <p:cNvPicPr>
            <a:picLocks noChangeAspect="1"/>
          </p:cNvPicPr>
          <p:nvPr/>
        </p:nvPicPr>
        <p:blipFill>
          <a:blip r:embed="rId3"/>
          <a:stretch>
            <a:fillRect/>
          </a:stretch>
        </p:blipFill>
        <p:spPr>
          <a:xfrm>
            <a:off x="2425699" y="2540000"/>
            <a:ext cx="4199467" cy="23622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9338"/>
            <a:ext cx="8229600" cy="1143000"/>
          </a:xfrm>
        </p:spPr>
        <p:txBody>
          <a:bodyPr/>
          <a:lstStyle/>
          <a:p>
            <a:pPr algn="ctr"/>
            <a:r>
              <a:rPr lang="en-US" dirty="0"/>
              <a:t>Behavioral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39</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3548603"/>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models</a:t>
            </a:r>
          </a:p>
        </p:txBody>
      </p:sp>
      <p:sp>
        <p:nvSpPr>
          <p:cNvPr id="3" name="Content Placeholder 2"/>
          <p:cNvSpPr>
            <a:spLocks noGrp="1"/>
          </p:cNvSpPr>
          <p:nvPr>
            <p:ph idx="1"/>
          </p:nvPr>
        </p:nvSpPr>
        <p:spPr/>
        <p:txBody>
          <a:bodyPr/>
          <a:lstStyle/>
          <a:p>
            <a:r>
              <a:rPr lang="en-US" dirty="0"/>
              <a:t>Behavioral models are models of the dynamic behavior of a system as it is executing. They show what happens or what is supposed to happen when a system responds to a stimulus from its environment. </a:t>
            </a:r>
          </a:p>
          <a:p>
            <a:r>
              <a:rPr lang="en-US" dirty="0"/>
              <a:t>You can think of these stimuli as being of two types:</a:t>
            </a:r>
            <a:endParaRPr lang="en-GB" dirty="0"/>
          </a:p>
          <a:p>
            <a:pPr lvl="1"/>
            <a:r>
              <a:rPr lang="en-US" dirty="0">
                <a:solidFill>
                  <a:srgbClr val="FF0000"/>
                </a:solidFill>
              </a:rPr>
              <a:t>Data </a:t>
            </a:r>
            <a:r>
              <a:rPr lang="en-US" dirty="0"/>
              <a:t>Some data arrives that has to be processed by the system.</a:t>
            </a:r>
            <a:endParaRPr lang="en-GB" dirty="0"/>
          </a:p>
          <a:p>
            <a:pPr lvl="1"/>
            <a:r>
              <a:rPr lang="en-US" dirty="0">
                <a:solidFill>
                  <a:srgbClr val="FF0000"/>
                </a:solidFill>
              </a:rPr>
              <a:t>Events </a:t>
            </a:r>
            <a:r>
              <a:rPr lang="en-US" dirty="0"/>
              <a:t>Some event happens that triggers system processing. Events may have associated data, although this is not always the case.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Data-driven modeling</a:t>
            </a:r>
          </a:p>
        </p:txBody>
      </p:sp>
      <p:sp>
        <p:nvSpPr>
          <p:cNvPr id="3" name="Content Placeholder 2"/>
          <p:cNvSpPr>
            <a:spLocks noGrp="1"/>
          </p:cNvSpPr>
          <p:nvPr>
            <p:ph idx="1"/>
          </p:nvPr>
        </p:nvSpPr>
        <p:spPr/>
        <p:txBody>
          <a:bodyPr/>
          <a:lstStyle/>
          <a:p>
            <a:r>
              <a:rPr lang="en-US" dirty="0"/>
              <a:t>Many business systems are data-processing systems that are primarily driven by data. They are controlled by the data input to the system, with relatively little external event processing. </a:t>
            </a:r>
          </a:p>
          <a:p>
            <a:r>
              <a:rPr lang="en-US" dirty="0"/>
              <a:t>Data-driven models show the sequence of actions involved in processing input data and generating an associated output. </a:t>
            </a:r>
          </a:p>
          <a:p>
            <a:r>
              <a:rPr lang="en-US" dirty="0"/>
              <a:t>They are particularly useful during the analysis of requirements as they can be used to show end-to-end processing in a system.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An activity model of the insulin pump’s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42</a:t>
            </a:fld>
            <a:endParaRPr lang="en-US"/>
          </a:p>
        </p:txBody>
      </p:sp>
      <p:pic>
        <p:nvPicPr>
          <p:cNvPr id="4" name="Picture 3" descr="5.14 PumpDFD.eps"/>
          <p:cNvPicPr>
            <a:picLocks noChangeAspect="1"/>
          </p:cNvPicPr>
          <p:nvPr/>
        </p:nvPicPr>
        <p:blipFill>
          <a:blip r:embed="rId3"/>
          <a:stretch>
            <a:fillRect/>
          </a:stretch>
        </p:blipFill>
        <p:spPr>
          <a:xfrm>
            <a:off x="1035049" y="2355850"/>
            <a:ext cx="7215073" cy="2457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t>Order processing</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43</a:t>
            </a:fld>
            <a:endParaRPr lang="en-US"/>
          </a:p>
        </p:txBody>
      </p:sp>
      <p:pic>
        <p:nvPicPr>
          <p:cNvPr id="4" name="Picture 3" descr="5.15 OrderSeq.eps"/>
          <p:cNvPicPr>
            <a:picLocks noChangeAspect="1"/>
          </p:cNvPicPr>
          <p:nvPr/>
        </p:nvPicPr>
        <p:blipFill rotWithShape="1">
          <a:blip r:embed="rId3"/>
          <a:srcRect b="13436"/>
          <a:stretch/>
        </p:blipFill>
        <p:spPr>
          <a:xfrm>
            <a:off x="632742" y="1758950"/>
            <a:ext cx="7393658" cy="4235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Event-driven modeling</a:t>
            </a:r>
          </a:p>
        </p:txBody>
      </p:sp>
      <p:sp>
        <p:nvSpPr>
          <p:cNvPr id="5" name="Content Placeholder 4"/>
          <p:cNvSpPr>
            <a:spLocks noGrp="1"/>
          </p:cNvSpPr>
          <p:nvPr>
            <p:ph idx="1"/>
          </p:nvPr>
        </p:nvSpPr>
        <p:spPr/>
        <p:txBody>
          <a:bodyPr/>
          <a:lstStyle/>
          <a:p>
            <a:r>
              <a:rPr lang="en-US" dirty="0"/>
              <a:t>Real-time systems are often event-driven, with minimal data processing. For example, a landline phone switching system responds to events such as ‘receiver off hook’ by</a:t>
            </a:r>
            <a:r>
              <a:rPr lang="en-GB" dirty="0"/>
              <a:t> </a:t>
            </a:r>
            <a:r>
              <a:rPr lang="en-US" dirty="0"/>
              <a:t>generating a dial tone.</a:t>
            </a:r>
            <a:r>
              <a:rPr lang="en-GB" dirty="0"/>
              <a:t> </a:t>
            </a:r>
            <a:endParaRPr lang="en-US" dirty="0"/>
          </a:p>
          <a:p>
            <a:r>
              <a:rPr lang="en-US" dirty="0"/>
              <a:t>Event-driven modeling shows how a system responds to external and internal events. </a:t>
            </a:r>
          </a:p>
          <a:p>
            <a:r>
              <a:rPr lang="en-US" dirty="0"/>
              <a:t>It is based on the assumption that a system has a finite number of states and that events (stimuli) may cause a transition from one state to another.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State machine models</a:t>
            </a:r>
          </a:p>
        </p:txBody>
      </p:sp>
      <p:sp>
        <p:nvSpPr>
          <p:cNvPr id="56323" name="Rectangle 3"/>
          <p:cNvSpPr>
            <a:spLocks noGrp="1" noChangeArrowheads="1"/>
          </p:cNvSpPr>
          <p:nvPr>
            <p:ph idx="1"/>
          </p:nvPr>
        </p:nvSpPr>
        <p:spPr/>
        <p:txBody>
          <a:bodyPr/>
          <a:lstStyle/>
          <a:p>
            <a:r>
              <a:rPr lang="en-GB" sz="2400"/>
              <a:t>These model the behaviour of the system in response to external and internal events.</a:t>
            </a:r>
          </a:p>
          <a:p>
            <a:r>
              <a:rPr lang="en-GB" sz="2400"/>
              <a:t>They show the system’s responses to stimuli so are often used for modelling real-time systems.</a:t>
            </a:r>
          </a:p>
          <a:p>
            <a:r>
              <a:rPr lang="en-GB" sz="2400"/>
              <a:t>State machine models show system states as nodes and events as arcs between these nodes. When an event occurs, the system moves from one state to another.</a:t>
            </a:r>
          </a:p>
          <a:p>
            <a:r>
              <a:rPr lang="en-GB" sz="2400"/>
              <a:t>Statecharts are an integral part of the UML and are used to represent state machine models.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45</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State diagram of a microwave oven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46</a:t>
            </a:fld>
            <a:endParaRPr lang="en-US"/>
          </a:p>
        </p:txBody>
      </p:sp>
      <p:pic>
        <p:nvPicPr>
          <p:cNvPr id="4" name="Picture 3" descr="5.16 MWOvenStateDiag.eps"/>
          <p:cNvPicPr>
            <a:picLocks noChangeAspect="1"/>
          </p:cNvPicPr>
          <p:nvPr/>
        </p:nvPicPr>
        <p:blipFill>
          <a:blip r:embed="rId3"/>
          <a:stretch>
            <a:fillRect/>
          </a:stretch>
        </p:blipFill>
        <p:spPr>
          <a:xfrm>
            <a:off x="1276349" y="1689100"/>
            <a:ext cx="7086461" cy="43053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Microwave oven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47</a:t>
            </a:fld>
            <a:endParaRPr lang="en-US"/>
          </a:p>
        </p:txBody>
      </p:sp>
      <p:pic>
        <p:nvPicPr>
          <p:cNvPr id="4" name="Picture 3" descr="5.18 Operate-state-mc.eps"/>
          <p:cNvPicPr>
            <a:picLocks noChangeAspect="1"/>
          </p:cNvPicPr>
          <p:nvPr/>
        </p:nvPicPr>
        <p:blipFill>
          <a:blip r:embed="rId3"/>
          <a:stretch>
            <a:fillRect/>
          </a:stretch>
        </p:blipFill>
        <p:spPr>
          <a:xfrm>
            <a:off x="2228850" y="1746250"/>
            <a:ext cx="5048250" cy="40576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States and stimuli for the microwave oven (a)</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48</a:t>
            </a:fld>
            <a:endParaRPr lang="en-US"/>
          </a:p>
        </p:txBody>
      </p:sp>
      <p:graphicFrame>
        <p:nvGraphicFramePr>
          <p:cNvPr id="3" name="Table 2"/>
          <p:cNvGraphicFramePr>
            <a:graphicFrameLocks noGrp="1"/>
          </p:cNvGraphicFramePr>
          <p:nvPr/>
        </p:nvGraphicFramePr>
        <p:xfrm>
          <a:off x="431800" y="1727200"/>
          <a:ext cx="8089900" cy="4345305"/>
        </p:xfrm>
        <a:graphic>
          <a:graphicData uri="http://schemas.openxmlformats.org/drawingml/2006/table">
            <a:tbl>
              <a:tblPr/>
              <a:tblGrid>
                <a:gridCol w="18161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State</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Waiting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States and stimuli for the microwave oven (</a:t>
            </a:r>
            <a:r>
              <a:rPr lang="en-US" dirty="0" err="1"/>
              <a:t>b</a:t>
            </a:r>
            <a:r>
              <a:rPr lang="en-US" dirty="0"/>
              <a:t>)</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49</a:t>
            </a:fld>
            <a:endParaRPr lang="en-US"/>
          </a:p>
        </p:txBody>
      </p:sp>
      <p:graphicFrame>
        <p:nvGraphicFramePr>
          <p:cNvPr id="3" name="Table 2"/>
          <p:cNvGraphicFramePr>
            <a:graphicFrameLocks noGrp="1"/>
          </p:cNvGraphicFramePr>
          <p:nvPr/>
        </p:nvGraphicFramePr>
        <p:xfrm>
          <a:off x="1419482" y="1841500"/>
          <a:ext cx="6330950" cy="3760470"/>
        </p:xfrm>
        <a:graphic>
          <a:graphicData uri="http://schemas.openxmlformats.org/drawingml/2006/table">
            <a:tbl>
              <a:tblPr/>
              <a:tblGrid>
                <a:gridCol w="1841500">
                  <a:extLst>
                    <a:ext uri="{9D8B030D-6E8A-4147-A177-3AD203B41FA5}">
                      <a16:colId xmlns:a16="http://schemas.microsoft.com/office/drawing/2014/main" val="20000"/>
                    </a:ext>
                  </a:extLst>
                </a:gridCol>
                <a:gridCol w="4489450">
                  <a:extLst>
                    <a:ext uri="{9D8B030D-6E8A-4147-A177-3AD203B41FA5}">
                      <a16:colId xmlns:a16="http://schemas.microsoft.com/office/drawing/2014/main" val="20001"/>
                    </a:ext>
                  </a:extLst>
                </a:gridCol>
              </a:tblGrid>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Stimulus</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Half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Timer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8"/>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08238"/>
            <a:ext cx="8229600" cy="1143000"/>
          </a:xfrm>
        </p:spPr>
        <p:txBody>
          <a:bodyPr/>
          <a:lstStyle/>
          <a:p>
            <a:pPr algn="ctr"/>
            <a:r>
              <a:rPr lang="en-US" dirty="0"/>
              <a:t>Model-driven engineering</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50</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67563530"/>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Model-driven engineering</a:t>
            </a:r>
          </a:p>
        </p:txBody>
      </p:sp>
      <p:sp>
        <p:nvSpPr>
          <p:cNvPr id="5" name="Content Placeholder 4"/>
          <p:cNvSpPr>
            <a:spLocks noGrp="1"/>
          </p:cNvSpPr>
          <p:nvPr>
            <p:ph idx="1"/>
          </p:nvPr>
        </p:nvSpPr>
        <p:spPr/>
        <p:txBody>
          <a:bodyPr/>
          <a:lstStyle/>
          <a:p>
            <a:r>
              <a:rPr lang="en-US" dirty="0"/>
              <a:t>Model-driven engineering (MDE) is an approach to software development where models rather than programs are the principal outputs of the development process. </a:t>
            </a:r>
          </a:p>
          <a:p>
            <a:r>
              <a:rPr lang="en-US" dirty="0"/>
              <a:t>How it works:</a:t>
            </a:r>
          </a:p>
          <a:p>
            <a:pPr lvl="1"/>
            <a:r>
              <a:rPr lang="en-US" b="1" dirty="0"/>
              <a:t>Create models: </a:t>
            </a:r>
            <a:r>
              <a:rPr lang="en-US" dirty="0"/>
              <a:t>Developers use modeling languages such as </a:t>
            </a:r>
            <a:r>
              <a:rPr lang="en-US" b="1" dirty="0"/>
              <a:t>UML (Unified Modeling Language)</a:t>
            </a:r>
            <a:r>
              <a:rPr lang="en-US" dirty="0"/>
              <a:t> to describe system components, data flow, behavior, and interactions.</a:t>
            </a:r>
          </a:p>
          <a:p>
            <a:pPr lvl="1"/>
            <a:r>
              <a:rPr lang="en-US" b="1" dirty="0"/>
              <a:t>Transform models into code: </a:t>
            </a:r>
            <a:r>
              <a:rPr lang="en-US" dirty="0"/>
              <a:t>Tools automatically convert (or </a:t>
            </a:r>
            <a:r>
              <a:rPr lang="en-US" i="1" dirty="0"/>
              <a:t>compile</a:t>
            </a:r>
            <a:r>
              <a:rPr lang="en-US" dirty="0"/>
              <a:t>) these models into source code that can run on a target platform (e.g., web, mobile, or embedded systems).</a:t>
            </a:r>
          </a:p>
          <a:p>
            <a:pPr lvl="1"/>
            <a:r>
              <a:rPr lang="en-US" b="1" dirty="0"/>
              <a:t>Generate executables: </a:t>
            </a:r>
            <a:r>
              <a:rPr lang="en-US" dirty="0"/>
              <a:t>The generated code is compiled and executed on the hardware/software platform.</a:t>
            </a:r>
          </a:p>
          <a:p>
            <a:pPr marL="457200" lvl="1" indent="0">
              <a:buNone/>
            </a:pPr>
            <a:br>
              <a:rPr lang="en-US" dirty="0"/>
            </a:br>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51</a:t>
            </a:fld>
            <a:endParaRPr lang="en-US"/>
          </a:p>
        </p:txBody>
      </p:sp>
      <p:sp>
        <p:nvSpPr>
          <p:cNvPr id="6" name="Date Placeholder 5"/>
          <p:cNvSpPr>
            <a:spLocks noGrp="1"/>
          </p:cNvSpPr>
          <p:nvPr>
            <p:ph type="dt" sz="half" idx="10"/>
          </p:nvPr>
        </p:nvSpPr>
        <p:spPr/>
        <p:txBody>
          <a:bodyPr/>
          <a:lstStyle/>
          <a:p>
            <a:pPr>
              <a:defRPr/>
            </a:pPr>
            <a:r>
              <a:rPr lang="en-GB" dirty="0"/>
              <a:t>30/10/2014</a:t>
            </a:r>
            <a:endParaRPr lang="en-US" dirty="0"/>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2B4CC-50E2-45E3-6EC8-0991BF203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02C54-1EAA-7A37-43AD-7ED9FDB929AA}"/>
              </a:ext>
            </a:extLst>
          </p:cNvPr>
          <p:cNvSpPr>
            <a:spLocks noGrp="1"/>
          </p:cNvSpPr>
          <p:nvPr>
            <p:ph type="title"/>
          </p:nvPr>
        </p:nvSpPr>
        <p:spPr/>
        <p:txBody>
          <a:bodyPr/>
          <a:lstStyle/>
          <a:p>
            <a:r>
              <a:rPr lang="en-US" dirty="0"/>
              <a:t>Model-driven engineering</a:t>
            </a:r>
          </a:p>
        </p:txBody>
      </p:sp>
      <p:sp>
        <p:nvSpPr>
          <p:cNvPr id="5" name="Content Placeholder 4">
            <a:extLst>
              <a:ext uri="{FF2B5EF4-FFF2-40B4-BE49-F238E27FC236}">
                <a16:creationId xmlns:a16="http://schemas.microsoft.com/office/drawing/2014/main" id="{C35FB35C-DB5F-7BAB-18B6-C9FB6175A4BE}"/>
              </a:ext>
            </a:extLst>
          </p:cNvPr>
          <p:cNvSpPr>
            <a:spLocks noGrp="1"/>
          </p:cNvSpPr>
          <p:nvPr>
            <p:ph idx="1"/>
          </p:nvPr>
        </p:nvSpPr>
        <p:spPr/>
        <p:txBody>
          <a:bodyPr/>
          <a:lstStyle/>
          <a:p>
            <a:r>
              <a:rPr lang="en-US" b="1" dirty="0"/>
              <a:t>Pros:</a:t>
            </a:r>
          </a:p>
          <a:p>
            <a:pPr lvl="1"/>
            <a:r>
              <a:rPr lang="en-US" b="1" dirty="0"/>
              <a:t>Higher abstraction:</a:t>
            </a:r>
            <a:br>
              <a:rPr lang="en-US" dirty="0"/>
            </a:br>
            <a:r>
              <a:rPr lang="en-US" dirty="0"/>
              <a:t>Developers can focus on system design and logic rather than syntax and low-level coding details.</a:t>
            </a:r>
          </a:p>
          <a:p>
            <a:pPr lvl="1"/>
            <a:r>
              <a:rPr lang="en-US" b="1" dirty="0"/>
              <a:t>Automation:</a:t>
            </a:r>
            <a:br>
              <a:rPr lang="en-US" dirty="0"/>
            </a:br>
            <a:r>
              <a:rPr lang="en-US" dirty="0"/>
              <a:t>A large part of coding and configuration is done automatically by tools.</a:t>
            </a:r>
          </a:p>
          <a:p>
            <a:pPr lvl="1"/>
            <a:r>
              <a:rPr lang="en-US" b="1" dirty="0"/>
              <a:t>Consistency:</a:t>
            </a:r>
            <a:br>
              <a:rPr lang="en-US" dirty="0"/>
            </a:br>
            <a:r>
              <a:rPr lang="en-US" dirty="0"/>
              <a:t>Because the code is generated from the model, it is less prone to human error.</a:t>
            </a:r>
          </a:p>
          <a:p>
            <a:pPr lvl="1"/>
            <a:r>
              <a:rPr lang="en-US" b="1" dirty="0"/>
              <a:t>Platform independence:</a:t>
            </a:r>
            <a:br>
              <a:rPr lang="en-US" dirty="0"/>
            </a:br>
            <a:r>
              <a:rPr lang="en-US" dirty="0"/>
              <a:t>The same model can be used to generate software for different platforms (for example, Windows, Linux, or Android) with little modification.</a:t>
            </a:r>
          </a:p>
          <a:p>
            <a:pPr marL="0" indent="0">
              <a:buNone/>
            </a:pPr>
            <a:endParaRPr lang="en-US" dirty="0"/>
          </a:p>
        </p:txBody>
      </p:sp>
      <p:sp>
        <p:nvSpPr>
          <p:cNvPr id="3" name="Footer Placeholder 2">
            <a:extLst>
              <a:ext uri="{FF2B5EF4-FFF2-40B4-BE49-F238E27FC236}">
                <a16:creationId xmlns:a16="http://schemas.microsoft.com/office/drawing/2014/main" id="{B268172A-2E3B-A2E2-46C3-4658F3AA68D5}"/>
              </a:ext>
            </a:extLst>
          </p:cNvPr>
          <p:cNvSpPr>
            <a:spLocks noGrp="1"/>
          </p:cNvSpPr>
          <p:nvPr>
            <p:ph type="ftr" sz="quarter" idx="11"/>
          </p:nvPr>
        </p:nvSpPr>
        <p:spPr/>
        <p:txBody>
          <a:bodyPr/>
          <a:lstStyle/>
          <a:p>
            <a:pPr>
              <a:defRPr/>
            </a:pPr>
            <a:r>
              <a:rPr lang="en-US"/>
              <a:t>Chapter 5 System Modeling</a:t>
            </a:r>
          </a:p>
        </p:txBody>
      </p:sp>
      <p:sp>
        <p:nvSpPr>
          <p:cNvPr id="4" name="Slide Number Placeholder 3">
            <a:extLst>
              <a:ext uri="{FF2B5EF4-FFF2-40B4-BE49-F238E27FC236}">
                <a16:creationId xmlns:a16="http://schemas.microsoft.com/office/drawing/2014/main" id="{5FBFDE04-39A5-A88A-2CB8-7F38751A29E4}"/>
              </a:ext>
            </a:extLst>
          </p:cNvPr>
          <p:cNvSpPr>
            <a:spLocks noGrp="1"/>
          </p:cNvSpPr>
          <p:nvPr>
            <p:ph type="sldNum" sz="quarter" idx="12"/>
          </p:nvPr>
        </p:nvSpPr>
        <p:spPr/>
        <p:txBody>
          <a:bodyPr/>
          <a:lstStyle/>
          <a:p>
            <a:pPr>
              <a:defRPr/>
            </a:pPr>
            <a:fld id="{964AD586-7C25-0244-A129-E014CC0A164A}" type="slidenum">
              <a:rPr lang="en-US" smtClean="0"/>
              <a:pPr>
                <a:defRPr/>
              </a:pPr>
              <a:t>52</a:t>
            </a:fld>
            <a:endParaRPr lang="en-US"/>
          </a:p>
        </p:txBody>
      </p:sp>
      <p:sp>
        <p:nvSpPr>
          <p:cNvPr id="6" name="Date Placeholder 5">
            <a:extLst>
              <a:ext uri="{FF2B5EF4-FFF2-40B4-BE49-F238E27FC236}">
                <a16:creationId xmlns:a16="http://schemas.microsoft.com/office/drawing/2014/main" id="{3574A405-6938-6332-F1E8-5B3553FA8638}"/>
              </a:ext>
            </a:extLst>
          </p:cNvPr>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968134770"/>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Model-driven engineering</a:t>
            </a:r>
          </a:p>
        </p:txBody>
      </p:sp>
      <p:sp>
        <p:nvSpPr>
          <p:cNvPr id="3" name="Content Placeholder 2"/>
          <p:cNvSpPr>
            <a:spLocks noGrp="1"/>
          </p:cNvSpPr>
          <p:nvPr>
            <p:ph idx="1"/>
          </p:nvPr>
        </p:nvSpPr>
        <p:spPr/>
        <p:txBody>
          <a:bodyPr/>
          <a:lstStyle/>
          <a:p>
            <a:r>
              <a:rPr lang="en-GB" b="1" dirty="0"/>
              <a:t>Cons</a:t>
            </a:r>
          </a:p>
          <a:p>
            <a:pPr lvl="1"/>
            <a:r>
              <a:rPr lang="en-US" dirty="0"/>
              <a:t>Models are useful for abstraction and design, but they may not include all the practical details required for implementation, so developers often need to manually adjust the generated code, which reduces the benefits of automation.</a:t>
            </a:r>
          </a:p>
          <a:p>
            <a:pPr lvl="1"/>
            <a:r>
              <a:rPr lang="en-US" dirty="0"/>
              <a:t>The money and time saved by automatically generating code can be lost because building and maintaining the required translators (code generators) for each new platform or technology can cost more than writing the code manually.</a:t>
            </a:r>
          </a:p>
          <a:p>
            <a:r>
              <a:rPr lang="en-US" dirty="0"/>
              <a:t>Model-driven engineering is still at an early stage of development, and it is unclear whether or not it will have a significant effect on software engineering practice.</a:t>
            </a:r>
            <a:r>
              <a:rPr lang="en-GB" dirty="0"/>
              <a:t> </a:t>
            </a:r>
          </a:p>
          <a:p>
            <a:pPr lvl="1"/>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driven architecture</a:t>
            </a:r>
          </a:p>
        </p:txBody>
      </p:sp>
      <p:sp>
        <p:nvSpPr>
          <p:cNvPr id="5" name="Content Placeholder 4"/>
          <p:cNvSpPr>
            <a:spLocks noGrp="1"/>
          </p:cNvSpPr>
          <p:nvPr>
            <p:ph idx="1"/>
          </p:nvPr>
        </p:nvSpPr>
        <p:spPr>
          <a:xfrm>
            <a:off x="228600" y="1488234"/>
            <a:ext cx="8915400" cy="4525963"/>
          </a:xfrm>
        </p:spPr>
        <p:txBody>
          <a:bodyPr/>
          <a:lstStyle/>
          <a:p>
            <a:r>
              <a:rPr lang="en-US" dirty="0"/>
              <a:t>Model-driven architecture (MDA) was the precursor of more general model-driven engineering</a:t>
            </a:r>
          </a:p>
          <a:p>
            <a:pPr lvl="1"/>
            <a:r>
              <a:rPr lang="en-US" dirty="0"/>
              <a:t>MDA came </a:t>
            </a:r>
            <a:r>
              <a:rPr lang="en-US" b="1" dirty="0"/>
              <a:t>before</a:t>
            </a:r>
            <a:r>
              <a:rPr lang="en-US" dirty="0"/>
              <a:t> the broader concept of </a:t>
            </a:r>
            <a:r>
              <a:rPr lang="en-US" b="1" dirty="0"/>
              <a:t>Model-Driven Engineering (MDE)</a:t>
            </a:r>
            <a:endParaRPr lang="en-US" dirty="0"/>
          </a:p>
          <a:p>
            <a:pPr lvl="1"/>
            <a:r>
              <a:rPr lang="en-US" dirty="0"/>
              <a:t>It laid the foundation for the idea that </a:t>
            </a:r>
            <a:r>
              <a:rPr lang="en-US" b="1" dirty="0"/>
              <a:t>models are not just documentation</a:t>
            </a:r>
            <a:endParaRPr lang="en-US" dirty="0"/>
          </a:p>
          <a:p>
            <a:r>
              <a:rPr lang="en-US" dirty="0"/>
              <a:t>MDA is a model-focused approach.</a:t>
            </a:r>
          </a:p>
          <a:p>
            <a:pPr lvl="1"/>
            <a:r>
              <a:rPr lang="en-US" dirty="0"/>
              <a:t>MDA emphasizes building </a:t>
            </a:r>
            <a:r>
              <a:rPr lang="en-US" b="1" dirty="0"/>
              <a:t>formal models</a:t>
            </a:r>
            <a:r>
              <a:rPr lang="en-US" dirty="0"/>
              <a:t> of a system</a:t>
            </a:r>
          </a:p>
          <a:p>
            <a:pPr lvl="1"/>
            <a:r>
              <a:rPr lang="en-US" dirty="0"/>
              <a:t>These models use a </a:t>
            </a:r>
            <a:r>
              <a:rPr lang="en-US" b="1" dirty="0"/>
              <a:t>subset of UML (Unified Modeling Language)</a:t>
            </a:r>
            <a:endParaRPr lang="en-US" dirty="0"/>
          </a:p>
          <a:p>
            <a:pPr lvl="1"/>
            <a:r>
              <a:rPr lang="en-US" dirty="0"/>
              <a:t>Instead of starting with code, developers start with </a:t>
            </a:r>
            <a:r>
              <a:rPr lang="en-US" b="1" dirty="0"/>
              <a:t>structured system models</a:t>
            </a:r>
            <a:endParaRPr lang="en-US" dirty="0"/>
          </a:p>
          <a:p>
            <a:pPr lvl="1"/>
            <a:r>
              <a:rPr lang="en-US" dirty="0"/>
              <a:t>This shifts the focus from </a:t>
            </a:r>
            <a:r>
              <a:rPr lang="en-US" b="1" dirty="0"/>
              <a:t>coding first</a:t>
            </a:r>
            <a:r>
              <a:rPr lang="en-US" dirty="0"/>
              <a:t> ➜ to </a:t>
            </a:r>
            <a:r>
              <a:rPr lang="en-US" b="1" dirty="0"/>
              <a:t>modeling first</a:t>
            </a:r>
            <a:endParaRPr lang="en-US" dirty="0"/>
          </a:p>
          <a:p>
            <a:pPr lvl="1"/>
            <a:r>
              <a:rPr lang="en-US" dirty="0"/>
              <a:t>Models describe system structure, system behavior, system interactions</a:t>
            </a:r>
          </a:p>
        </p:txBody>
      </p:sp>
      <p:sp>
        <p:nvSpPr>
          <p:cNvPr id="4" name="Footer Placeholder 3"/>
          <p:cNvSpPr>
            <a:spLocks noGrp="1"/>
          </p:cNvSpPr>
          <p:nvPr>
            <p:ph type="ftr" sz="quarter" idx="11"/>
          </p:nvPr>
        </p:nvSpPr>
        <p:spPr/>
        <p:txBody>
          <a:bodyPr/>
          <a:lstStyle/>
          <a:p>
            <a:pPr>
              <a:defRPr/>
            </a:pPr>
            <a:r>
              <a:rPr lang="en-US" dirty="0"/>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7667E-8420-D9C3-F3A4-6136213F9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9BA9F-C2AC-3639-214E-33D848F3109B}"/>
              </a:ext>
            </a:extLst>
          </p:cNvPr>
          <p:cNvSpPr>
            <a:spLocks noGrp="1"/>
          </p:cNvSpPr>
          <p:nvPr>
            <p:ph type="title"/>
          </p:nvPr>
        </p:nvSpPr>
        <p:spPr/>
        <p:txBody>
          <a:bodyPr/>
          <a:lstStyle/>
          <a:p>
            <a:r>
              <a:rPr lang="en-US" dirty="0"/>
              <a:t>Model driven architecture</a:t>
            </a:r>
          </a:p>
        </p:txBody>
      </p:sp>
      <p:sp>
        <p:nvSpPr>
          <p:cNvPr id="5" name="Content Placeholder 4">
            <a:extLst>
              <a:ext uri="{FF2B5EF4-FFF2-40B4-BE49-F238E27FC236}">
                <a16:creationId xmlns:a16="http://schemas.microsoft.com/office/drawing/2014/main" id="{8B88A2F7-EFEE-8578-487C-5F61A9CB566E}"/>
              </a:ext>
            </a:extLst>
          </p:cNvPr>
          <p:cNvSpPr>
            <a:spLocks noGrp="1"/>
          </p:cNvSpPr>
          <p:nvPr>
            <p:ph idx="1"/>
          </p:nvPr>
        </p:nvSpPr>
        <p:spPr>
          <a:xfrm>
            <a:off x="457200" y="1637522"/>
            <a:ext cx="8229600" cy="4830794"/>
          </a:xfrm>
        </p:spPr>
        <p:txBody>
          <a:bodyPr/>
          <a:lstStyle/>
          <a:p>
            <a:r>
              <a:rPr lang="en-US" dirty="0"/>
              <a:t>Models at different levels of abstraction are created.</a:t>
            </a:r>
          </a:p>
          <a:p>
            <a:pPr lvl="1"/>
            <a:r>
              <a:rPr lang="en-US" dirty="0"/>
              <a:t>A key idea in MDA is that </a:t>
            </a:r>
            <a:r>
              <a:rPr lang="en-US" b="1" dirty="0"/>
              <a:t>not all models are at the same level of detail</a:t>
            </a:r>
            <a:r>
              <a:rPr lang="en-US" dirty="0"/>
              <a:t>.</a:t>
            </a:r>
          </a:p>
          <a:p>
            <a:pPr lvl="1"/>
            <a:r>
              <a:rPr lang="en-US" dirty="0"/>
              <a:t> such as </a:t>
            </a:r>
            <a:r>
              <a:rPr lang="en-US" b="1" dirty="0"/>
              <a:t>Platform-Independent Model (PIM) </a:t>
            </a:r>
            <a:r>
              <a:rPr lang="en-US" dirty="0"/>
              <a:t>and</a:t>
            </a:r>
            <a:r>
              <a:rPr lang="en-US" b="1" dirty="0"/>
              <a:t> Platform-Specific Model (PSM)</a:t>
            </a:r>
            <a:endParaRPr lang="en-US" dirty="0"/>
          </a:p>
          <a:p>
            <a:r>
              <a:rPr lang="en-US" b="1" dirty="0"/>
              <a:t>Automatic Code Generation</a:t>
            </a:r>
            <a:r>
              <a:rPr lang="en-US" dirty="0"/>
              <a:t>.</a:t>
            </a:r>
            <a:r>
              <a:rPr lang="en-GB" dirty="0"/>
              <a:t> </a:t>
            </a:r>
          </a:p>
          <a:p>
            <a:pPr lvl="1"/>
            <a:r>
              <a:rPr lang="en-US" dirty="0"/>
              <a:t>One of the big goals of MDA is </a:t>
            </a:r>
            <a:r>
              <a:rPr lang="en-US" b="1" dirty="0"/>
              <a:t>automation</a:t>
            </a:r>
            <a:endParaRPr lang="en-US" dirty="0"/>
          </a:p>
          <a:p>
            <a:pPr lvl="1"/>
            <a:r>
              <a:rPr lang="en-US" dirty="0"/>
              <a:t>From a high-level models, in principle, it is possible to generate a working program without manual intervention.</a:t>
            </a:r>
            <a:r>
              <a:rPr lang="en-GB" dirty="0"/>
              <a:t> </a:t>
            </a:r>
          </a:p>
          <a:p>
            <a:pPr lvl="1"/>
            <a:r>
              <a:rPr lang="en-US" dirty="0"/>
              <a:t>In practice, full automation is rare, but </a:t>
            </a:r>
            <a:r>
              <a:rPr lang="en-US" b="1" dirty="0"/>
              <a:t>partial code generation</a:t>
            </a:r>
            <a:r>
              <a:rPr lang="en-US" dirty="0"/>
              <a:t> is widely used.</a:t>
            </a:r>
            <a:br>
              <a:rPr lang="en-US" dirty="0"/>
            </a:br>
            <a:endParaRPr lang="en-US" dirty="0"/>
          </a:p>
          <a:p>
            <a:pPr lvl="1"/>
            <a:endParaRPr lang="en-US" dirty="0"/>
          </a:p>
        </p:txBody>
      </p:sp>
      <p:sp>
        <p:nvSpPr>
          <p:cNvPr id="4" name="Footer Placeholder 3">
            <a:extLst>
              <a:ext uri="{FF2B5EF4-FFF2-40B4-BE49-F238E27FC236}">
                <a16:creationId xmlns:a16="http://schemas.microsoft.com/office/drawing/2014/main" id="{31CC7609-CCAE-0AC9-C62A-B298C7F2DB99}"/>
              </a:ext>
            </a:extLst>
          </p:cNvPr>
          <p:cNvSpPr>
            <a:spLocks noGrp="1"/>
          </p:cNvSpPr>
          <p:nvPr>
            <p:ph type="ftr" sz="quarter" idx="11"/>
          </p:nvPr>
        </p:nvSpPr>
        <p:spPr/>
        <p:txBody>
          <a:bodyPr/>
          <a:lstStyle/>
          <a:p>
            <a:pPr>
              <a:defRPr/>
            </a:pPr>
            <a:r>
              <a:rPr lang="en-US"/>
              <a:t>Chapter 5 System Modeling</a:t>
            </a:r>
          </a:p>
        </p:txBody>
      </p:sp>
      <p:sp>
        <p:nvSpPr>
          <p:cNvPr id="3" name="Slide Number Placeholder 2">
            <a:extLst>
              <a:ext uri="{FF2B5EF4-FFF2-40B4-BE49-F238E27FC236}">
                <a16:creationId xmlns:a16="http://schemas.microsoft.com/office/drawing/2014/main" id="{B8EDCF41-0D78-46F8-2B2D-BA7335E3ED5F}"/>
              </a:ext>
            </a:extLst>
          </p:cNvPr>
          <p:cNvSpPr>
            <a:spLocks noGrp="1"/>
          </p:cNvSpPr>
          <p:nvPr>
            <p:ph type="sldNum" sz="quarter" idx="12"/>
          </p:nvPr>
        </p:nvSpPr>
        <p:spPr/>
        <p:txBody>
          <a:bodyPr/>
          <a:lstStyle/>
          <a:p>
            <a:pPr>
              <a:defRPr/>
            </a:pPr>
            <a:fld id="{964AD586-7C25-0244-A129-E014CC0A164A}" type="slidenum">
              <a:rPr lang="en-US" smtClean="0"/>
              <a:pPr>
                <a:defRPr/>
              </a:pPr>
              <a:t>55</a:t>
            </a:fld>
            <a:endParaRPr lang="en-US"/>
          </a:p>
        </p:txBody>
      </p:sp>
      <p:sp>
        <p:nvSpPr>
          <p:cNvPr id="6" name="Date Placeholder 5">
            <a:extLst>
              <a:ext uri="{FF2B5EF4-FFF2-40B4-BE49-F238E27FC236}">
                <a16:creationId xmlns:a16="http://schemas.microsoft.com/office/drawing/2014/main" id="{498AE447-267D-7E2B-3C7A-B8B3DD233E21}"/>
              </a:ext>
            </a:extLst>
          </p:cNvPr>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110266188"/>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MDA defines models at three main levels</a:t>
            </a:r>
          </a:p>
        </p:txBody>
      </p:sp>
      <p:sp>
        <p:nvSpPr>
          <p:cNvPr id="3" name="Content Placeholder 2"/>
          <p:cNvSpPr>
            <a:spLocks noGrp="1"/>
          </p:cNvSpPr>
          <p:nvPr>
            <p:ph idx="1"/>
          </p:nvPr>
        </p:nvSpPr>
        <p:spPr>
          <a:xfrm>
            <a:off x="149291" y="1617382"/>
            <a:ext cx="8770774" cy="4525963"/>
          </a:xfrm>
        </p:spPr>
        <p:txBody>
          <a:bodyPr/>
          <a:lstStyle/>
          <a:p>
            <a:r>
              <a:rPr lang="en-US" dirty="0"/>
              <a:t>A computation independent model (CIM) </a:t>
            </a:r>
          </a:p>
          <a:p>
            <a:pPr lvl="1"/>
            <a:r>
              <a:rPr lang="en-US" dirty="0"/>
              <a:t>These model the important domain abstractions used in a system. </a:t>
            </a:r>
            <a:r>
              <a:rPr lang="en-US" dirty="0" err="1"/>
              <a:t>CIMs</a:t>
            </a:r>
            <a:r>
              <a:rPr lang="en-US" dirty="0"/>
              <a:t> are sometimes called </a:t>
            </a:r>
            <a:r>
              <a:rPr lang="en-US" b="1" dirty="0"/>
              <a:t>domain models. </a:t>
            </a:r>
          </a:p>
          <a:p>
            <a:r>
              <a:rPr lang="en-US" dirty="0"/>
              <a:t>A platform independent model (PIM) </a:t>
            </a:r>
          </a:p>
          <a:p>
            <a:pPr lvl="1"/>
            <a:r>
              <a:rPr lang="en-US" dirty="0"/>
              <a:t>These model the operation of the system without reference to its implementation. </a:t>
            </a:r>
          </a:p>
          <a:p>
            <a:pPr lvl="1"/>
            <a:r>
              <a:rPr lang="en-US" dirty="0"/>
              <a:t>The PIM is usually described using UML models that show the static system structure and how it responds to external and internal events.</a:t>
            </a:r>
          </a:p>
          <a:p>
            <a:r>
              <a:rPr lang="en-US" dirty="0"/>
              <a:t>Platform specific models (PSM) </a:t>
            </a:r>
          </a:p>
          <a:p>
            <a:pPr lvl="1"/>
            <a:r>
              <a:rPr lang="en-US" dirty="0"/>
              <a:t>Converts the PIM into a design suitable for a specific technology or platform.</a:t>
            </a:r>
            <a:br>
              <a:rPr lang="en-US" dirty="0"/>
            </a:b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04763-46F5-BFBD-9F51-7418C07CC50D}"/>
              </a:ext>
            </a:extLst>
          </p:cNvPr>
          <p:cNvSpPr>
            <a:spLocks noGrp="1"/>
          </p:cNvSpPr>
          <p:nvPr>
            <p:ph type="title"/>
          </p:nvPr>
        </p:nvSpPr>
        <p:spPr/>
        <p:txBody>
          <a:bodyPr/>
          <a:lstStyle/>
          <a:p>
            <a:r>
              <a:rPr lang="en-US" dirty="0"/>
              <a:t>Example</a:t>
            </a:r>
            <a:endParaRPr lang="en-CA" dirty="0"/>
          </a:p>
        </p:txBody>
      </p:sp>
      <p:sp>
        <p:nvSpPr>
          <p:cNvPr id="3" name="Content Placeholder 2">
            <a:extLst>
              <a:ext uri="{FF2B5EF4-FFF2-40B4-BE49-F238E27FC236}">
                <a16:creationId xmlns:a16="http://schemas.microsoft.com/office/drawing/2014/main" id="{3F3B2F5E-4B94-8FE8-9143-8E5DEFF66B78}"/>
              </a:ext>
            </a:extLst>
          </p:cNvPr>
          <p:cNvSpPr>
            <a:spLocks noGrp="1"/>
          </p:cNvSpPr>
          <p:nvPr>
            <p:ph idx="1"/>
          </p:nvPr>
        </p:nvSpPr>
        <p:spPr/>
        <p:txBody>
          <a:bodyPr/>
          <a:lstStyle/>
          <a:p>
            <a:r>
              <a:rPr lang="en-US" dirty="0"/>
              <a:t>Suppose we are designing an </a:t>
            </a:r>
            <a:r>
              <a:rPr lang="en-US" b="1" dirty="0"/>
              <a:t>online store system</a:t>
            </a:r>
            <a:r>
              <a:rPr lang="en-US" dirty="0"/>
              <a:t>:</a:t>
            </a:r>
          </a:p>
          <a:p>
            <a:pPr lvl="1">
              <a:lnSpc>
                <a:spcPct val="150000"/>
              </a:lnSpc>
            </a:pPr>
            <a:r>
              <a:rPr lang="en-US" dirty="0"/>
              <a:t>At the </a:t>
            </a:r>
            <a:r>
              <a:rPr lang="en-US" b="1" dirty="0"/>
              <a:t>CIM</a:t>
            </a:r>
            <a:r>
              <a:rPr lang="en-US" dirty="0"/>
              <a:t> level: We describe customer actions like browsing products, adding to cart, and checking out.</a:t>
            </a:r>
          </a:p>
          <a:p>
            <a:pPr lvl="1">
              <a:lnSpc>
                <a:spcPct val="150000"/>
              </a:lnSpc>
            </a:pPr>
            <a:r>
              <a:rPr lang="en-US" dirty="0"/>
              <a:t>At the </a:t>
            </a:r>
            <a:r>
              <a:rPr lang="en-US" b="1" dirty="0"/>
              <a:t>PIM</a:t>
            </a:r>
            <a:r>
              <a:rPr lang="en-US" dirty="0"/>
              <a:t> level: We define system functions like “Inventory Management” and “Payment Processing” using UML diagrams.</a:t>
            </a:r>
          </a:p>
          <a:p>
            <a:pPr lvl="1">
              <a:lnSpc>
                <a:spcPct val="150000"/>
              </a:lnSpc>
            </a:pPr>
            <a:r>
              <a:rPr lang="en-US" dirty="0"/>
              <a:t>At the </a:t>
            </a:r>
            <a:r>
              <a:rPr lang="en-US" b="1" dirty="0"/>
              <a:t>PSM</a:t>
            </a:r>
            <a:r>
              <a:rPr lang="en-US" dirty="0"/>
              <a:t> level: We specify that this system will be implemented using Java and a MySQL database.</a:t>
            </a:r>
          </a:p>
          <a:p>
            <a:pPr lvl="2">
              <a:lnSpc>
                <a:spcPct val="150000"/>
              </a:lnSpc>
            </a:pPr>
            <a:r>
              <a:rPr lang="en-US" dirty="0"/>
              <a:t>A tool can then generate the Java and SQL code from these models automatically.</a:t>
            </a:r>
          </a:p>
          <a:p>
            <a:endParaRPr lang="en-CA" dirty="0"/>
          </a:p>
        </p:txBody>
      </p:sp>
      <p:sp>
        <p:nvSpPr>
          <p:cNvPr id="4" name="Date Placeholder 3">
            <a:extLst>
              <a:ext uri="{FF2B5EF4-FFF2-40B4-BE49-F238E27FC236}">
                <a16:creationId xmlns:a16="http://schemas.microsoft.com/office/drawing/2014/main" id="{252C5578-ACDD-270A-DC36-162796522BE0}"/>
              </a:ext>
            </a:extLst>
          </p:cNvPr>
          <p:cNvSpPr>
            <a:spLocks noGrp="1"/>
          </p:cNvSpPr>
          <p:nvPr>
            <p:ph type="dt" sz="half" idx="10"/>
          </p:nvPr>
        </p:nvSpPr>
        <p:spPr/>
        <p:txBody>
          <a:bodyPr/>
          <a:lstStyle/>
          <a:p>
            <a:pPr>
              <a:defRPr/>
            </a:pPr>
            <a:r>
              <a:rPr lang="en-GB"/>
              <a:t>30/10/2014</a:t>
            </a:r>
            <a:endParaRPr lang="en-US"/>
          </a:p>
        </p:txBody>
      </p:sp>
      <p:sp>
        <p:nvSpPr>
          <p:cNvPr id="5" name="Footer Placeholder 4">
            <a:extLst>
              <a:ext uri="{FF2B5EF4-FFF2-40B4-BE49-F238E27FC236}">
                <a16:creationId xmlns:a16="http://schemas.microsoft.com/office/drawing/2014/main" id="{21CC2DA9-ECD8-AE1C-AEF8-97EFB5851620}"/>
              </a:ext>
            </a:extLst>
          </p:cNvPr>
          <p:cNvSpPr>
            <a:spLocks noGrp="1"/>
          </p:cNvSpPr>
          <p:nvPr>
            <p:ph type="ftr" sz="quarter" idx="11"/>
          </p:nvPr>
        </p:nvSpPr>
        <p:spPr/>
        <p:txBody>
          <a:bodyPr/>
          <a:lstStyle/>
          <a:p>
            <a:pPr>
              <a:defRPr/>
            </a:pPr>
            <a:r>
              <a:rPr lang="en-US"/>
              <a:t>Chapter 5 System Modeling</a:t>
            </a:r>
          </a:p>
        </p:txBody>
      </p:sp>
      <p:sp>
        <p:nvSpPr>
          <p:cNvPr id="6" name="Slide Number Placeholder 5">
            <a:extLst>
              <a:ext uri="{FF2B5EF4-FFF2-40B4-BE49-F238E27FC236}">
                <a16:creationId xmlns:a16="http://schemas.microsoft.com/office/drawing/2014/main" id="{F3398D42-4D2F-4338-D22F-FBEB2E80CEBE}"/>
              </a:ext>
            </a:extLst>
          </p:cNvPr>
          <p:cNvSpPr>
            <a:spLocks noGrp="1"/>
          </p:cNvSpPr>
          <p:nvPr>
            <p:ph type="sldNum" sz="quarter" idx="12"/>
          </p:nvPr>
        </p:nvSpPr>
        <p:spPr/>
        <p:txBody>
          <a:bodyPr/>
          <a:lstStyle/>
          <a:p>
            <a:pPr>
              <a:defRPr/>
            </a:pPr>
            <a:fld id="{DEC9DA09-039A-A841-BA90-58CFCFBF8E01}" type="slidenum">
              <a:rPr lang="en-US" smtClean="0"/>
              <a:pPr>
                <a:defRPr/>
              </a:pPr>
              <a:t>57</a:t>
            </a:fld>
            <a:endParaRPr lang="en-US"/>
          </a:p>
        </p:txBody>
      </p:sp>
    </p:spTree>
    <p:extLst>
      <p:ext uri="{BB962C8B-B14F-4D97-AF65-F5344CB8AC3E}">
        <p14:creationId xmlns:p14="http://schemas.microsoft.com/office/powerpoint/2010/main" val="4082687760"/>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MDA transformations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58</a:t>
            </a:fld>
            <a:endParaRPr lang="en-US"/>
          </a:p>
        </p:txBody>
      </p:sp>
      <p:pic>
        <p:nvPicPr>
          <p:cNvPr id="4" name="Picture 3" descr="5.19 MDA-Transformations.eps"/>
          <p:cNvPicPr>
            <a:picLocks noChangeAspect="1"/>
          </p:cNvPicPr>
          <p:nvPr/>
        </p:nvPicPr>
        <p:blipFill>
          <a:blip r:embed="rId3"/>
          <a:stretch>
            <a:fillRect/>
          </a:stretch>
        </p:blipFill>
        <p:spPr>
          <a:xfrm>
            <a:off x="1365250" y="2273300"/>
            <a:ext cx="6789738" cy="28067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Multiple platform-specific models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59</a:t>
            </a:fld>
            <a:endParaRPr lang="en-US"/>
          </a:p>
        </p:txBody>
      </p:sp>
      <p:pic>
        <p:nvPicPr>
          <p:cNvPr id="4" name="Picture 3" descr="5.20 Multiple PSMs.eps"/>
          <p:cNvPicPr>
            <a:picLocks noChangeAspect="1"/>
          </p:cNvPicPr>
          <p:nvPr/>
        </p:nvPicPr>
        <p:blipFill>
          <a:blip r:embed="rId3"/>
          <a:stretch>
            <a:fillRect/>
          </a:stretch>
        </p:blipFill>
        <p:spPr>
          <a:xfrm>
            <a:off x="857250" y="2438400"/>
            <a:ext cx="7117940" cy="25146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5" name="Content Placeholder 4"/>
          <p:cNvSpPr>
            <a:spLocks noGrp="1"/>
          </p:cNvSpPr>
          <p:nvPr>
            <p:ph idx="1"/>
          </p:nvPr>
        </p:nvSpPr>
        <p:spPr/>
        <p:txBody>
          <a:bodyPr/>
          <a:lstStyle/>
          <a:p>
            <a:r>
              <a:rPr lang="en-GB" sz="2000" dirty="0"/>
              <a:t>A model is an abstract view of a system that ignores system details. Complementary system models can be developed to show the system’s context, interactions, structure and behaviour.</a:t>
            </a:r>
          </a:p>
          <a:p>
            <a:r>
              <a:rPr lang="en-GB" sz="2000" dirty="0"/>
              <a:t>Context models show how a system that is being </a:t>
            </a:r>
            <a:r>
              <a:rPr lang="en-US" sz="2000" dirty="0"/>
              <a:t>modeled is positioned in an environment with other systems and processes. </a:t>
            </a:r>
            <a:endParaRPr lang="en-GB" sz="2000" dirty="0"/>
          </a:p>
          <a:p>
            <a:r>
              <a:rPr lang="en-US" sz="2000" dirty="0"/>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endParaRPr lang="en-GB" sz="2000" dirty="0"/>
          </a:p>
          <a:p>
            <a:r>
              <a:rPr lang="en-US" sz="2000" dirty="0"/>
              <a:t>Structural models show the organization and architecture of a system. Class diagrams are used to define the static structure of classes in a system and their associations.</a:t>
            </a:r>
            <a:endParaRPr lang="en-GB" sz="2000" dirty="0"/>
          </a:p>
          <a:p>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60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320102005"/>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5" name="Content Placeholder 4"/>
          <p:cNvSpPr>
            <a:spLocks noGrp="1"/>
          </p:cNvSpPr>
          <p:nvPr>
            <p:ph idx="1"/>
          </p:nvPr>
        </p:nvSpPr>
        <p:spPr/>
        <p:txBody>
          <a:bodyPr/>
          <a:lstStyle/>
          <a:p>
            <a:r>
              <a:rPr lang="en-US" sz="2200" dirty="0"/>
              <a:t>Behavioral models are used to describe the dynamic behavior of an executing system. This behavior can be modeled from the perspective of the data processed by the system, or by the events that stimulate responses from a system.</a:t>
            </a:r>
            <a:endParaRPr lang="en-GB" sz="2200" dirty="0"/>
          </a:p>
          <a:p>
            <a:r>
              <a:rPr lang="en-US" sz="2200" dirty="0"/>
              <a:t>Activity diagrams may be used to model the processing of data, where each activity represents one process step.</a:t>
            </a:r>
            <a:endParaRPr lang="en-GB" sz="2200" dirty="0"/>
          </a:p>
          <a:p>
            <a:r>
              <a:rPr lang="en-US" sz="2200" dirty="0"/>
              <a:t>State diagrams are used to model a system’s behavior in response to internal or external events. </a:t>
            </a:r>
            <a:endParaRPr lang="en-GB" sz="2200" dirty="0"/>
          </a:p>
          <a:p>
            <a:r>
              <a:rPr lang="en-US" sz="2200" dirty="0"/>
              <a:t>Model-driven engineering is an approach to software development in which a system is represented as a set of models that can be automatically transformed to executable code. </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61</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3769</TotalTime>
  <Words>3964</Words>
  <Application>Microsoft Office PowerPoint</Application>
  <PresentationFormat>On-screen Show (4:3)</PresentationFormat>
  <Paragraphs>526</Paragraphs>
  <Slides>61</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Arial</vt:lpstr>
      <vt:lpstr>Calibri</vt:lpstr>
      <vt:lpstr>Wingdings</vt:lpstr>
      <vt:lpstr>SE10 slides</vt:lpstr>
      <vt:lpstr>Chapter 5 – System Modeling</vt:lpstr>
      <vt:lpstr>Topics covered</vt:lpstr>
      <vt:lpstr>System modeling</vt:lpstr>
      <vt:lpstr>Existing and planned system models</vt:lpstr>
      <vt:lpstr>System perspectives</vt:lpstr>
      <vt:lpstr>UML diagram types</vt:lpstr>
      <vt:lpstr>Use of graphical models</vt:lpstr>
      <vt:lpstr>Context models</vt:lpstr>
      <vt:lpstr>Context models</vt:lpstr>
      <vt:lpstr>System boundaries</vt:lpstr>
      <vt:lpstr>System boundaries</vt:lpstr>
      <vt:lpstr>System boundaries</vt:lpstr>
      <vt:lpstr>The context of the Mentcare system</vt:lpstr>
      <vt:lpstr>Process perspective</vt:lpstr>
      <vt:lpstr>Process perspective</vt:lpstr>
      <vt:lpstr>Process model of involuntary detention </vt:lpstr>
      <vt:lpstr>Interaction models</vt:lpstr>
      <vt:lpstr>Interaction models</vt:lpstr>
      <vt:lpstr>Interaction models</vt:lpstr>
      <vt:lpstr>Use case modeling</vt:lpstr>
      <vt:lpstr>Transfer-data use case </vt:lpstr>
      <vt:lpstr>Tabular description of the ‘Transfer data’ use-case </vt:lpstr>
      <vt:lpstr>Use cases in the Mentcare system involving the role ‘Medical Receptionist’ </vt:lpstr>
      <vt:lpstr>Sequence diagrams</vt:lpstr>
      <vt:lpstr>Sequence diagram for View patient information </vt:lpstr>
      <vt:lpstr>Sequence diagram for Transfer Data </vt:lpstr>
      <vt:lpstr>Structural models</vt:lpstr>
      <vt:lpstr>Structural models</vt:lpstr>
      <vt:lpstr>Class diagrams</vt:lpstr>
      <vt:lpstr>UML classes and association </vt:lpstr>
      <vt:lpstr>Classes and associations in the MHC-PMS </vt:lpstr>
      <vt:lpstr>The Consultation class </vt:lpstr>
      <vt:lpstr>Generalization</vt:lpstr>
      <vt:lpstr>Generalization</vt:lpstr>
      <vt:lpstr>A generalization hierarchy </vt:lpstr>
      <vt:lpstr>A generalization hierarchy with added detail </vt:lpstr>
      <vt:lpstr>Object class aggregation models</vt:lpstr>
      <vt:lpstr>The aggregation association </vt:lpstr>
      <vt:lpstr>Behavioral models</vt:lpstr>
      <vt:lpstr>Behavioral models</vt:lpstr>
      <vt:lpstr>Data-driven modeling</vt:lpstr>
      <vt:lpstr>An activity model of the insulin pump’s operation </vt:lpstr>
      <vt:lpstr>Order processing </vt:lpstr>
      <vt:lpstr>Event-driven modeling</vt:lpstr>
      <vt:lpstr>State machine models</vt:lpstr>
      <vt:lpstr>State diagram of a microwave oven </vt:lpstr>
      <vt:lpstr>Microwave oven operation </vt:lpstr>
      <vt:lpstr>States and stimuli for the microwave oven (a) </vt:lpstr>
      <vt:lpstr>States and stimuli for the microwave oven (b) </vt:lpstr>
      <vt:lpstr>Model-driven engineering</vt:lpstr>
      <vt:lpstr>Model-driven engineering</vt:lpstr>
      <vt:lpstr>Model-driven engineering</vt:lpstr>
      <vt:lpstr>Model-driven engineering</vt:lpstr>
      <vt:lpstr>Model driven architecture</vt:lpstr>
      <vt:lpstr>Model driven architecture</vt:lpstr>
      <vt:lpstr>MDA defines models at three main levels</vt:lpstr>
      <vt:lpstr>Example</vt:lpstr>
      <vt:lpstr>MDA transformations</vt:lpstr>
      <vt:lpstr>Multiple platform-specific models </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Shimaa Abdelmeguid</cp:lastModifiedBy>
  <cp:revision>26</cp:revision>
  <dcterms:created xsi:type="dcterms:W3CDTF">2010-01-15T13:50:47Z</dcterms:created>
  <dcterms:modified xsi:type="dcterms:W3CDTF">2026-02-11T19:56:52Z</dcterms:modified>
</cp:coreProperties>
</file>