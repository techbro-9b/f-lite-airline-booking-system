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5"/>
  </p:notesMasterIdLst>
  <p:handoutMasterIdLst>
    <p:handoutMasterId r:id="rId66"/>
  </p:handoutMasterIdLst>
  <p:sldIdLst>
    <p:sldId id="256" r:id="rId2"/>
    <p:sldId id="266" r:id="rId3"/>
    <p:sldId id="296" r:id="rId4"/>
    <p:sldId id="323" r:id="rId5"/>
    <p:sldId id="258" r:id="rId6"/>
    <p:sldId id="324" r:id="rId7"/>
    <p:sldId id="322" r:id="rId8"/>
    <p:sldId id="268" r:id="rId9"/>
    <p:sldId id="297" r:id="rId10"/>
    <p:sldId id="257" r:id="rId11"/>
    <p:sldId id="298" r:id="rId12"/>
    <p:sldId id="320" r:id="rId13"/>
    <p:sldId id="271" r:id="rId14"/>
    <p:sldId id="259" r:id="rId15"/>
    <p:sldId id="260" r:id="rId16"/>
    <p:sldId id="265" r:id="rId17"/>
    <p:sldId id="275" r:id="rId18"/>
    <p:sldId id="330" r:id="rId19"/>
    <p:sldId id="276" r:id="rId20"/>
    <p:sldId id="261" r:id="rId21"/>
    <p:sldId id="339" r:id="rId22"/>
    <p:sldId id="262" r:id="rId23"/>
    <p:sldId id="278" r:id="rId24"/>
    <p:sldId id="301" r:id="rId25"/>
    <p:sldId id="303" r:id="rId26"/>
    <p:sldId id="279" r:id="rId27"/>
    <p:sldId id="282" r:id="rId28"/>
    <p:sldId id="305" r:id="rId29"/>
    <p:sldId id="263" r:id="rId30"/>
    <p:sldId id="306" r:id="rId31"/>
    <p:sldId id="307" r:id="rId32"/>
    <p:sldId id="283" r:id="rId33"/>
    <p:sldId id="295" r:id="rId34"/>
    <p:sldId id="318" r:id="rId35"/>
    <p:sldId id="287" r:id="rId36"/>
    <p:sldId id="309" r:id="rId37"/>
    <p:sldId id="331" r:id="rId38"/>
    <p:sldId id="332" r:id="rId39"/>
    <p:sldId id="340" r:id="rId40"/>
    <p:sldId id="313" r:id="rId41"/>
    <p:sldId id="293" r:id="rId42"/>
    <p:sldId id="294" r:id="rId43"/>
    <p:sldId id="310" r:id="rId44"/>
    <p:sldId id="311" r:id="rId45"/>
    <p:sldId id="341" r:id="rId46"/>
    <p:sldId id="314" r:id="rId47"/>
    <p:sldId id="321" r:id="rId48"/>
    <p:sldId id="288" r:id="rId49"/>
    <p:sldId id="312" r:id="rId50"/>
    <p:sldId id="325" r:id="rId51"/>
    <p:sldId id="342" r:id="rId52"/>
    <p:sldId id="333" r:id="rId53"/>
    <p:sldId id="326" r:id="rId54"/>
    <p:sldId id="334" r:id="rId55"/>
    <p:sldId id="327" r:id="rId56"/>
    <p:sldId id="335" r:id="rId57"/>
    <p:sldId id="336" r:id="rId58"/>
    <p:sldId id="315" r:id="rId59"/>
    <p:sldId id="328" r:id="rId60"/>
    <p:sldId id="329" r:id="rId61"/>
    <p:sldId id="337" r:id="rId62"/>
    <p:sldId id="319" r:id="rId63"/>
    <p:sldId id="267" r:id="rId6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BA785-BFEB-44F8-A4B2-A3F045E82B6E}" v="1" dt="2026-01-21T18:05:04.0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73898" autoAdjust="0"/>
  </p:normalViewPr>
  <p:slideViewPr>
    <p:cSldViewPr snapToGrid="0" snapToObjects="1">
      <p:cViewPr varScale="1">
        <p:scale>
          <a:sx n="70" d="100"/>
          <a:sy n="70" d="100"/>
        </p:scale>
        <p:origin x="1618" y="58"/>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96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aa Abdelmeguid" userId="47fd2e4c-d07d-4c27-b7bc-d96a4ea2e7cf" providerId="ADAL" clId="{13C3C948-E538-4E74-ABA6-FB3B14096097}"/>
    <pc:docChg chg="custSel addSld delSld modSld">
      <pc:chgData name="Shimaa Abdelmeguid" userId="47fd2e4c-d07d-4c27-b7bc-d96a4ea2e7cf" providerId="ADAL" clId="{13C3C948-E538-4E74-ABA6-FB3B14096097}" dt="2026-01-21T18:06:52.301" v="118" actId="6549"/>
      <pc:docMkLst>
        <pc:docMk/>
      </pc:docMkLst>
      <pc:sldChg chg="modNotesTx">
        <pc:chgData name="Shimaa Abdelmeguid" userId="47fd2e4c-d07d-4c27-b7bc-d96a4ea2e7cf" providerId="ADAL" clId="{13C3C948-E538-4E74-ABA6-FB3B14096097}" dt="2026-01-21T15:37:00.184" v="0" actId="6549"/>
        <pc:sldMkLst>
          <pc:docMk/>
          <pc:sldMk cId="0" sldId="256"/>
        </pc:sldMkLst>
      </pc:sldChg>
      <pc:sldChg chg="modNotes modNotesTx">
        <pc:chgData name="Shimaa Abdelmeguid" userId="47fd2e4c-d07d-4c27-b7bc-d96a4ea2e7cf" providerId="ADAL" clId="{13C3C948-E538-4E74-ABA6-FB3B14096097}" dt="2026-01-21T18:05:04.183" v="67" actId="27636"/>
        <pc:sldMkLst>
          <pc:docMk/>
          <pc:sldMk cId="0" sldId="257"/>
        </pc:sldMkLst>
      </pc:sldChg>
      <pc:sldChg chg="modNotes modNotesTx">
        <pc:chgData name="Shimaa Abdelmeguid" userId="47fd2e4c-d07d-4c27-b7bc-d96a4ea2e7cf" providerId="ADAL" clId="{13C3C948-E538-4E74-ABA6-FB3B14096097}" dt="2026-01-21T18:05:04.181" v="64" actId="27636"/>
        <pc:sldMkLst>
          <pc:docMk/>
          <pc:sldMk cId="0" sldId="258"/>
        </pc:sldMkLst>
      </pc:sldChg>
      <pc:sldChg chg="modNotes modNotesTx">
        <pc:chgData name="Shimaa Abdelmeguid" userId="47fd2e4c-d07d-4c27-b7bc-d96a4ea2e7cf" providerId="ADAL" clId="{13C3C948-E538-4E74-ABA6-FB3B14096097}" dt="2026-01-21T18:05:04.187" v="70" actId="27636"/>
        <pc:sldMkLst>
          <pc:docMk/>
          <pc:sldMk cId="0" sldId="259"/>
        </pc:sldMkLst>
      </pc:sldChg>
      <pc:sldChg chg="modNotes modNotesTx">
        <pc:chgData name="Shimaa Abdelmeguid" userId="47fd2e4c-d07d-4c27-b7bc-d96a4ea2e7cf" providerId="ADAL" clId="{13C3C948-E538-4E74-ABA6-FB3B14096097}" dt="2026-01-21T18:05:04.187" v="71" actId="27636"/>
        <pc:sldMkLst>
          <pc:docMk/>
          <pc:sldMk cId="0" sldId="260"/>
        </pc:sldMkLst>
      </pc:sldChg>
      <pc:sldChg chg="modNotesTx">
        <pc:chgData name="Shimaa Abdelmeguid" userId="47fd2e4c-d07d-4c27-b7bc-d96a4ea2e7cf" providerId="ADAL" clId="{13C3C948-E538-4E74-ABA6-FB3B14096097}" dt="2026-01-21T15:38:09.924" v="19" actId="6549"/>
        <pc:sldMkLst>
          <pc:docMk/>
          <pc:sldMk cId="0" sldId="261"/>
        </pc:sldMkLst>
      </pc:sldChg>
      <pc:sldChg chg="modNotesTx">
        <pc:chgData name="Shimaa Abdelmeguid" userId="47fd2e4c-d07d-4c27-b7bc-d96a4ea2e7cf" providerId="ADAL" clId="{13C3C948-E538-4E74-ABA6-FB3B14096097}" dt="2026-01-21T15:38:15.024" v="20" actId="6549"/>
        <pc:sldMkLst>
          <pc:docMk/>
          <pc:sldMk cId="0" sldId="262"/>
        </pc:sldMkLst>
      </pc:sldChg>
      <pc:sldChg chg="modNotesTx">
        <pc:chgData name="Shimaa Abdelmeguid" userId="47fd2e4c-d07d-4c27-b7bc-d96a4ea2e7cf" providerId="ADAL" clId="{13C3C948-E538-4E74-ABA6-FB3B14096097}" dt="2026-01-21T15:38:37.154" v="27" actId="6549"/>
        <pc:sldMkLst>
          <pc:docMk/>
          <pc:sldMk cId="0" sldId="263"/>
        </pc:sldMkLst>
      </pc:sldChg>
      <pc:sldChg chg="modNotes modNotesTx">
        <pc:chgData name="Shimaa Abdelmeguid" userId="47fd2e4c-d07d-4c27-b7bc-d96a4ea2e7cf" providerId="ADAL" clId="{13C3C948-E538-4E74-ABA6-FB3B14096097}" dt="2026-01-21T18:05:04.187" v="72" actId="27636"/>
        <pc:sldMkLst>
          <pc:docMk/>
          <pc:sldMk cId="0" sldId="265"/>
        </pc:sldMkLst>
      </pc:sldChg>
      <pc:sldChg chg="modNotesTx">
        <pc:chgData name="Shimaa Abdelmeguid" userId="47fd2e4c-d07d-4c27-b7bc-d96a4ea2e7cf" providerId="ADAL" clId="{13C3C948-E538-4E74-ABA6-FB3B14096097}" dt="2026-01-21T15:37:07.101" v="1" actId="6549"/>
        <pc:sldMkLst>
          <pc:docMk/>
          <pc:sldMk cId="0" sldId="266"/>
        </pc:sldMkLst>
      </pc:sldChg>
      <pc:sldChg chg="add del">
        <pc:chgData name="Shimaa Abdelmeguid" userId="47fd2e4c-d07d-4c27-b7bc-d96a4ea2e7cf" providerId="ADAL" clId="{13C3C948-E538-4E74-ABA6-FB3B14096097}" dt="2026-01-21T18:05:04.017" v="61"/>
        <pc:sldMkLst>
          <pc:docMk/>
          <pc:sldMk cId="0" sldId="267"/>
        </pc:sldMkLst>
      </pc:sldChg>
      <pc:sldChg chg="modNotesTx">
        <pc:chgData name="Shimaa Abdelmeguid" userId="47fd2e4c-d07d-4c27-b7bc-d96a4ea2e7cf" providerId="ADAL" clId="{13C3C948-E538-4E74-ABA6-FB3B14096097}" dt="2026-01-21T15:37:27.428" v="7" actId="6549"/>
        <pc:sldMkLst>
          <pc:docMk/>
          <pc:sldMk cId="0" sldId="268"/>
        </pc:sldMkLst>
      </pc:sldChg>
      <pc:sldChg chg="modNotes modNotesTx">
        <pc:chgData name="Shimaa Abdelmeguid" userId="47fd2e4c-d07d-4c27-b7bc-d96a4ea2e7cf" providerId="ADAL" clId="{13C3C948-E538-4E74-ABA6-FB3B14096097}" dt="2026-01-21T18:05:04.187" v="69" actId="27636"/>
        <pc:sldMkLst>
          <pc:docMk/>
          <pc:sldMk cId="0" sldId="271"/>
        </pc:sldMkLst>
      </pc:sldChg>
      <pc:sldChg chg="modNotes modNotesTx">
        <pc:chgData name="Shimaa Abdelmeguid" userId="47fd2e4c-d07d-4c27-b7bc-d96a4ea2e7cf" providerId="ADAL" clId="{13C3C948-E538-4E74-ABA6-FB3B14096097}" dt="2026-01-21T18:05:04.187" v="73" actId="27636"/>
        <pc:sldMkLst>
          <pc:docMk/>
          <pc:sldMk cId="0" sldId="275"/>
        </pc:sldMkLst>
      </pc:sldChg>
      <pc:sldChg chg="modNotes modNotesTx">
        <pc:chgData name="Shimaa Abdelmeguid" userId="47fd2e4c-d07d-4c27-b7bc-d96a4ea2e7cf" providerId="ADAL" clId="{13C3C948-E538-4E74-ABA6-FB3B14096097}" dt="2026-01-21T18:05:04.204" v="75" actId="27636"/>
        <pc:sldMkLst>
          <pc:docMk/>
          <pc:sldMk cId="0" sldId="276"/>
        </pc:sldMkLst>
      </pc:sldChg>
      <pc:sldChg chg="modNotesTx">
        <pc:chgData name="Shimaa Abdelmeguid" userId="47fd2e4c-d07d-4c27-b7bc-d96a4ea2e7cf" providerId="ADAL" clId="{13C3C948-E538-4E74-ABA6-FB3B14096097}" dt="2026-01-21T15:38:19.129" v="21" actId="6549"/>
        <pc:sldMkLst>
          <pc:docMk/>
          <pc:sldMk cId="0" sldId="278"/>
        </pc:sldMkLst>
      </pc:sldChg>
      <pc:sldChg chg="modNotes modNotesTx">
        <pc:chgData name="Shimaa Abdelmeguid" userId="47fd2e4c-d07d-4c27-b7bc-d96a4ea2e7cf" providerId="ADAL" clId="{13C3C948-E538-4E74-ABA6-FB3B14096097}" dt="2026-01-21T18:05:04.214" v="78" actId="27636"/>
        <pc:sldMkLst>
          <pc:docMk/>
          <pc:sldMk cId="0" sldId="279"/>
        </pc:sldMkLst>
      </pc:sldChg>
      <pc:sldChg chg="modNotes modNotesTx">
        <pc:chgData name="Shimaa Abdelmeguid" userId="47fd2e4c-d07d-4c27-b7bc-d96a4ea2e7cf" providerId="ADAL" clId="{13C3C948-E538-4E74-ABA6-FB3B14096097}" dt="2026-01-21T18:05:04.220" v="79" actId="27636"/>
        <pc:sldMkLst>
          <pc:docMk/>
          <pc:sldMk cId="0" sldId="282"/>
        </pc:sldMkLst>
      </pc:sldChg>
      <pc:sldChg chg="modNotes modNotesTx">
        <pc:chgData name="Shimaa Abdelmeguid" userId="47fd2e4c-d07d-4c27-b7bc-d96a4ea2e7cf" providerId="ADAL" clId="{13C3C948-E538-4E74-ABA6-FB3B14096097}" dt="2026-01-21T18:05:04.220" v="83" actId="27636"/>
        <pc:sldMkLst>
          <pc:docMk/>
          <pc:sldMk cId="0" sldId="283"/>
        </pc:sldMkLst>
      </pc:sldChg>
      <pc:sldChg chg="add del modNotesTx">
        <pc:chgData name="Shimaa Abdelmeguid" userId="47fd2e4c-d07d-4c27-b7bc-d96a4ea2e7cf" providerId="ADAL" clId="{13C3C948-E538-4E74-ABA6-FB3B14096097}" dt="2026-01-21T18:05:16.498" v="92" actId="6549"/>
        <pc:sldMkLst>
          <pc:docMk/>
          <pc:sldMk cId="0" sldId="287"/>
        </pc:sldMkLst>
      </pc:sldChg>
      <pc:sldChg chg="add del modNotesTx">
        <pc:chgData name="Shimaa Abdelmeguid" userId="47fd2e4c-d07d-4c27-b7bc-d96a4ea2e7cf" providerId="ADAL" clId="{13C3C948-E538-4E74-ABA6-FB3B14096097}" dt="2026-01-21T18:06:03.959" v="105" actId="6549"/>
        <pc:sldMkLst>
          <pc:docMk/>
          <pc:sldMk cId="0" sldId="288"/>
        </pc:sldMkLst>
      </pc:sldChg>
      <pc:sldChg chg="add del modNotesTx">
        <pc:chgData name="Shimaa Abdelmeguid" userId="47fd2e4c-d07d-4c27-b7bc-d96a4ea2e7cf" providerId="ADAL" clId="{13C3C948-E538-4E74-ABA6-FB3B14096097}" dt="2026-01-21T18:05:37.178" v="98" actId="6549"/>
        <pc:sldMkLst>
          <pc:docMk/>
          <pc:sldMk cId="0" sldId="293"/>
        </pc:sldMkLst>
      </pc:sldChg>
      <pc:sldChg chg="add del modNotesTx">
        <pc:chgData name="Shimaa Abdelmeguid" userId="47fd2e4c-d07d-4c27-b7bc-d96a4ea2e7cf" providerId="ADAL" clId="{13C3C948-E538-4E74-ABA6-FB3B14096097}" dt="2026-01-21T18:05:40.394" v="99" actId="6549"/>
        <pc:sldMkLst>
          <pc:docMk/>
          <pc:sldMk cId="0" sldId="294"/>
        </pc:sldMkLst>
      </pc:sldChg>
      <pc:sldChg chg="modNotes modNotesTx">
        <pc:chgData name="Shimaa Abdelmeguid" userId="47fd2e4c-d07d-4c27-b7bc-d96a4ea2e7cf" providerId="ADAL" clId="{13C3C948-E538-4E74-ABA6-FB3B14096097}" dt="2026-01-21T18:05:04.220" v="84" actId="27636"/>
        <pc:sldMkLst>
          <pc:docMk/>
          <pc:sldMk cId="0" sldId="295"/>
        </pc:sldMkLst>
      </pc:sldChg>
      <pc:sldChg chg="modNotes modNotesTx">
        <pc:chgData name="Shimaa Abdelmeguid" userId="47fd2e4c-d07d-4c27-b7bc-d96a4ea2e7cf" providerId="ADAL" clId="{13C3C948-E538-4E74-ABA6-FB3B14096097}" dt="2026-01-21T18:05:04.176" v="62" actId="27636"/>
        <pc:sldMkLst>
          <pc:docMk/>
          <pc:sldMk cId="0" sldId="296"/>
        </pc:sldMkLst>
      </pc:sldChg>
      <pc:sldChg chg="modNotes modNotesTx">
        <pc:chgData name="Shimaa Abdelmeguid" userId="47fd2e4c-d07d-4c27-b7bc-d96a4ea2e7cf" providerId="ADAL" clId="{13C3C948-E538-4E74-ABA6-FB3B14096097}" dt="2026-01-21T18:05:04.183" v="66" actId="27636"/>
        <pc:sldMkLst>
          <pc:docMk/>
          <pc:sldMk cId="0" sldId="297"/>
        </pc:sldMkLst>
      </pc:sldChg>
      <pc:sldChg chg="modNotes modNotesTx">
        <pc:chgData name="Shimaa Abdelmeguid" userId="47fd2e4c-d07d-4c27-b7bc-d96a4ea2e7cf" providerId="ADAL" clId="{13C3C948-E538-4E74-ABA6-FB3B14096097}" dt="2026-01-21T18:05:04.187" v="68" actId="27636"/>
        <pc:sldMkLst>
          <pc:docMk/>
          <pc:sldMk cId="0" sldId="298"/>
        </pc:sldMkLst>
      </pc:sldChg>
      <pc:sldChg chg="modNotes modNotesTx">
        <pc:chgData name="Shimaa Abdelmeguid" userId="47fd2e4c-d07d-4c27-b7bc-d96a4ea2e7cf" providerId="ADAL" clId="{13C3C948-E538-4E74-ABA6-FB3B14096097}" dt="2026-01-21T18:05:04.204" v="76" actId="27636"/>
        <pc:sldMkLst>
          <pc:docMk/>
          <pc:sldMk cId="0" sldId="301"/>
        </pc:sldMkLst>
      </pc:sldChg>
      <pc:sldChg chg="modNotes modNotesTx">
        <pc:chgData name="Shimaa Abdelmeguid" userId="47fd2e4c-d07d-4c27-b7bc-d96a4ea2e7cf" providerId="ADAL" clId="{13C3C948-E538-4E74-ABA6-FB3B14096097}" dt="2026-01-21T18:05:04.204" v="77" actId="27636"/>
        <pc:sldMkLst>
          <pc:docMk/>
          <pc:sldMk cId="0" sldId="303"/>
        </pc:sldMkLst>
      </pc:sldChg>
      <pc:sldChg chg="modNotes modNotesTx">
        <pc:chgData name="Shimaa Abdelmeguid" userId="47fd2e4c-d07d-4c27-b7bc-d96a4ea2e7cf" providerId="ADAL" clId="{13C3C948-E538-4E74-ABA6-FB3B14096097}" dt="2026-01-21T18:05:04.220" v="80" actId="27636"/>
        <pc:sldMkLst>
          <pc:docMk/>
          <pc:sldMk cId="0" sldId="305"/>
        </pc:sldMkLst>
      </pc:sldChg>
      <pc:sldChg chg="modNotes modNotesTx">
        <pc:chgData name="Shimaa Abdelmeguid" userId="47fd2e4c-d07d-4c27-b7bc-d96a4ea2e7cf" providerId="ADAL" clId="{13C3C948-E538-4E74-ABA6-FB3B14096097}" dt="2026-01-21T18:05:04.220" v="81" actId="27636"/>
        <pc:sldMkLst>
          <pc:docMk/>
          <pc:sldMk cId="0" sldId="306"/>
        </pc:sldMkLst>
      </pc:sldChg>
      <pc:sldChg chg="modNotes modNotesTx">
        <pc:chgData name="Shimaa Abdelmeguid" userId="47fd2e4c-d07d-4c27-b7bc-d96a4ea2e7cf" providerId="ADAL" clId="{13C3C948-E538-4E74-ABA6-FB3B14096097}" dt="2026-01-21T18:05:04.220" v="82" actId="27636"/>
        <pc:sldMkLst>
          <pc:docMk/>
          <pc:sldMk cId="0" sldId="307"/>
        </pc:sldMkLst>
      </pc:sldChg>
      <pc:sldChg chg="add del modNotesTx">
        <pc:chgData name="Shimaa Abdelmeguid" userId="47fd2e4c-d07d-4c27-b7bc-d96a4ea2e7cf" providerId="ADAL" clId="{13C3C948-E538-4E74-ABA6-FB3B14096097}" dt="2026-01-21T18:05:19.735" v="93" actId="6549"/>
        <pc:sldMkLst>
          <pc:docMk/>
          <pc:sldMk cId="0" sldId="309"/>
        </pc:sldMkLst>
      </pc:sldChg>
      <pc:sldChg chg="add del modNotesTx">
        <pc:chgData name="Shimaa Abdelmeguid" userId="47fd2e4c-d07d-4c27-b7bc-d96a4ea2e7cf" providerId="ADAL" clId="{13C3C948-E538-4E74-ABA6-FB3B14096097}" dt="2026-01-21T18:05:44.001" v="100" actId="6549"/>
        <pc:sldMkLst>
          <pc:docMk/>
          <pc:sldMk cId="0" sldId="310"/>
        </pc:sldMkLst>
      </pc:sldChg>
      <pc:sldChg chg="add del modNotesTx">
        <pc:chgData name="Shimaa Abdelmeguid" userId="47fd2e4c-d07d-4c27-b7bc-d96a4ea2e7cf" providerId="ADAL" clId="{13C3C948-E538-4E74-ABA6-FB3B14096097}" dt="2026-01-21T18:05:47.452" v="101" actId="6549"/>
        <pc:sldMkLst>
          <pc:docMk/>
          <pc:sldMk cId="0" sldId="311"/>
        </pc:sldMkLst>
      </pc:sldChg>
      <pc:sldChg chg="add del modNotes modNotesTx">
        <pc:chgData name="Shimaa Abdelmeguid" userId="47fd2e4c-d07d-4c27-b7bc-d96a4ea2e7cf" providerId="ADAL" clId="{13C3C948-E538-4E74-ABA6-FB3B14096097}" dt="2026-01-21T18:06:07.153" v="106" actId="6549"/>
        <pc:sldMkLst>
          <pc:docMk/>
          <pc:sldMk cId="0" sldId="312"/>
        </pc:sldMkLst>
      </pc:sldChg>
      <pc:sldChg chg="add del modNotesTx">
        <pc:chgData name="Shimaa Abdelmeguid" userId="47fd2e4c-d07d-4c27-b7bc-d96a4ea2e7cf" providerId="ADAL" clId="{13C3C948-E538-4E74-ABA6-FB3B14096097}" dt="2026-01-21T18:05:32.684" v="97" actId="6549"/>
        <pc:sldMkLst>
          <pc:docMk/>
          <pc:sldMk cId="1660574033" sldId="313"/>
        </pc:sldMkLst>
      </pc:sldChg>
      <pc:sldChg chg="add del modNotes modNotesTx">
        <pc:chgData name="Shimaa Abdelmeguid" userId="47fd2e4c-d07d-4c27-b7bc-d96a4ea2e7cf" providerId="ADAL" clId="{13C3C948-E538-4E74-ABA6-FB3B14096097}" dt="2026-01-21T18:05:56.941" v="103" actId="6549"/>
        <pc:sldMkLst>
          <pc:docMk/>
          <pc:sldMk cId="2057772794" sldId="314"/>
        </pc:sldMkLst>
      </pc:sldChg>
      <pc:sldChg chg="add del modNotesTx">
        <pc:chgData name="Shimaa Abdelmeguid" userId="47fd2e4c-d07d-4c27-b7bc-d96a4ea2e7cf" providerId="ADAL" clId="{13C3C948-E538-4E74-ABA6-FB3B14096097}" dt="2026-01-21T18:06:39.894" v="115" actId="6549"/>
        <pc:sldMkLst>
          <pc:docMk/>
          <pc:sldMk cId="3099963659" sldId="315"/>
        </pc:sldMkLst>
      </pc:sldChg>
      <pc:sldChg chg="add del modNotesTx">
        <pc:chgData name="Shimaa Abdelmeguid" userId="47fd2e4c-d07d-4c27-b7bc-d96a4ea2e7cf" providerId="ADAL" clId="{13C3C948-E538-4E74-ABA6-FB3B14096097}" dt="2026-01-21T18:05:12.177" v="91" actId="6549"/>
        <pc:sldMkLst>
          <pc:docMk/>
          <pc:sldMk cId="982006760" sldId="318"/>
        </pc:sldMkLst>
      </pc:sldChg>
      <pc:sldChg chg="add del">
        <pc:chgData name="Shimaa Abdelmeguid" userId="47fd2e4c-d07d-4c27-b7bc-d96a4ea2e7cf" providerId="ADAL" clId="{13C3C948-E538-4E74-ABA6-FB3B14096097}" dt="2026-01-21T18:05:04.017" v="61"/>
        <pc:sldMkLst>
          <pc:docMk/>
          <pc:sldMk cId="3892022605" sldId="319"/>
        </pc:sldMkLst>
      </pc:sldChg>
      <pc:sldChg chg="modNotesTx">
        <pc:chgData name="Shimaa Abdelmeguid" userId="47fd2e4c-d07d-4c27-b7bc-d96a4ea2e7cf" providerId="ADAL" clId="{13C3C948-E538-4E74-ABA6-FB3B14096097}" dt="2026-01-21T15:37:40.344" v="11" actId="6549"/>
        <pc:sldMkLst>
          <pc:docMk/>
          <pc:sldMk cId="2013893865" sldId="320"/>
        </pc:sldMkLst>
      </pc:sldChg>
      <pc:sldChg chg="add del modNotesTx">
        <pc:chgData name="Shimaa Abdelmeguid" userId="47fd2e4c-d07d-4c27-b7bc-d96a4ea2e7cf" providerId="ADAL" clId="{13C3C948-E538-4E74-ABA6-FB3B14096097}" dt="2026-01-21T18:06:00.563" v="104" actId="6549"/>
        <pc:sldMkLst>
          <pc:docMk/>
          <pc:sldMk cId="2177855473" sldId="321"/>
        </pc:sldMkLst>
      </pc:sldChg>
      <pc:sldChg chg="modNotesTx">
        <pc:chgData name="Shimaa Abdelmeguid" userId="47fd2e4c-d07d-4c27-b7bc-d96a4ea2e7cf" providerId="ADAL" clId="{13C3C948-E538-4E74-ABA6-FB3B14096097}" dt="2026-01-21T15:37:24.213" v="6" actId="6549"/>
        <pc:sldMkLst>
          <pc:docMk/>
          <pc:sldMk cId="3495848978" sldId="322"/>
        </pc:sldMkLst>
      </pc:sldChg>
      <pc:sldChg chg="modNotes modNotesTx">
        <pc:chgData name="Shimaa Abdelmeguid" userId="47fd2e4c-d07d-4c27-b7bc-d96a4ea2e7cf" providerId="ADAL" clId="{13C3C948-E538-4E74-ABA6-FB3B14096097}" dt="2026-01-21T18:05:04.178" v="63" actId="27636"/>
        <pc:sldMkLst>
          <pc:docMk/>
          <pc:sldMk cId="1082643685" sldId="323"/>
        </pc:sldMkLst>
      </pc:sldChg>
      <pc:sldChg chg="modNotes modNotesTx">
        <pc:chgData name="Shimaa Abdelmeguid" userId="47fd2e4c-d07d-4c27-b7bc-d96a4ea2e7cf" providerId="ADAL" clId="{13C3C948-E538-4E74-ABA6-FB3B14096097}" dt="2026-01-21T18:05:04.183" v="65" actId="27636"/>
        <pc:sldMkLst>
          <pc:docMk/>
          <pc:sldMk cId="4250143957" sldId="324"/>
        </pc:sldMkLst>
      </pc:sldChg>
      <pc:sldChg chg="add del modNotesTx">
        <pc:chgData name="Shimaa Abdelmeguid" userId="47fd2e4c-d07d-4c27-b7bc-d96a4ea2e7cf" providerId="ADAL" clId="{13C3C948-E538-4E74-ABA6-FB3B14096097}" dt="2026-01-21T18:06:11.217" v="107" actId="6549"/>
        <pc:sldMkLst>
          <pc:docMk/>
          <pc:sldMk cId="1518837956" sldId="325"/>
        </pc:sldMkLst>
      </pc:sldChg>
      <pc:sldChg chg="add del modNotesTx">
        <pc:chgData name="Shimaa Abdelmeguid" userId="47fd2e4c-d07d-4c27-b7bc-d96a4ea2e7cf" providerId="ADAL" clId="{13C3C948-E538-4E74-ABA6-FB3B14096097}" dt="2026-01-21T18:06:20.710" v="110" actId="6549"/>
        <pc:sldMkLst>
          <pc:docMk/>
          <pc:sldMk cId="3951079482" sldId="326"/>
        </pc:sldMkLst>
      </pc:sldChg>
      <pc:sldChg chg="add del modNotesTx">
        <pc:chgData name="Shimaa Abdelmeguid" userId="47fd2e4c-d07d-4c27-b7bc-d96a4ea2e7cf" providerId="ADAL" clId="{13C3C948-E538-4E74-ABA6-FB3B14096097}" dt="2026-01-21T18:06:27.729" v="112" actId="6549"/>
        <pc:sldMkLst>
          <pc:docMk/>
          <pc:sldMk cId="3231500397" sldId="327"/>
        </pc:sldMkLst>
      </pc:sldChg>
      <pc:sldChg chg="add del modNotes modNotesTx">
        <pc:chgData name="Shimaa Abdelmeguid" userId="47fd2e4c-d07d-4c27-b7bc-d96a4ea2e7cf" providerId="ADAL" clId="{13C3C948-E538-4E74-ABA6-FB3B14096097}" dt="2026-01-21T18:06:46.159" v="116" actId="6549"/>
        <pc:sldMkLst>
          <pc:docMk/>
          <pc:sldMk cId="2495282264" sldId="328"/>
        </pc:sldMkLst>
      </pc:sldChg>
      <pc:sldChg chg="add del modNotesTx">
        <pc:chgData name="Shimaa Abdelmeguid" userId="47fd2e4c-d07d-4c27-b7bc-d96a4ea2e7cf" providerId="ADAL" clId="{13C3C948-E538-4E74-ABA6-FB3B14096097}" dt="2026-01-21T18:06:49.405" v="117" actId="6549"/>
        <pc:sldMkLst>
          <pc:docMk/>
          <pc:sldMk cId="2280503184" sldId="329"/>
        </pc:sldMkLst>
      </pc:sldChg>
      <pc:sldChg chg="modNotes modNotesTx">
        <pc:chgData name="Shimaa Abdelmeguid" userId="47fd2e4c-d07d-4c27-b7bc-d96a4ea2e7cf" providerId="ADAL" clId="{13C3C948-E538-4E74-ABA6-FB3B14096097}" dt="2026-01-21T18:05:04.187" v="74" actId="27636"/>
        <pc:sldMkLst>
          <pc:docMk/>
          <pc:sldMk cId="324664539" sldId="330"/>
        </pc:sldMkLst>
      </pc:sldChg>
      <pc:sldChg chg="add del modNotesTx">
        <pc:chgData name="Shimaa Abdelmeguid" userId="47fd2e4c-d07d-4c27-b7bc-d96a4ea2e7cf" providerId="ADAL" clId="{13C3C948-E538-4E74-ABA6-FB3B14096097}" dt="2026-01-21T18:05:22.772" v="94" actId="6549"/>
        <pc:sldMkLst>
          <pc:docMk/>
          <pc:sldMk cId="4279845486" sldId="331"/>
        </pc:sldMkLst>
      </pc:sldChg>
      <pc:sldChg chg="add del modNotesTx">
        <pc:chgData name="Shimaa Abdelmeguid" userId="47fd2e4c-d07d-4c27-b7bc-d96a4ea2e7cf" providerId="ADAL" clId="{13C3C948-E538-4E74-ABA6-FB3B14096097}" dt="2026-01-21T18:05:26.121" v="95" actId="6549"/>
        <pc:sldMkLst>
          <pc:docMk/>
          <pc:sldMk cId="1815401261" sldId="332"/>
        </pc:sldMkLst>
      </pc:sldChg>
      <pc:sldChg chg="add del modNotesTx">
        <pc:chgData name="Shimaa Abdelmeguid" userId="47fd2e4c-d07d-4c27-b7bc-d96a4ea2e7cf" providerId="ADAL" clId="{13C3C948-E538-4E74-ABA6-FB3B14096097}" dt="2026-01-21T18:06:17.594" v="109" actId="6549"/>
        <pc:sldMkLst>
          <pc:docMk/>
          <pc:sldMk cId="3795794015" sldId="333"/>
        </pc:sldMkLst>
      </pc:sldChg>
      <pc:sldChg chg="add del modNotesTx">
        <pc:chgData name="Shimaa Abdelmeguid" userId="47fd2e4c-d07d-4c27-b7bc-d96a4ea2e7cf" providerId="ADAL" clId="{13C3C948-E538-4E74-ABA6-FB3B14096097}" dt="2026-01-21T18:06:23.704" v="111" actId="6549"/>
        <pc:sldMkLst>
          <pc:docMk/>
          <pc:sldMk cId="481702709" sldId="334"/>
        </pc:sldMkLst>
      </pc:sldChg>
      <pc:sldChg chg="add del modNotesTx">
        <pc:chgData name="Shimaa Abdelmeguid" userId="47fd2e4c-d07d-4c27-b7bc-d96a4ea2e7cf" providerId="ADAL" clId="{13C3C948-E538-4E74-ABA6-FB3B14096097}" dt="2026-01-21T18:06:32.200" v="113" actId="6549"/>
        <pc:sldMkLst>
          <pc:docMk/>
          <pc:sldMk cId="67616883" sldId="335"/>
        </pc:sldMkLst>
      </pc:sldChg>
      <pc:sldChg chg="add del modNotesTx">
        <pc:chgData name="Shimaa Abdelmeguid" userId="47fd2e4c-d07d-4c27-b7bc-d96a4ea2e7cf" providerId="ADAL" clId="{13C3C948-E538-4E74-ABA6-FB3B14096097}" dt="2026-01-21T18:06:36.339" v="114" actId="6549"/>
        <pc:sldMkLst>
          <pc:docMk/>
          <pc:sldMk cId="1933068761" sldId="336"/>
        </pc:sldMkLst>
      </pc:sldChg>
      <pc:sldChg chg="add del modNotesTx">
        <pc:chgData name="Shimaa Abdelmeguid" userId="47fd2e4c-d07d-4c27-b7bc-d96a4ea2e7cf" providerId="ADAL" clId="{13C3C948-E538-4E74-ABA6-FB3B14096097}" dt="2026-01-21T18:06:52.301" v="118" actId="6549"/>
        <pc:sldMkLst>
          <pc:docMk/>
          <pc:sldMk cId="2964070785" sldId="337"/>
        </pc:sldMkLst>
      </pc:sldChg>
      <pc:sldChg chg="add del modNotesTx">
        <pc:chgData name="Shimaa Abdelmeguid" userId="47fd2e4c-d07d-4c27-b7bc-d96a4ea2e7cf" providerId="ADAL" clId="{13C3C948-E538-4E74-ABA6-FB3B14096097}" dt="2026-01-21T18:05:29.257" v="96" actId="6549"/>
        <pc:sldMkLst>
          <pc:docMk/>
          <pc:sldMk cId="1932666804" sldId="340"/>
        </pc:sldMkLst>
      </pc:sldChg>
      <pc:sldChg chg="add del modNotesTx">
        <pc:chgData name="Shimaa Abdelmeguid" userId="47fd2e4c-d07d-4c27-b7bc-d96a4ea2e7cf" providerId="ADAL" clId="{13C3C948-E538-4E74-ABA6-FB3B14096097}" dt="2026-01-21T18:05:52.342" v="102" actId="6549"/>
        <pc:sldMkLst>
          <pc:docMk/>
          <pc:sldMk cId="3101493198" sldId="341"/>
        </pc:sldMkLst>
      </pc:sldChg>
      <pc:sldChg chg="add modNotesTx">
        <pc:chgData name="Shimaa Abdelmeguid" userId="47fd2e4c-d07d-4c27-b7bc-d96a4ea2e7cf" providerId="ADAL" clId="{13C3C948-E538-4E74-ABA6-FB3B14096097}" dt="2026-01-21T18:06:14.439" v="108" actId="6549"/>
        <pc:sldMkLst>
          <pc:docMk/>
          <pc:sldMk cId="2444457244" sldId="3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1/21/2026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8025155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1/21/2026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extLst>
      <p:ext uri="{BB962C8B-B14F-4D97-AF65-F5344CB8AC3E}">
        <p14:creationId xmlns:p14="http://schemas.microsoft.com/office/powerpoint/2010/main" val="14235106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a:t>
            </a:fld>
            <a:endParaRPr lang="en-US"/>
          </a:p>
        </p:txBody>
      </p:sp>
    </p:spTree>
    <p:extLst>
      <p:ext uri="{BB962C8B-B14F-4D97-AF65-F5344CB8AC3E}">
        <p14:creationId xmlns:p14="http://schemas.microsoft.com/office/powerpoint/2010/main" val="2281365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a:t>
            </a:fld>
            <a:endParaRPr lang="en-US"/>
          </a:p>
        </p:txBody>
      </p:sp>
    </p:spTree>
    <p:extLst>
      <p:ext uri="{BB962C8B-B14F-4D97-AF65-F5344CB8AC3E}">
        <p14:creationId xmlns:p14="http://schemas.microsoft.com/office/powerpoint/2010/main" val="1293170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a:t>
            </a:fld>
            <a:endParaRPr lang="en-US"/>
          </a:p>
        </p:txBody>
      </p:sp>
    </p:spTree>
    <p:extLst>
      <p:ext uri="{BB962C8B-B14F-4D97-AF65-F5344CB8AC3E}">
        <p14:creationId xmlns:p14="http://schemas.microsoft.com/office/powerpoint/2010/main" val="3668231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a:t>
            </a:fld>
            <a:endParaRPr lang="en-US"/>
          </a:p>
        </p:txBody>
      </p:sp>
    </p:spTree>
    <p:extLst>
      <p:ext uri="{BB962C8B-B14F-4D97-AF65-F5344CB8AC3E}">
        <p14:creationId xmlns:p14="http://schemas.microsoft.com/office/powerpoint/2010/main" val="3542432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a:t>
            </a:fld>
            <a:endParaRPr lang="en-US"/>
          </a:p>
        </p:txBody>
      </p:sp>
    </p:spTree>
    <p:extLst>
      <p:ext uri="{BB962C8B-B14F-4D97-AF65-F5344CB8AC3E}">
        <p14:creationId xmlns:p14="http://schemas.microsoft.com/office/powerpoint/2010/main" val="2480591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6</a:t>
            </a:fld>
            <a:endParaRPr lang="en-US"/>
          </a:p>
        </p:txBody>
      </p:sp>
    </p:spTree>
    <p:extLst>
      <p:ext uri="{BB962C8B-B14F-4D97-AF65-F5344CB8AC3E}">
        <p14:creationId xmlns:p14="http://schemas.microsoft.com/office/powerpoint/2010/main" val="3059736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7</a:t>
            </a:fld>
            <a:endParaRPr lang="en-US"/>
          </a:p>
        </p:txBody>
      </p:sp>
    </p:spTree>
    <p:extLst>
      <p:ext uri="{BB962C8B-B14F-4D97-AF65-F5344CB8AC3E}">
        <p14:creationId xmlns:p14="http://schemas.microsoft.com/office/powerpoint/2010/main" val="1453784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8</a:t>
            </a:fld>
            <a:endParaRPr lang="en-US"/>
          </a:p>
        </p:txBody>
      </p:sp>
    </p:spTree>
    <p:extLst>
      <p:ext uri="{BB962C8B-B14F-4D97-AF65-F5344CB8AC3E}">
        <p14:creationId xmlns:p14="http://schemas.microsoft.com/office/powerpoint/2010/main" val="4082255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9</a:t>
            </a:fld>
            <a:endParaRPr lang="en-US"/>
          </a:p>
        </p:txBody>
      </p:sp>
    </p:spTree>
    <p:extLst>
      <p:ext uri="{BB962C8B-B14F-4D97-AF65-F5344CB8AC3E}">
        <p14:creationId xmlns:p14="http://schemas.microsoft.com/office/powerpoint/2010/main" val="1085323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10</a:t>
            </a:fld>
            <a:endParaRPr lang="en-US"/>
          </a:p>
        </p:txBody>
      </p:sp>
    </p:spTree>
    <p:extLst>
      <p:ext uri="{BB962C8B-B14F-4D97-AF65-F5344CB8AC3E}">
        <p14:creationId xmlns:p14="http://schemas.microsoft.com/office/powerpoint/2010/main" val="4850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11</a:t>
            </a:fld>
            <a:endParaRPr lang="en-US"/>
          </a:p>
        </p:txBody>
      </p:sp>
    </p:spTree>
    <p:extLst>
      <p:ext uri="{BB962C8B-B14F-4D97-AF65-F5344CB8AC3E}">
        <p14:creationId xmlns:p14="http://schemas.microsoft.com/office/powerpoint/2010/main" val="1722184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12</a:t>
            </a:fld>
            <a:endParaRPr lang="en-US"/>
          </a:p>
        </p:txBody>
      </p:sp>
    </p:spTree>
    <p:extLst>
      <p:ext uri="{BB962C8B-B14F-4D97-AF65-F5344CB8AC3E}">
        <p14:creationId xmlns:p14="http://schemas.microsoft.com/office/powerpoint/2010/main" val="1820829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13</a:t>
            </a:fld>
            <a:endParaRPr lang="en-US"/>
          </a:p>
        </p:txBody>
      </p:sp>
    </p:spTree>
    <p:extLst>
      <p:ext uri="{BB962C8B-B14F-4D97-AF65-F5344CB8AC3E}">
        <p14:creationId xmlns:p14="http://schemas.microsoft.com/office/powerpoint/2010/main" val="539996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14</a:t>
            </a:fld>
            <a:endParaRPr lang="en-US"/>
          </a:p>
        </p:txBody>
      </p:sp>
    </p:spTree>
    <p:extLst>
      <p:ext uri="{BB962C8B-B14F-4D97-AF65-F5344CB8AC3E}">
        <p14:creationId xmlns:p14="http://schemas.microsoft.com/office/powerpoint/2010/main" val="3217965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15</a:t>
            </a:fld>
            <a:endParaRPr lang="en-US"/>
          </a:p>
        </p:txBody>
      </p:sp>
    </p:spTree>
    <p:extLst>
      <p:ext uri="{BB962C8B-B14F-4D97-AF65-F5344CB8AC3E}">
        <p14:creationId xmlns:p14="http://schemas.microsoft.com/office/powerpoint/2010/main" val="3392483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16</a:t>
            </a:fld>
            <a:endParaRPr lang="en-US"/>
          </a:p>
        </p:txBody>
      </p:sp>
    </p:spTree>
    <p:extLst>
      <p:ext uri="{BB962C8B-B14F-4D97-AF65-F5344CB8AC3E}">
        <p14:creationId xmlns:p14="http://schemas.microsoft.com/office/powerpoint/2010/main" val="418836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17</a:t>
            </a:fld>
            <a:endParaRPr lang="en-US"/>
          </a:p>
        </p:txBody>
      </p:sp>
    </p:spTree>
    <p:extLst>
      <p:ext uri="{BB962C8B-B14F-4D97-AF65-F5344CB8AC3E}">
        <p14:creationId xmlns:p14="http://schemas.microsoft.com/office/powerpoint/2010/main" val="1466715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18</a:t>
            </a:fld>
            <a:endParaRPr lang="en-US"/>
          </a:p>
        </p:txBody>
      </p:sp>
    </p:spTree>
    <p:extLst>
      <p:ext uri="{BB962C8B-B14F-4D97-AF65-F5344CB8AC3E}">
        <p14:creationId xmlns:p14="http://schemas.microsoft.com/office/powerpoint/2010/main" val="416506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19</a:t>
            </a:fld>
            <a:endParaRPr lang="en-US"/>
          </a:p>
        </p:txBody>
      </p:sp>
    </p:spTree>
    <p:extLst>
      <p:ext uri="{BB962C8B-B14F-4D97-AF65-F5344CB8AC3E}">
        <p14:creationId xmlns:p14="http://schemas.microsoft.com/office/powerpoint/2010/main" val="70349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20</a:t>
            </a:fld>
            <a:endParaRPr lang="en-US"/>
          </a:p>
        </p:txBody>
      </p:sp>
    </p:spTree>
    <p:extLst>
      <p:ext uri="{BB962C8B-B14F-4D97-AF65-F5344CB8AC3E}">
        <p14:creationId xmlns:p14="http://schemas.microsoft.com/office/powerpoint/2010/main" val="4176491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22</a:t>
            </a:fld>
            <a:endParaRPr lang="en-US"/>
          </a:p>
        </p:txBody>
      </p:sp>
    </p:spTree>
    <p:extLst>
      <p:ext uri="{BB962C8B-B14F-4D97-AF65-F5344CB8AC3E}">
        <p14:creationId xmlns:p14="http://schemas.microsoft.com/office/powerpoint/2010/main" val="3380698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23</a:t>
            </a:fld>
            <a:endParaRPr lang="en-US"/>
          </a:p>
        </p:txBody>
      </p:sp>
    </p:spTree>
    <p:extLst>
      <p:ext uri="{BB962C8B-B14F-4D97-AF65-F5344CB8AC3E}">
        <p14:creationId xmlns:p14="http://schemas.microsoft.com/office/powerpoint/2010/main" val="3319906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24</a:t>
            </a:fld>
            <a:endParaRPr lang="en-US"/>
          </a:p>
        </p:txBody>
      </p:sp>
    </p:spTree>
    <p:extLst>
      <p:ext uri="{BB962C8B-B14F-4D97-AF65-F5344CB8AC3E}">
        <p14:creationId xmlns:p14="http://schemas.microsoft.com/office/powerpoint/2010/main" val="43266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25</a:t>
            </a:fld>
            <a:endParaRPr lang="en-US"/>
          </a:p>
        </p:txBody>
      </p:sp>
    </p:spTree>
    <p:extLst>
      <p:ext uri="{BB962C8B-B14F-4D97-AF65-F5344CB8AC3E}">
        <p14:creationId xmlns:p14="http://schemas.microsoft.com/office/powerpoint/2010/main" val="3177165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26</a:t>
            </a:fld>
            <a:endParaRPr lang="en-US"/>
          </a:p>
        </p:txBody>
      </p:sp>
    </p:spTree>
    <p:extLst>
      <p:ext uri="{BB962C8B-B14F-4D97-AF65-F5344CB8AC3E}">
        <p14:creationId xmlns:p14="http://schemas.microsoft.com/office/powerpoint/2010/main" val="14872120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27</a:t>
            </a:fld>
            <a:endParaRPr lang="en-US"/>
          </a:p>
        </p:txBody>
      </p:sp>
    </p:spTree>
    <p:extLst>
      <p:ext uri="{BB962C8B-B14F-4D97-AF65-F5344CB8AC3E}">
        <p14:creationId xmlns:p14="http://schemas.microsoft.com/office/powerpoint/2010/main" val="36693249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28</a:t>
            </a:fld>
            <a:endParaRPr lang="en-US"/>
          </a:p>
        </p:txBody>
      </p:sp>
    </p:spTree>
    <p:extLst>
      <p:ext uri="{BB962C8B-B14F-4D97-AF65-F5344CB8AC3E}">
        <p14:creationId xmlns:p14="http://schemas.microsoft.com/office/powerpoint/2010/main" val="926117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29</a:t>
            </a:fld>
            <a:endParaRPr lang="en-US"/>
          </a:p>
        </p:txBody>
      </p:sp>
    </p:spTree>
    <p:extLst>
      <p:ext uri="{BB962C8B-B14F-4D97-AF65-F5344CB8AC3E}">
        <p14:creationId xmlns:p14="http://schemas.microsoft.com/office/powerpoint/2010/main" val="17938340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30</a:t>
            </a:fld>
            <a:endParaRPr lang="en-US"/>
          </a:p>
        </p:txBody>
      </p:sp>
    </p:spTree>
    <p:extLst>
      <p:ext uri="{BB962C8B-B14F-4D97-AF65-F5344CB8AC3E}">
        <p14:creationId xmlns:p14="http://schemas.microsoft.com/office/powerpoint/2010/main" val="27807284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31</a:t>
            </a:fld>
            <a:endParaRPr lang="en-US"/>
          </a:p>
        </p:txBody>
      </p:sp>
    </p:spTree>
    <p:extLst>
      <p:ext uri="{BB962C8B-B14F-4D97-AF65-F5344CB8AC3E}">
        <p14:creationId xmlns:p14="http://schemas.microsoft.com/office/powerpoint/2010/main" val="37866893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32</a:t>
            </a:fld>
            <a:endParaRPr lang="en-US"/>
          </a:p>
        </p:txBody>
      </p:sp>
    </p:spTree>
    <p:extLst>
      <p:ext uri="{BB962C8B-B14F-4D97-AF65-F5344CB8AC3E}">
        <p14:creationId xmlns:p14="http://schemas.microsoft.com/office/powerpoint/2010/main" val="3544128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33</a:t>
            </a:fld>
            <a:endParaRPr lang="en-US"/>
          </a:p>
        </p:txBody>
      </p:sp>
    </p:spTree>
    <p:extLst>
      <p:ext uri="{BB962C8B-B14F-4D97-AF65-F5344CB8AC3E}">
        <p14:creationId xmlns:p14="http://schemas.microsoft.com/office/powerpoint/2010/main" val="3887833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34</a:t>
            </a:fld>
            <a:endParaRPr lang="en-US"/>
          </a:p>
        </p:txBody>
      </p:sp>
    </p:spTree>
    <p:extLst>
      <p:ext uri="{BB962C8B-B14F-4D97-AF65-F5344CB8AC3E}">
        <p14:creationId xmlns:p14="http://schemas.microsoft.com/office/powerpoint/2010/main" val="28933410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35</a:t>
            </a:fld>
            <a:endParaRPr lang="en-US"/>
          </a:p>
        </p:txBody>
      </p:sp>
    </p:spTree>
    <p:extLst>
      <p:ext uri="{BB962C8B-B14F-4D97-AF65-F5344CB8AC3E}">
        <p14:creationId xmlns:p14="http://schemas.microsoft.com/office/powerpoint/2010/main" val="14242199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36</a:t>
            </a:fld>
            <a:endParaRPr lang="en-US"/>
          </a:p>
        </p:txBody>
      </p:sp>
    </p:spTree>
    <p:extLst>
      <p:ext uri="{BB962C8B-B14F-4D97-AF65-F5344CB8AC3E}">
        <p14:creationId xmlns:p14="http://schemas.microsoft.com/office/powerpoint/2010/main" val="897658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37</a:t>
            </a:fld>
            <a:endParaRPr lang="en-US"/>
          </a:p>
        </p:txBody>
      </p:sp>
    </p:spTree>
    <p:extLst>
      <p:ext uri="{BB962C8B-B14F-4D97-AF65-F5344CB8AC3E}">
        <p14:creationId xmlns:p14="http://schemas.microsoft.com/office/powerpoint/2010/main" val="122292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38</a:t>
            </a:fld>
            <a:endParaRPr lang="en-US"/>
          </a:p>
        </p:txBody>
      </p:sp>
    </p:spTree>
    <p:extLst>
      <p:ext uri="{BB962C8B-B14F-4D97-AF65-F5344CB8AC3E}">
        <p14:creationId xmlns:p14="http://schemas.microsoft.com/office/powerpoint/2010/main" val="29302611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39</a:t>
            </a:fld>
            <a:endParaRPr lang="en-US"/>
          </a:p>
        </p:txBody>
      </p:sp>
    </p:spTree>
    <p:extLst>
      <p:ext uri="{BB962C8B-B14F-4D97-AF65-F5344CB8AC3E}">
        <p14:creationId xmlns:p14="http://schemas.microsoft.com/office/powerpoint/2010/main" val="8314726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40</a:t>
            </a:fld>
            <a:endParaRPr lang="en-US"/>
          </a:p>
        </p:txBody>
      </p:sp>
    </p:spTree>
    <p:extLst>
      <p:ext uri="{BB962C8B-B14F-4D97-AF65-F5344CB8AC3E}">
        <p14:creationId xmlns:p14="http://schemas.microsoft.com/office/powerpoint/2010/main" val="26236523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41</a:t>
            </a:fld>
            <a:endParaRPr lang="en-US"/>
          </a:p>
        </p:txBody>
      </p:sp>
    </p:spTree>
    <p:extLst>
      <p:ext uri="{BB962C8B-B14F-4D97-AF65-F5344CB8AC3E}">
        <p14:creationId xmlns:p14="http://schemas.microsoft.com/office/powerpoint/2010/main" val="32809409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42</a:t>
            </a:fld>
            <a:endParaRPr lang="en-US"/>
          </a:p>
        </p:txBody>
      </p:sp>
    </p:spTree>
    <p:extLst>
      <p:ext uri="{BB962C8B-B14F-4D97-AF65-F5344CB8AC3E}">
        <p14:creationId xmlns:p14="http://schemas.microsoft.com/office/powerpoint/2010/main" val="2128704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43</a:t>
            </a:fld>
            <a:endParaRPr lang="en-US"/>
          </a:p>
        </p:txBody>
      </p:sp>
    </p:spTree>
    <p:extLst>
      <p:ext uri="{BB962C8B-B14F-4D97-AF65-F5344CB8AC3E}">
        <p14:creationId xmlns:p14="http://schemas.microsoft.com/office/powerpoint/2010/main" val="1101347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44</a:t>
            </a:fld>
            <a:endParaRPr lang="en-US"/>
          </a:p>
        </p:txBody>
      </p:sp>
    </p:spTree>
    <p:extLst>
      <p:ext uri="{BB962C8B-B14F-4D97-AF65-F5344CB8AC3E}">
        <p14:creationId xmlns:p14="http://schemas.microsoft.com/office/powerpoint/2010/main" val="2393570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45</a:t>
            </a:fld>
            <a:endParaRPr lang="en-US"/>
          </a:p>
        </p:txBody>
      </p:sp>
    </p:spTree>
    <p:extLst>
      <p:ext uri="{BB962C8B-B14F-4D97-AF65-F5344CB8AC3E}">
        <p14:creationId xmlns:p14="http://schemas.microsoft.com/office/powerpoint/2010/main" val="4809047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46</a:t>
            </a:fld>
            <a:endParaRPr lang="en-US"/>
          </a:p>
        </p:txBody>
      </p:sp>
    </p:spTree>
    <p:extLst>
      <p:ext uri="{BB962C8B-B14F-4D97-AF65-F5344CB8AC3E}">
        <p14:creationId xmlns:p14="http://schemas.microsoft.com/office/powerpoint/2010/main" val="586153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47</a:t>
            </a:fld>
            <a:endParaRPr lang="en-US"/>
          </a:p>
        </p:txBody>
      </p:sp>
    </p:spTree>
    <p:extLst>
      <p:ext uri="{BB962C8B-B14F-4D97-AF65-F5344CB8AC3E}">
        <p14:creationId xmlns:p14="http://schemas.microsoft.com/office/powerpoint/2010/main" val="42353940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48</a:t>
            </a:fld>
            <a:endParaRPr lang="en-US"/>
          </a:p>
        </p:txBody>
      </p:sp>
    </p:spTree>
    <p:extLst>
      <p:ext uri="{BB962C8B-B14F-4D97-AF65-F5344CB8AC3E}">
        <p14:creationId xmlns:p14="http://schemas.microsoft.com/office/powerpoint/2010/main" val="1679548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49</a:t>
            </a:fld>
            <a:endParaRPr lang="en-US"/>
          </a:p>
        </p:txBody>
      </p:sp>
    </p:spTree>
    <p:extLst>
      <p:ext uri="{BB962C8B-B14F-4D97-AF65-F5344CB8AC3E}">
        <p14:creationId xmlns:p14="http://schemas.microsoft.com/office/powerpoint/2010/main" val="29506764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50</a:t>
            </a:fld>
            <a:endParaRPr lang="en-US"/>
          </a:p>
        </p:txBody>
      </p:sp>
    </p:spTree>
    <p:extLst>
      <p:ext uri="{BB962C8B-B14F-4D97-AF65-F5344CB8AC3E}">
        <p14:creationId xmlns:p14="http://schemas.microsoft.com/office/powerpoint/2010/main" val="26452397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18C1-0F81-FC8C-522C-12AC6BA37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FC2DC-662D-F7B0-5590-B1E544088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64DB5-C960-C50B-AAE3-FCF056652A4A}"/>
              </a:ext>
            </a:extLst>
          </p:cNvPr>
          <p:cNvSpPr>
            <a:spLocks noGrp="1"/>
          </p:cNvSpPr>
          <p:nvPr>
            <p:ph type="body" idx="1"/>
          </p:nvPr>
        </p:nvSpPr>
        <p:spPr/>
        <p:txBody>
          <a:bodyPr>
            <a:normAutofit fontScale="85000" lnSpcReduction="20000"/>
          </a:bodyPr>
          <a:lstStyle/>
          <a:p>
            <a:endParaRPr lang="en-CA" dirty="0"/>
          </a:p>
        </p:txBody>
      </p:sp>
      <p:sp>
        <p:nvSpPr>
          <p:cNvPr id="4" name="Slide Number Placeholder 3">
            <a:extLst>
              <a:ext uri="{FF2B5EF4-FFF2-40B4-BE49-F238E27FC236}">
                <a16:creationId xmlns:a16="http://schemas.microsoft.com/office/drawing/2014/main" id="{181C5050-4B9C-AC2A-2B4E-9FB77B346241}"/>
              </a:ext>
            </a:extLst>
          </p:cNvPr>
          <p:cNvSpPr>
            <a:spLocks noGrp="1"/>
          </p:cNvSpPr>
          <p:nvPr>
            <p:ph type="sldNum" sz="quarter" idx="5"/>
          </p:nvPr>
        </p:nvSpPr>
        <p:spPr/>
        <p:txBody>
          <a:bodyPr/>
          <a:lstStyle/>
          <a:p>
            <a:fld id="{C5ED926C-2523-DB4E-AA42-7803F6FA2B59}" type="slidenum">
              <a:rPr lang="en-US" smtClean="0"/>
              <a:t>51</a:t>
            </a:fld>
            <a:endParaRPr lang="en-US"/>
          </a:p>
        </p:txBody>
      </p:sp>
    </p:spTree>
    <p:extLst>
      <p:ext uri="{BB962C8B-B14F-4D97-AF65-F5344CB8AC3E}">
        <p14:creationId xmlns:p14="http://schemas.microsoft.com/office/powerpoint/2010/main" val="21359948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52</a:t>
            </a:fld>
            <a:endParaRPr lang="en-US"/>
          </a:p>
        </p:txBody>
      </p:sp>
    </p:spTree>
    <p:extLst>
      <p:ext uri="{BB962C8B-B14F-4D97-AF65-F5344CB8AC3E}">
        <p14:creationId xmlns:p14="http://schemas.microsoft.com/office/powerpoint/2010/main" val="13649443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53</a:t>
            </a:fld>
            <a:endParaRPr lang="en-US"/>
          </a:p>
        </p:txBody>
      </p:sp>
    </p:spTree>
    <p:extLst>
      <p:ext uri="{BB962C8B-B14F-4D97-AF65-F5344CB8AC3E}">
        <p14:creationId xmlns:p14="http://schemas.microsoft.com/office/powerpoint/2010/main" val="10352411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54</a:t>
            </a:fld>
            <a:endParaRPr lang="en-US"/>
          </a:p>
        </p:txBody>
      </p:sp>
    </p:spTree>
    <p:extLst>
      <p:ext uri="{BB962C8B-B14F-4D97-AF65-F5344CB8AC3E}">
        <p14:creationId xmlns:p14="http://schemas.microsoft.com/office/powerpoint/2010/main" val="249607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55</a:t>
            </a:fld>
            <a:endParaRPr lang="en-US"/>
          </a:p>
        </p:txBody>
      </p:sp>
    </p:spTree>
    <p:extLst>
      <p:ext uri="{BB962C8B-B14F-4D97-AF65-F5344CB8AC3E}">
        <p14:creationId xmlns:p14="http://schemas.microsoft.com/office/powerpoint/2010/main" val="34485927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56</a:t>
            </a:fld>
            <a:endParaRPr lang="en-US"/>
          </a:p>
        </p:txBody>
      </p:sp>
    </p:spTree>
    <p:extLst>
      <p:ext uri="{BB962C8B-B14F-4D97-AF65-F5344CB8AC3E}">
        <p14:creationId xmlns:p14="http://schemas.microsoft.com/office/powerpoint/2010/main" val="39145857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57</a:t>
            </a:fld>
            <a:endParaRPr lang="en-US"/>
          </a:p>
        </p:txBody>
      </p:sp>
    </p:spTree>
    <p:extLst>
      <p:ext uri="{BB962C8B-B14F-4D97-AF65-F5344CB8AC3E}">
        <p14:creationId xmlns:p14="http://schemas.microsoft.com/office/powerpoint/2010/main" val="33225594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5ED926C-2523-DB4E-AA42-7803F6FA2B59}" type="slidenum">
              <a:rPr lang="en-US" smtClean="0"/>
              <a:t>58</a:t>
            </a:fld>
            <a:endParaRPr lang="en-US"/>
          </a:p>
        </p:txBody>
      </p:sp>
    </p:spTree>
    <p:extLst>
      <p:ext uri="{BB962C8B-B14F-4D97-AF65-F5344CB8AC3E}">
        <p14:creationId xmlns:p14="http://schemas.microsoft.com/office/powerpoint/2010/main" val="7231438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59</a:t>
            </a:fld>
            <a:endParaRPr lang="en-US"/>
          </a:p>
        </p:txBody>
      </p:sp>
    </p:spTree>
    <p:extLst>
      <p:ext uri="{BB962C8B-B14F-4D97-AF65-F5344CB8AC3E}">
        <p14:creationId xmlns:p14="http://schemas.microsoft.com/office/powerpoint/2010/main" val="36601458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60</a:t>
            </a:fld>
            <a:endParaRPr lang="en-US"/>
          </a:p>
        </p:txBody>
      </p:sp>
    </p:spTree>
    <p:extLst>
      <p:ext uri="{BB962C8B-B14F-4D97-AF65-F5344CB8AC3E}">
        <p14:creationId xmlns:p14="http://schemas.microsoft.com/office/powerpoint/2010/main" val="24527416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C5ED926C-2523-DB4E-AA42-7803F6FA2B59}" type="slidenum">
              <a:rPr lang="en-US" smtClean="0"/>
              <a:t>61</a:t>
            </a:fld>
            <a:endParaRPr lang="en-US"/>
          </a:p>
        </p:txBody>
      </p:sp>
    </p:spTree>
    <p:extLst>
      <p:ext uri="{BB962C8B-B14F-4D97-AF65-F5344CB8AC3E}">
        <p14:creationId xmlns:p14="http://schemas.microsoft.com/office/powerpoint/2010/main" val="107547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3 Agile Software Development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a:t>Chapter 3 – Agile Software Development</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Agile methods</a:t>
            </a:r>
          </a:p>
          <a:p>
            <a:r>
              <a:rPr lang="en-US" dirty="0"/>
              <a:t>Agile development techniques</a:t>
            </a:r>
          </a:p>
          <a:p>
            <a:r>
              <a:rPr lang="en-US" dirty="0"/>
              <a:t>Agile project management</a:t>
            </a:r>
          </a:p>
          <a:p>
            <a:r>
              <a:rPr lang="en-US" dirty="0"/>
              <a:t>Scaling agile methods</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Rapid software development</a:t>
            </a:r>
          </a:p>
        </p:txBody>
      </p:sp>
      <p:sp>
        <p:nvSpPr>
          <p:cNvPr id="3" name="Content Placeholder 2"/>
          <p:cNvSpPr>
            <a:spLocks noGrp="1"/>
          </p:cNvSpPr>
          <p:nvPr>
            <p:ph idx="1"/>
          </p:nvPr>
        </p:nvSpPr>
        <p:spPr>
          <a:xfrm>
            <a:off x="457200" y="1600200"/>
            <a:ext cx="8407400" cy="4525963"/>
          </a:xfrm>
        </p:spPr>
        <p:txBody>
          <a:bodyPr/>
          <a:lstStyle/>
          <a:p>
            <a:r>
              <a:rPr lang="en-US" dirty="0"/>
              <a:t>Rapid development and delivery is now often the most important requirement for software systems</a:t>
            </a:r>
          </a:p>
          <a:p>
            <a:pPr lvl="1"/>
            <a:r>
              <a:rPr lang="en-US" dirty="0"/>
              <a:t>Businesses operate in a fast –changing requirement and it is practically impossible to produce a set of stable software requirements</a:t>
            </a:r>
          </a:p>
          <a:p>
            <a:pPr lvl="1"/>
            <a:r>
              <a:rPr lang="en-US" dirty="0"/>
              <a:t>Software has to evolve quickly to reflect changing business needs.</a:t>
            </a:r>
          </a:p>
          <a:p>
            <a:r>
              <a:rPr lang="en-US" dirty="0"/>
              <a:t>Plan-driven development is essential for some types of system but does not meet these business needs.</a:t>
            </a:r>
          </a:p>
          <a:p>
            <a:r>
              <a:rPr lang="en-US" dirty="0"/>
              <a:t>Agile development methods emerged in the late 1990s whose aim was to radically reduce the delivery time for working software systems</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development</a:t>
            </a:r>
          </a:p>
        </p:txBody>
      </p:sp>
      <p:sp>
        <p:nvSpPr>
          <p:cNvPr id="3" name="Content Placeholder 2"/>
          <p:cNvSpPr>
            <a:spLocks noGrp="1"/>
          </p:cNvSpPr>
          <p:nvPr>
            <p:ph idx="1"/>
          </p:nvPr>
        </p:nvSpPr>
        <p:spPr>
          <a:xfrm>
            <a:off x="457200" y="1417638"/>
            <a:ext cx="8229600" cy="5165724"/>
          </a:xfrm>
        </p:spPr>
        <p:txBody>
          <a:bodyPr/>
          <a:lstStyle/>
          <a:p>
            <a:r>
              <a:rPr lang="en-US" dirty="0"/>
              <a:t>Program specification, design and implementation are inter-leaved</a:t>
            </a:r>
          </a:p>
          <a:p>
            <a:r>
              <a:rPr lang="en-US" dirty="0"/>
              <a:t>The system is developed as a series of versions or increments with stakeholders involved in version specification and evaluation</a:t>
            </a:r>
          </a:p>
          <a:p>
            <a:r>
              <a:rPr lang="en-US" dirty="0"/>
              <a:t>Frequent delivery of new versions for evaluation. This allows </a:t>
            </a:r>
            <a:r>
              <a:rPr lang="en-US" b="1" dirty="0"/>
              <a:t>early feedback, helps identify problems sooner, and reduces the risk of building the wrong system</a:t>
            </a:r>
            <a:r>
              <a:rPr lang="en-US" dirty="0"/>
              <a:t>.”</a:t>
            </a:r>
          </a:p>
          <a:p>
            <a:r>
              <a:rPr lang="en-US" dirty="0"/>
              <a:t>Agile relies </a:t>
            </a:r>
            <a:r>
              <a:rPr lang="en-US" b="1" dirty="0"/>
              <a:t>on extensive tool support </a:t>
            </a:r>
            <a:r>
              <a:rPr lang="en-US" dirty="0"/>
              <a:t>(e.g. automated testing tools) used to support this </a:t>
            </a:r>
            <a:r>
              <a:rPr lang="en-US" b="1" dirty="0"/>
              <a:t>rapid and incremental development.</a:t>
            </a:r>
          </a:p>
          <a:p>
            <a:r>
              <a:rPr lang="en-US" dirty="0"/>
              <a:t>Minimal documentation – focus on working code</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82643685"/>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Plan-driven and agile development</a:t>
            </a:r>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a:t>
            </a:fld>
            <a:endParaRPr lang="en-US"/>
          </a:p>
        </p:txBody>
      </p:sp>
      <p:pic>
        <p:nvPicPr>
          <p:cNvPr id="4" name="Picture 3" descr="3.2 PlanBasedAgile.eps"/>
          <p:cNvPicPr>
            <a:picLocks noChangeAspect="1"/>
          </p:cNvPicPr>
          <p:nvPr/>
        </p:nvPicPr>
        <p:blipFill>
          <a:blip r:embed="rId3"/>
          <a:stretch>
            <a:fillRect/>
          </a:stretch>
        </p:blipFill>
        <p:spPr>
          <a:xfrm>
            <a:off x="1734750" y="1785249"/>
            <a:ext cx="5731937" cy="435799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development</a:t>
            </a:r>
          </a:p>
        </p:txBody>
      </p:sp>
      <p:sp>
        <p:nvSpPr>
          <p:cNvPr id="3" name="Content Placeholder 2"/>
          <p:cNvSpPr>
            <a:spLocks noGrp="1"/>
          </p:cNvSpPr>
          <p:nvPr>
            <p:ph idx="1"/>
          </p:nvPr>
        </p:nvSpPr>
        <p:spPr>
          <a:xfrm>
            <a:off x="174171" y="1624012"/>
            <a:ext cx="8969829" cy="4525963"/>
          </a:xfrm>
        </p:spPr>
        <p:txBody>
          <a:bodyPr/>
          <a:lstStyle/>
          <a:p>
            <a:r>
              <a:rPr lang="en-US" dirty="0"/>
              <a:t>Plan-driven development</a:t>
            </a:r>
          </a:p>
          <a:p>
            <a:pPr lvl="1"/>
            <a:r>
              <a:rPr lang="en-US" dirty="0"/>
              <a:t>A plan-driven approach to software engineering is based around </a:t>
            </a:r>
            <a:r>
              <a:rPr lang="en-US" b="1" dirty="0"/>
              <a:t>separate development stages </a:t>
            </a:r>
            <a:r>
              <a:rPr lang="en-US" dirty="0"/>
              <a:t>with the outputs to be produced at each of these stages planned in advance.</a:t>
            </a:r>
          </a:p>
          <a:p>
            <a:pPr lvl="1"/>
            <a:r>
              <a:rPr lang="en-US" dirty="0"/>
              <a:t>Not necessarily waterfall model – plan-driven, incremental development is possible</a:t>
            </a:r>
          </a:p>
          <a:p>
            <a:pPr lvl="1"/>
            <a:r>
              <a:rPr lang="en-US" dirty="0"/>
              <a:t>Iteration occurs within activities. For example, requirements may be refined several times before they are finalized. </a:t>
            </a:r>
          </a:p>
          <a:p>
            <a:r>
              <a:rPr lang="en-US" dirty="0"/>
              <a:t>Agile development</a:t>
            </a:r>
          </a:p>
          <a:p>
            <a:pPr lvl="1"/>
            <a:r>
              <a:rPr lang="en-US" dirty="0"/>
              <a:t>Specification, design, implementation and testing are inter-leaved.</a:t>
            </a:r>
          </a:p>
          <a:p>
            <a:pPr lvl="1"/>
            <a:r>
              <a:rPr lang="en-US" dirty="0"/>
              <a:t>The outputs from the development process, such as features or system functionality; are decided through a process of negotiation during the software development process.</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250143957"/>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55838"/>
            <a:ext cx="8229600" cy="1143000"/>
          </a:xfrm>
        </p:spPr>
        <p:txBody>
          <a:bodyPr/>
          <a:lstStyle/>
          <a:p>
            <a:pPr algn="ctr"/>
            <a:r>
              <a:rPr lang="en-US" dirty="0"/>
              <a:t>Agile methods</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495848978"/>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idx="1"/>
          </p:nvPr>
        </p:nvSpPr>
        <p:spPr/>
        <p:txBody>
          <a:bodyPr/>
          <a:lstStyle/>
          <a:p>
            <a:r>
              <a:rPr lang="en-US" sz="2400" dirty="0"/>
              <a:t>Dissatisfaction with the overheads involved in software design methods of the 1980s and 1990s led to the creation of </a:t>
            </a:r>
            <a:r>
              <a:rPr lang="en-US" sz="2400" b="1" dirty="0"/>
              <a:t>agile methods</a:t>
            </a:r>
            <a:r>
              <a:rPr lang="en-US" sz="2400" dirty="0"/>
              <a:t>. These methods:</a:t>
            </a:r>
          </a:p>
          <a:p>
            <a:pPr lvl="1"/>
            <a:r>
              <a:rPr lang="en-US" sz="2000" dirty="0"/>
              <a:t>Focus on the code rather than the design</a:t>
            </a:r>
          </a:p>
          <a:p>
            <a:pPr lvl="1"/>
            <a:r>
              <a:rPr lang="en-US" sz="2000" dirty="0"/>
              <a:t>Are based on an iterative approach to software development</a:t>
            </a:r>
          </a:p>
          <a:p>
            <a:pPr lvl="1"/>
            <a:r>
              <a:rPr lang="en-US" sz="2000" dirty="0"/>
              <a:t>Are intended to deliver working software quickly and evolve this quickly to meet changing requirements.</a:t>
            </a:r>
          </a:p>
          <a:p>
            <a:r>
              <a:rPr lang="en-US" sz="2400" dirty="0"/>
              <a:t>The aim of agile methods is to </a:t>
            </a:r>
            <a:r>
              <a:rPr lang="en-US" sz="2400" b="1" dirty="0"/>
              <a:t>reduce overheads in the software process</a:t>
            </a:r>
            <a:r>
              <a:rPr lang="en-US" sz="2400" dirty="0"/>
              <a:t> (e.g. by limiting documentation) and to be able to </a:t>
            </a:r>
            <a:r>
              <a:rPr lang="en-US" sz="2400" b="1" dirty="0"/>
              <a:t>respond quickly to changing requirements </a:t>
            </a:r>
            <a:r>
              <a:rPr lang="en-US" sz="2400" dirty="0"/>
              <a:t>without excessive rework.</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manifesto </a:t>
            </a:r>
          </a:p>
        </p:txBody>
      </p:sp>
      <p:sp>
        <p:nvSpPr>
          <p:cNvPr id="3" name="Content Placeholder 2"/>
          <p:cNvSpPr>
            <a:spLocks noGrp="1"/>
          </p:cNvSpPr>
          <p:nvPr>
            <p:ph idx="1"/>
          </p:nvPr>
        </p:nvSpPr>
        <p:spPr/>
        <p:txBody>
          <a:bodyPr/>
          <a:lstStyle/>
          <a:p>
            <a:r>
              <a:rPr lang="en-US" i="1" dirty="0"/>
              <a:t>We are uncovering better ways of developing  software </a:t>
            </a:r>
            <a:r>
              <a:rPr lang="en-US" b="1" i="1" dirty="0"/>
              <a:t>by doing it and helping others do it</a:t>
            </a:r>
            <a:r>
              <a:rPr lang="en-US" i="1" dirty="0"/>
              <a:t>.  Through this work we have come to value:</a:t>
            </a:r>
            <a:endParaRPr lang="en-GB" dirty="0"/>
          </a:p>
          <a:p>
            <a:pPr lvl="1"/>
            <a:r>
              <a:rPr lang="en-US" i="1" dirty="0"/>
              <a:t>Individuals and interactions over processes and tools</a:t>
            </a:r>
          </a:p>
          <a:p>
            <a:pPr lvl="1"/>
            <a:r>
              <a:rPr lang="en-US" i="1" dirty="0"/>
              <a:t>Working software over comprehensive documentation </a:t>
            </a:r>
          </a:p>
          <a:p>
            <a:pPr lvl="1"/>
            <a:r>
              <a:rPr lang="en-US" i="1" dirty="0"/>
              <a:t>Customer collaboration over contract negotiation </a:t>
            </a:r>
          </a:p>
          <a:p>
            <a:pPr lvl="1"/>
            <a:r>
              <a:rPr lang="en-US" i="1" dirty="0"/>
              <a:t>Responding to change over following a plan </a:t>
            </a:r>
            <a:endParaRPr lang="en-GB" dirty="0"/>
          </a:p>
          <a:p>
            <a:r>
              <a:rPr lang="en-US" i="1" dirty="0"/>
              <a:t>That is, while there is value in the items on the right, we value the items on the left more.</a:t>
            </a:r>
            <a:r>
              <a:rPr lang="en-GB" dirty="0"/>
              <a:t> </a:t>
            </a:r>
          </a:p>
          <a:p>
            <a:pPr lvl="1"/>
            <a:r>
              <a:rPr lang="en-US" dirty="0"/>
              <a:t>Agile does </a:t>
            </a:r>
            <a:r>
              <a:rPr lang="en-US" b="1" dirty="0"/>
              <a:t>not</a:t>
            </a:r>
            <a:r>
              <a:rPr lang="en-US" dirty="0"/>
              <a:t> reject processes, documentation, contracts, or plans, these are helpful, </a:t>
            </a:r>
            <a:r>
              <a:rPr lang="en-US" b="1" dirty="0"/>
              <a:t>but they must not block collaboration, delivery, or flexibility.</a:t>
            </a:r>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principles of agile methods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80396578"/>
              </p:ext>
            </p:extLst>
          </p:nvPr>
        </p:nvGraphicFramePr>
        <p:xfrm>
          <a:off x="415483" y="1474788"/>
          <a:ext cx="8271317" cy="5348775"/>
        </p:xfrm>
        <a:graphic>
          <a:graphicData uri="http://schemas.openxmlformats.org/drawingml/2006/table">
            <a:tbl>
              <a:tblPr/>
              <a:tblGrid>
                <a:gridCol w="2300606">
                  <a:extLst>
                    <a:ext uri="{9D8B030D-6E8A-4147-A177-3AD203B41FA5}">
                      <a16:colId xmlns:a16="http://schemas.microsoft.com/office/drawing/2014/main" val="20000"/>
                    </a:ext>
                  </a:extLst>
                </a:gridCol>
                <a:gridCol w="5872286">
                  <a:extLst>
                    <a:ext uri="{9D8B030D-6E8A-4147-A177-3AD203B41FA5}">
                      <a16:colId xmlns:a16="http://schemas.microsoft.com/office/drawing/2014/main" val="20001"/>
                    </a:ext>
                  </a:extLst>
                </a:gridCol>
                <a:gridCol w="98425">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a:t>
                      </a:r>
                      <a:r>
                        <a:rPr kumimoji="0" lang="en-GB" sz="1600" b="1" i="0" u="none" strike="noStrike" cap="none" normalizeH="0" baseline="0" dirty="0">
                          <a:ln>
                            <a:noFill/>
                          </a:ln>
                          <a:solidFill>
                            <a:srgbClr val="000000"/>
                          </a:solidFill>
                          <a:effectLst/>
                          <a:latin typeface="Arial"/>
                          <a:ea typeface="Times New Roman" charset="0"/>
                          <a:cs typeface="Arial"/>
                        </a:rPr>
                        <a:t>Their role is to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dirty="0"/>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kern="1200" cap="none" normalizeH="0" baseline="0" dirty="0">
                          <a:ln>
                            <a:noFill/>
                          </a:ln>
                          <a:solidFill>
                            <a:srgbClr val="000000"/>
                          </a:solidFill>
                          <a:effectLst/>
                          <a:latin typeface="Arial"/>
                          <a:ea typeface="Times New Roman" charset="0"/>
                          <a:cs typeface="Arial"/>
                        </a:rPr>
                        <a:t>The software is developed in increments </a:t>
                      </a:r>
                      <a:r>
                        <a:rPr kumimoji="0" lang="en-GB" sz="1600" b="0" i="0" u="none" strike="noStrike" kern="1200" cap="none" normalizeH="0" baseline="0" dirty="0">
                          <a:ln>
                            <a:noFill/>
                          </a:ln>
                          <a:solidFill>
                            <a:srgbClr val="000000"/>
                          </a:solidFill>
                          <a:effectLst/>
                          <a:latin typeface="Arial"/>
                          <a:ea typeface="Times New Roman" charset="0"/>
                          <a:cs typeface="Arial"/>
                        </a:rPr>
                        <a:t>with the customer specifying the requirements to be included in each increment, </a:t>
                      </a:r>
                      <a:r>
                        <a:rPr kumimoji="0" lang="en-US" sz="1600" b="0" i="0" u="none" strike="noStrike" kern="1200" cap="none" normalizeH="0" baseline="0" dirty="0">
                          <a:ln>
                            <a:noFill/>
                          </a:ln>
                          <a:solidFill>
                            <a:srgbClr val="000000"/>
                          </a:solidFill>
                          <a:effectLst/>
                          <a:latin typeface="Arial"/>
                          <a:cs typeface="Arial"/>
                        </a:rPr>
                        <a:t>allowing useful functionality to be delivered early and improved over time</a:t>
                      </a:r>
                      <a:r>
                        <a:rPr kumimoji="0" lang="en-GB" sz="1600" b="0" i="0" u="none" strike="noStrike" kern="1200" cap="none" normalizeH="0" baseline="0" dirty="0">
                          <a:ln>
                            <a:noFill/>
                          </a:ln>
                          <a:solidFill>
                            <a:srgbClr val="000000"/>
                          </a:solidFill>
                          <a:effectLst/>
                          <a:latin typeface="Arial"/>
                          <a:ea typeface="Times New Roman" charset="0"/>
                          <a:cs typeface="Arial"/>
                        </a:rPr>
                        <a: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skills of the development team should be recognized and exploited. Team members should be left to </a:t>
                      </a:r>
                      <a:r>
                        <a:rPr kumimoji="0" lang="en-GB" sz="1600" b="0" i="0" u="none" strike="noStrike" kern="1200" cap="none" normalizeH="0" baseline="0" dirty="0">
                          <a:ln>
                            <a:noFill/>
                          </a:ln>
                          <a:solidFill>
                            <a:srgbClr val="000000"/>
                          </a:solidFill>
                          <a:effectLst/>
                          <a:latin typeface="Arial"/>
                          <a:ea typeface="Times New Roman" charset="0"/>
                          <a:cs typeface="Arial"/>
                        </a:rPr>
                        <a:t>develop their own ways of working </a:t>
                      </a:r>
                      <a:r>
                        <a:rPr kumimoji="0" lang="en-US" sz="1600" b="0" i="0" u="none" strike="noStrike" kern="1200" cap="none" normalizeH="0" baseline="0" dirty="0">
                          <a:ln>
                            <a:noFill/>
                          </a:ln>
                          <a:solidFill>
                            <a:srgbClr val="000000"/>
                          </a:solidFill>
                          <a:effectLst/>
                          <a:latin typeface="Arial"/>
                          <a:cs typeface="Arial"/>
                        </a:rPr>
                        <a:t>rather than strictly following predefined procedures</a:t>
                      </a:r>
                      <a:r>
                        <a:rPr kumimoji="0" lang="en-GB" sz="1600" b="0" i="0" u="none" strike="noStrike" kern="1200" cap="none" normalizeH="0" baseline="0" dirty="0">
                          <a:ln>
                            <a:noFill/>
                          </a:ln>
                          <a:solidFill>
                            <a:srgbClr val="000000"/>
                          </a:solidFill>
                          <a:effectLst/>
                          <a:latin typeface="Arial"/>
                          <a:ea typeface="Times New Roman" charset="0"/>
                          <a:cs typeface="Arial"/>
                        </a:rPr>
                        <a: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 </a:t>
                      </a:r>
                      <a:r>
                        <a:rPr lang="en-US" sz="1600" b="1" i="0" dirty="0"/>
                        <a:t>This reduces the cost and impact of change during development.</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applicability</a:t>
            </a:r>
          </a:p>
        </p:txBody>
      </p:sp>
      <p:sp>
        <p:nvSpPr>
          <p:cNvPr id="3" name="Content Placeholder 2"/>
          <p:cNvSpPr>
            <a:spLocks noGrp="1"/>
          </p:cNvSpPr>
          <p:nvPr>
            <p:ph idx="1"/>
          </p:nvPr>
        </p:nvSpPr>
        <p:spPr>
          <a:xfrm>
            <a:off x="457200" y="1688489"/>
            <a:ext cx="8229600" cy="4525963"/>
          </a:xfrm>
        </p:spPr>
        <p:txBody>
          <a:bodyPr/>
          <a:lstStyle/>
          <a:p>
            <a:r>
              <a:rPr lang="en-US" altLang="en-US" dirty="0">
                <a:solidFill>
                  <a:schemeClr val="tx1"/>
                </a:solidFill>
                <a:latin typeface="Arial" panose="020B0604020202020204" pitchFamily="34" charset="0"/>
              </a:rPr>
              <a:t>Agile methods have been particularly successful for two kinds of system ­development.</a:t>
            </a:r>
          </a:p>
          <a:p>
            <a:pPr lvl="1">
              <a:lnSpc>
                <a:spcPct val="150000"/>
              </a:lnSpc>
            </a:pPr>
            <a:r>
              <a:rPr lang="en-GB" b="1" dirty="0"/>
              <a:t>Product development </a:t>
            </a:r>
            <a:r>
              <a:rPr lang="en-GB" dirty="0"/>
              <a:t>where a software company is developing </a:t>
            </a:r>
            <a:r>
              <a:rPr lang="en-GB" b="1" dirty="0"/>
              <a:t>a small or medium-sized product for sale</a:t>
            </a:r>
            <a:r>
              <a:rPr lang="en-GB" dirty="0"/>
              <a:t>. </a:t>
            </a:r>
          </a:p>
          <a:p>
            <a:pPr lvl="2">
              <a:lnSpc>
                <a:spcPct val="150000"/>
              </a:lnSpc>
            </a:pPr>
            <a:r>
              <a:rPr lang="en-GB" dirty="0"/>
              <a:t>Almost all software products and apps are now developed using an agile approach</a:t>
            </a:r>
          </a:p>
          <a:p>
            <a:pPr lvl="1">
              <a:lnSpc>
                <a:spcPct val="150000"/>
              </a:lnSpc>
            </a:pPr>
            <a:r>
              <a:rPr lang="en-GB" b="1" dirty="0"/>
              <a:t>Custom system development within an organization</a:t>
            </a:r>
            <a:r>
              <a:rPr lang="en-GB" dirty="0"/>
              <a:t>:</a:t>
            </a:r>
          </a:p>
          <a:p>
            <a:pPr lvl="2">
              <a:lnSpc>
                <a:spcPct val="150000"/>
              </a:lnSpc>
            </a:pPr>
            <a:r>
              <a:rPr lang="en-GB" dirty="0"/>
              <a:t>There is a clear commitment from the customer to become involved in the development process, and </a:t>
            </a:r>
          </a:p>
          <a:p>
            <a:pPr lvl="2">
              <a:lnSpc>
                <a:spcPct val="150000"/>
              </a:lnSpc>
            </a:pPr>
            <a:r>
              <a:rPr lang="en-GB" dirty="0"/>
              <a:t>There are few external rules and regulations that affect the software.</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4238"/>
            <a:ext cx="8229600" cy="1143000"/>
          </a:xfrm>
        </p:spPr>
        <p:txBody>
          <a:bodyPr/>
          <a:lstStyle/>
          <a:p>
            <a:pPr algn="ctr"/>
            <a:r>
              <a:rPr lang="en-US" dirty="0"/>
              <a:t>Agile development techniques</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013893865"/>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dirty="0"/>
              <a:t>Extreme programming (XP)</a:t>
            </a:r>
          </a:p>
        </p:txBody>
      </p:sp>
      <p:sp>
        <p:nvSpPr>
          <p:cNvPr id="1168387" name="Rectangle 3"/>
          <p:cNvSpPr>
            <a:spLocks noGrp="1" noChangeArrowheads="1"/>
          </p:cNvSpPr>
          <p:nvPr>
            <p:ph idx="1"/>
          </p:nvPr>
        </p:nvSpPr>
        <p:spPr/>
        <p:txBody>
          <a:bodyPr/>
          <a:lstStyle/>
          <a:p>
            <a:pPr>
              <a:lnSpc>
                <a:spcPct val="90000"/>
              </a:lnSpc>
            </a:pPr>
            <a:r>
              <a:rPr lang="en-US" dirty="0"/>
              <a:t>A very influential agile method, developed in the late 1990s, that introduced a range of agile development techniques.</a:t>
            </a:r>
          </a:p>
          <a:p>
            <a:pPr>
              <a:lnSpc>
                <a:spcPct val="90000"/>
              </a:lnSpc>
            </a:pPr>
            <a:r>
              <a:rPr lang="en-US" i="1" dirty="0"/>
              <a:t>XP takes </a:t>
            </a:r>
            <a:r>
              <a:rPr lang="en-US" b="1" i="1" dirty="0"/>
              <a:t>good software engineering practices and applies them in an extreme way.</a:t>
            </a:r>
            <a:endParaRPr lang="en-US" dirty="0"/>
          </a:p>
          <a:p>
            <a:pPr>
              <a:lnSpc>
                <a:spcPct val="90000"/>
              </a:lnSpc>
            </a:pPr>
            <a:r>
              <a:rPr lang="en-US" i="1" dirty="0"/>
              <a:t>XP follows an </a:t>
            </a:r>
            <a:r>
              <a:rPr lang="en-US" b="1" i="1" dirty="0"/>
              <a:t>iterative and incremental</a:t>
            </a:r>
            <a:r>
              <a:rPr lang="en-US" i="1" dirty="0"/>
              <a:t> development approach</a:t>
            </a:r>
          </a:p>
          <a:p>
            <a:pPr lvl="1">
              <a:lnSpc>
                <a:spcPct val="90000"/>
              </a:lnSpc>
            </a:pPr>
            <a:r>
              <a:rPr lang="en-US" dirty="0"/>
              <a:t>New versions may be built several times per day;</a:t>
            </a:r>
          </a:p>
          <a:p>
            <a:pPr lvl="1">
              <a:lnSpc>
                <a:spcPct val="90000"/>
              </a:lnSpc>
            </a:pPr>
            <a:r>
              <a:rPr lang="en-US" dirty="0"/>
              <a:t>Increments are delivered to customers every 2 weeks;</a:t>
            </a:r>
          </a:p>
          <a:p>
            <a:pPr lvl="1">
              <a:lnSpc>
                <a:spcPct val="90000"/>
              </a:lnSpc>
            </a:pPr>
            <a:r>
              <a:rPr lang="en-US" dirty="0"/>
              <a:t>All tests must be run for every build and the build is only accepted if tests run successfully.</a:t>
            </a:r>
          </a:p>
          <a:p>
            <a:pPr>
              <a:lnSpc>
                <a:spcPct val="90000"/>
              </a:lnSpc>
            </a:pPr>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The extreme programming release cycle</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pic>
        <p:nvPicPr>
          <p:cNvPr id="4" name="Picture 3" descr="3.3-XP-ReleaseCycle.eps"/>
          <p:cNvPicPr>
            <a:picLocks noChangeAspect="1"/>
          </p:cNvPicPr>
          <p:nvPr/>
        </p:nvPicPr>
        <p:blipFill>
          <a:blip r:embed="rId3"/>
          <a:stretch>
            <a:fillRect/>
          </a:stretch>
        </p:blipFill>
        <p:spPr>
          <a:xfrm>
            <a:off x="1192427" y="2372086"/>
            <a:ext cx="6558005" cy="285627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Extreme programming practices (a)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graphicFrame>
        <p:nvGraphicFramePr>
          <p:cNvPr id="4" name="Table 3"/>
          <p:cNvGraphicFramePr>
            <a:graphicFrameLocks noGrp="1"/>
          </p:cNvGraphicFramePr>
          <p:nvPr/>
        </p:nvGraphicFramePr>
        <p:xfrm>
          <a:off x="457200" y="1580272"/>
          <a:ext cx="8325364" cy="4826016"/>
        </p:xfrm>
        <a:graphic>
          <a:graphicData uri="http://schemas.openxmlformats.org/drawingml/2006/table">
            <a:tbl>
              <a:tblPr/>
              <a:tblGrid>
                <a:gridCol w="2359628">
                  <a:extLst>
                    <a:ext uri="{9D8B030D-6E8A-4147-A177-3AD203B41FA5}">
                      <a16:colId xmlns:a16="http://schemas.microsoft.com/office/drawing/2014/main" val="20000"/>
                    </a:ext>
                  </a:extLst>
                </a:gridCol>
                <a:gridCol w="5965736">
                  <a:extLst>
                    <a:ext uri="{9D8B030D-6E8A-4147-A177-3AD203B41FA5}">
                      <a16:colId xmlns:a16="http://schemas.microsoft.com/office/drawing/2014/main" val="20001"/>
                    </a:ext>
                  </a:extLst>
                </a:gridCol>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Extreme programming practices (</a:t>
            </a:r>
            <a:r>
              <a:rPr lang="en-US" dirty="0" err="1"/>
              <a:t>b</a:t>
            </a:r>
            <a:r>
              <a:rPr lang="en-US" dirty="0"/>
              <a:t>)</a:t>
            </a:r>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708310265"/>
              </p:ext>
            </p:extLst>
          </p:nvPr>
        </p:nvGraphicFramePr>
        <p:xfrm>
          <a:off x="457199" y="1990725"/>
          <a:ext cx="8217271" cy="4650100"/>
        </p:xfrm>
        <a:graphic>
          <a:graphicData uri="http://schemas.openxmlformats.org/drawingml/2006/table">
            <a:tbl>
              <a:tblPr firstRow="1" bandRow="1">
                <a:tableStyleId>{69CF1AB2-1976-4502-BF36-3FF5EA218861}</a:tableStyleId>
              </a:tblPr>
              <a:tblGrid>
                <a:gridCol w="2285663">
                  <a:extLst>
                    <a:ext uri="{9D8B030D-6E8A-4147-A177-3AD203B41FA5}">
                      <a16:colId xmlns:a16="http://schemas.microsoft.com/office/drawing/2014/main" val="20000"/>
                    </a:ext>
                  </a:extLst>
                </a:gridCol>
                <a:gridCol w="5931608">
                  <a:extLst>
                    <a:ext uri="{9D8B030D-6E8A-4147-A177-3AD203B41FA5}">
                      <a16:colId xmlns:a16="http://schemas.microsoft.com/office/drawing/2014/main" val="20001"/>
                    </a:ext>
                  </a:extLst>
                </a:gridCol>
              </a:tblGrid>
              <a:tr h="612192">
                <a:tc>
                  <a:txBody>
                    <a:bodyPr/>
                    <a:lstStyle/>
                    <a:p>
                      <a:pPr algn="just">
                        <a:spcAft>
                          <a:spcPts val="0"/>
                        </a:spcAft>
                      </a:pPr>
                      <a:r>
                        <a:rPr lang="en-GB" sz="1600" b="0" dirty="0">
                          <a:latin typeface="Arial"/>
                          <a:cs typeface="Arial"/>
                        </a:rPr>
                        <a:t>Pair programming</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Developers work in pairs, checking each other’s work and providing the support to always do a good job.</a:t>
                      </a:r>
                      <a:endParaRPr lang="en-GB" sz="1600" b="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0"/>
                  </a:ext>
                </a:extLst>
              </a:tr>
              <a:tr h="830234">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pairs of developers work on all areas of the system, so that no islands of expertise develop and all the developers take responsibility for all of the code. Anyone can change anything.</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30234">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 </a:t>
                      </a:r>
                      <a:r>
                        <a:rPr lang="en-US" sz="1600" kern="1200" dirty="0">
                          <a:solidFill>
                            <a:schemeClr val="dk1"/>
                          </a:solidFill>
                          <a:latin typeface="Arial"/>
                          <a:ea typeface="+mn-ea"/>
                          <a:cs typeface="Arial"/>
                        </a:rPr>
                        <a:t>A steady, sustainable pace leads to better software and healthier teams.</a:t>
                      </a:r>
                      <a:endParaRPr lang="en-GB" sz="1600" kern="1200" dirty="0">
                        <a:solidFill>
                          <a:schemeClr val="dk1"/>
                        </a:solidFill>
                        <a:latin typeface="Arial"/>
                        <a:ea typeface="+mn-ea"/>
                        <a:cs typeface="Arial"/>
                      </a:endParaRPr>
                    </a:p>
                  </a:txBody>
                  <a:tcPr marL="73025" marR="73025" marT="0" marB="91440"/>
                </a:tc>
                <a:extLst>
                  <a:ext uri="{0D108BD9-81ED-4DB2-BD59-A6C34878D82A}">
                    <a16:rowId xmlns:a16="http://schemas.microsoft.com/office/drawing/2014/main" val="10003"/>
                  </a:ext>
                </a:extLst>
              </a:tr>
              <a:tr h="128308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dirty="0"/>
              <a:t>XP and agile principles</a:t>
            </a:r>
          </a:p>
        </p:txBody>
      </p:sp>
      <p:sp>
        <p:nvSpPr>
          <p:cNvPr id="1169411" name="Rectangle 3"/>
          <p:cNvSpPr>
            <a:spLocks noGrp="1" noChangeArrowheads="1"/>
          </p:cNvSpPr>
          <p:nvPr>
            <p:ph idx="1"/>
          </p:nvPr>
        </p:nvSpPr>
        <p:spPr/>
        <p:txBody>
          <a:bodyPr/>
          <a:lstStyle/>
          <a:p>
            <a:r>
              <a:rPr lang="en-US" sz="2400" b="1" dirty="0"/>
              <a:t>Incremental development </a:t>
            </a:r>
            <a:r>
              <a:rPr lang="en-US" sz="2400" dirty="0"/>
              <a:t>is supported through small, frequent system releases.</a:t>
            </a:r>
          </a:p>
          <a:p>
            <a:r>
              <a:rPr lang="en-US" sz="2400" b="1" dirty="0"/>
              <a:t>Customer involvement </a:t>
            </a:r>
            <a:r>
              <a:rPr lang="en-US" sz="2400" dirty="0"/>
              <a:t>means full-time customer engagement with the team.</a:t>
            </a:r>
          </a:p>
          <a:p>
            <a:r>
              <a:rPr lang="en-US" sz="2400" b="1" dirty="0"/>
              <a:t>People not process </a:t>
            </a:r>
            <a:r>
              <a:rPr lang="en-US" sz="2400" dirty="0"/>
              <a:t>through pair programming, collective ownership and a process that avoids long working hours</a:t>
            </a:r>
            <a:r>
              <a:rPr lang="en-US" dirty="0"/>
              <a:t> </a:t>
            </a:r>
            <a:r>
              <a:rPr lang="en-US" b="1" i="1" dirty="0"/>
              <a:t>support teamwork, knowledge sharing, and long-term productivity</a:t>
            </a:r>
            <a:r>
              <a:rPr lang="en-US" sz="2400" b="1" dirty="0"/>
              <a:t>.</a:t>
            </a:r>
          </a:p>
          <a:p>
            <a:r>
              <a:rPr lang="en-US" sz="2400" b="1" dirty="0"/>
              <a:t>Embracing Change </a:t>
            </a:r>
            <a:r>
              <a:rPr lang="en-US" sz="2400" dirty="0"/>
              <a:t>supported through regular system releases.</a:t>
            </a:r>
          </a:p>
          <a:p>
            <a:r>
              <a:rPr lang="en-US" sz="2400" b="1" dirty="0"/>
              <a:t>Maintaining simplicity </a:t>
            </a:r>
            <a:r>
              <a:rPr lang="en-US" sz="2400" dirty="0"/>
              <a:t>through constant refactoring of code.</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Influential XP practices</a:t>
            </a:r>
          </a:p>
        </p:txBody>
      </p:sp>
      <p:sp>
        <p:nvSpPr>
          <p:cNvPr id="3" name="Content Placeholder 2"/>
          <p:cNvSpPr>
            <a:spLocks noGrp="1"/>
          </p:cNvSpPr>
          <p:nvPr>
            <p:ph idx="1"/>
          </p:nvPr>
        </p:nvSpPr>
        <p:spPr/>
        <p:txBody>
          <a:bodyPr/>
          <a:lstStyle/>
          <a:p>
            <a:r>
              <a:rPr lang="en-US" dirty="0"/>
              <a:t>Extreme programming has a technical focus and is not easy to integrate with management practice in most organizations.</a:t>
            </a:r>
          </a:p>
          <a:p>
            <a:r>
              <a:rPr lang="en-US" dirty="0"/>
              <a:t>Consequently, while agile development uses practices from XP, the method as originally defined is not widely used.</a:t>
            </a:r>
          </a:p>
          <a:p>
            <a:r>
              <a:rPr lang="en-US" dirty="0"/>
              <a:t>Key Influential XP practices:</a:t>
            </a:r>
          </a:p>
          <a:p>
            <a:pPr lvl="1"/>
            <a:r>
              <a:rPr lang="en-US" dirty="0"/>
              <a:t>User stories for specification</a:t>
            </a:r>
          </a:p>
          <a:p>
            <a:pPr lvl="1"/>
            <a:r>
              <a:rPr lang="en-US" dirty="0"/>
              <a:t>Refactoring</a:t>
            </a:r>
          </a:p>
          <a:p>
            <a:pPr lvl="1"/>
            <a:r>
              <a:rPr lang="en-US" dirty="0"/>
              <a:t>Test-first development</a:t>
            </a:r>
          </a:p>
          <a:p>
            <a:pPr lvl="1"/>
            <a:r>
              <a:rPr lang="en-US" dirty="0"/>
              <a:t>Pair programming</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2466453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a:t>User stories for requirements</a:t>
            </a:r>
          </a:p>
        </p:txBody>
      </p:sp>
      <p:sp>
        <p:nvSpPr>
          <p:cNvPr id="1170435" name="Rectangle 3"/>
          <p:cNvSpPr>
            <a:spLocks noGrp="1" noChangeArrowheads="1"/>
          </p:cNvSpPr>
          <p:nvPr>
            <p:ph idx="1"/>
          </p:nvPr>
        </p:nvSpPr>
        <p:spPr/>
        <p:txBody>
          <a:bodyPr/>
          <a:lstStyle/>
          <a:p>
            <a:r>
              <a:rPr lang="en-US" dirty="0"/>
              <a:t>In XP, a customer or user is part of the XP team and is responsible for making decisions on requirements.</a:t>
            </a:r>
          </a:p>
          <a:p>
            <a:r>
              <a:rPr lang="en-US" dirty="0"/>
              <a:t>User requirements are expressed as user stories or scenarios.</a:t>
            </a:r>
          </a:p>
          <a:p>
            <a:r>
              <a:rPr lang="en-US" dirty="0"/>
              <a:t>These are written on cards and the development team break them down into implementation tasks. </a:t>
            </a:r>
          </a:p>
          <a:p>
            <a:pPr lvl="1"/>
            <a:r>
              <a:rPr lang="en-US" dirty="0"/>
              <a:t>These tasks are the basis of schedule and cost estimates.</a:t>
            </a:r>
          </a:p>
          <a:p>
            <a:r>
              <a:rPr lang="en-US" dirty="0"/>
              <a:t>The customer chooses the stories for inclusion in the next </a:t>
            </a:r>
          </a:p>
          <a:p>
            <a:pPr lvl="1"/>
            <a:r>
              <a:rPr lang="en-US" dirty="0"/>
              <a:t>This decision is based on two things: the </a:t>
            </a:r>
            <a:r>
              <a:rPr lang="en-US" b="1" dirty="0"/>
              <a:t>priority of the story</a:t>
            </a:r>
            <a:r>
              <a:rPr lang="en-US" dirty="0"/>
              <a:t> and the </a:t>
            </a:r>
            <a:r>
              <a:rPr lang="en-US" b="1" dirty="0"/>
              <a:t>schedule estimates</a:t>
            </a:r>
            <a:r>
              <a:rPr lang="en-US" dirty="0"/>
              <a:t> provided by the developers.</a:t>
            </a:r>
          </a:p>
          <a:p>
            <a:br>
              <a:rPr lang="en-US" dirty="0"/>
            </a:br>
            <a:endParaRPr lang="en-US" dirty="0"/>
          </a:p>
          <a:p>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A ‘prescribing medication’ story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pic>
        <p:nvPicPr>
          <p:cNvPr id="4" name="Picture 3" descr="3.5 StoryCard.eps"/>
          <p:cNvPicPr>
            <a:picLocks noChangeAspect="1"/>
          </p:cNvPicPr>
          <p:nvPr/>
        </p:nvPicPr>
        <p:blipFill>
          <a:blip r:embed="rId3"/>
          <a:stretch>
            <a:fillRect/>
          </a:stretch>
        </p:blipFill>
        <p:spPr>
          <a:xfrm>
            <a:off x="1440914" y="1566747"/>
            <a:ext cx="5968294" cy="478960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C00A-6D34-C4AB-87B4-7032EBF06393}"/>
              </a:ext>
            </a:extLst>
          </p:cNvPr>
          <p:cNvSpPr>
            <a:spLocks noGrp="1"/>
          </p:cNvSpPr>
          <p:nvPr>
            <p:ph type="title"/>
          </p:nvPr>
        </p:nvSpPr>
        <p:spPr/>
        <p:txBody>
          <a:bodyPr/>
          <a:lstStyle/>
          <a:p>
            <a:r>
              <a:rPr lang="en-US" dirty="0"/>
              <a:t>User Story</a:t>
            </a:r>
            <a:endParaRPr lang="en-CA" dirty="0"/>
          </a:p>
        </p:txBody>
      </p:sp>
      <p:sp>
        <p:nvSpPr>
          <p:cNvPr id="3" name="Content Placeholder 2">
            <a:extLst>
              <a:ext uri="{FF2B5EF4-FFF2-40B4-BE49-F238E27FC236}">
                <a16:creationId xmlns:a16="http://schemas.microsoft.com/office/drawing/2014/main" id="{70D8D479-007C-49EB-54EA-F11B5C9D6B03}"/>
              </a:ext>
            </a:extLst>
          </p:cNvPr>
          <p:cNvSpPr>
            <a:spLocks noGrp="1"/>
          </p:cNvSpPr>
          <p:nvPr>
            <p:ph idx="1"/>
          </p:nvPr>
        </p:nvSpPr>
        <p:spPr/>
        <p:txBody>
          <a:bodyPr/>
          <a:lstStyle/>
          <a:p>
            <a:pPr>
              <a:lnSpc>
                <a:spcPct val="150000"/>
              </a:lnSpc>
            </a:pPr>
            <a:r>
              <a:rPr lang="en-US" dirty="0"/>
              <a:t>In XP, a user story is usually written in the form:</a:t>
            </a:r>
          </a:p>
          <a:p>
            <a:pPr lvl="1">
              <a:lnSpc>
                <a:spcPct val="150000"/>
              </a:lnSpc>
            </a:pPr>
            <a:r>
              <a:rPr lang="en-US" i="1" dirty="0"/>
              <a:t>As a &lt;user&gt;, I want … so that …</a:t>
            </a:r>
          </a:p>
          <a:p>
            <a:pPr>
              <a:lnSpc>
                <a:spcPct val="150000"/>
              </a:lnSpc>
            </a:pPr>
            <a:r>
              <a:rPr lang="en-US" b="1" dirty="0"/>
              <a:t>Example: </a:t>
            </a:r>
          </a:p>
          <a:p>
            <a:pPr marL="0" indent="0">
              <a:lnSpc>
                <a:spcPct val="150000"/>
              </a:lnSpc>
              <a:buNone/>
            </a:pPr>
            <a:r>
              <a:rPr lang="en-US" b="1" dirty="0"/>
              <a:t>As a doctor, </a:t>
            </a:r>
            <a:r>
              <a:rPr lang="en-US" dirty="0"/>
              <a:t>I want to prescribe medication for a patient </a:t>
            </a:r>
            <a:r>
              <a:rPr lang="en-US" b="1" dirty="0"/>
              <a:t>so that </a:t>
            </a:r>
            <a:r>
              <a:rPr lang="en-US" dirty="0"/>
              <a:t>the patient receives the correct and safe treatment.</a:t>
            </a:r>
          </a:p>
          <a:p>
            <a:pPr lvl="1">
              <a:lnSpc>
                <a:spcPct val="150000"/>
              </a:lnSpc>
            </a:pPr>
            <a:r>
              <a:rPr lang="en-US" dirty="0"/>
              <a:t>This single sentence captures the </a:t>
            </a:r>
            <a:r>
              <a:rPr lang="en-US" b="1" dirty="0"/>
              <a:t>goal</a:t>
            </a:r>
            <a:r>
              <a:rPr lang="en-US" dirty="0"/>
              <a:t> and the </a:t>
            </a:r>
            <a:r>
              <a:rPr lang="en-US" b="1" dirty="0"/>
              <a:t>business value</a:t>
            </a:r>
            <a:r>
              <a:rPr lang="en-US" dirty="0"/>
              <a:t>.</a:t>
            </a:r>
          </a:p>
          <a:p>
            <a:pPr lvl="1">
              <a:lnSpc>
                <a:spcPct val="150000"/>
              </a:lnSpc>
            </a:pPr>
            <a:endParaRPr lang="en-US" dirty="0"/>
          </a:p>
          <a:p>
            <a:endParaRPr lang="en-CA" dirty="0"/>
          </a:p>
        </p:txBody>
      </p:sp>
      <p:sp>
        <p:nvSpPr>
          <p:cNvPr id="4" name="Date Placeholder 3">
            <a:extLst>
              <a:ext uri="{FF2B5EF4-FFF2-40B4-BE49-F238E27FC236}">
                <a16:creationId xmlns:a16="http://schemas.microsoft.com/office/drawing/2014/main" id="{7BC8C217-1A46-6AED-8432-B8627FF6A2E1}"/>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BC9A1313-A310-6B49-AFD8-EFDE86D6D66F}"/>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B8252480-71A1-EE1B-1723-5BD0CE6554C9}"/>
              </a:ext>
            </a:extLst>
          </p:cNvPr>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spTree>
    <p:extLst>
      <p:ext uri="{BB962C8B-B14F-4D97-AF65-F5344CB8AC3E}">
        <p14:creationId xmlns:p14="http://schemas.microsoft.com/office/powerpoint/2010/main" val="2289502496"/>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Examples of task cards for prescribing medication </a:t>
            </a:r>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pic>
        <p:nvPicPr>
          <p:cNvPr id="4" name="Picture 3" descr="3.6 TaskCards.eps"/>
          <p:cNvPicPr>
            <a:picLocks noChangeAspect="1"/>
          </p:cNvPicPr>
          <p:nvPr/>
        </p:nvPicPr>
        <p:blipFill>
          <a:blip r:embed="rId3"/>
          <a:stretch>
            <a:fillRect/>
          </a:stretch>
        </p:blipFill>
        <p:spPr>
          <a:xfrm>
            <a:off x="1333382" y="1760870"/>
            <a:ext cx="6417050" cy="451867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dirty="0"/>
              <a:t>Refactoring</a:t>
            </a:r>
          </a:p>
        </p:txBody>
      </p:sp>
      <p:sp>
        <p:nvSpPr>
          <p:cNvPr id="1171459" name="Rectangle 3"/>
          <p:cNvSpPr>
            <a:spLocks noGrp="1" noChangeArrowheads="1"/>
          </p:cNvSpPr>
          <p:nvPr>
            <p:ph idx="1"/>
          </p:nvPr>
        </p:nvSpPr>
        <p:spPr/>
        <p:txBody>
          <a:bodyPr/>
          <a:lstStyle/>
          <a:p>
            <a:pPr>
              <a:lnSpc>
                <a:spcPct val="90000"/>
              </a:lnSpc>
            </a:pPr>
            <a:r>
              <a:rPr lang="en-US" dirty="0"/>
              <a:t>Conventional wisdom in software engineering is to design for change. It is worth spending time and effort anticipating changes as this reduces costs later in the life cycle.</a:t>
            </a:r>
          </a:p>
          <a:p>
            <a:pPr>
              <a:lnSpc>
                <a:spcPct val="90000"/>
              </a:lnSpc>
            </a:pPr>
            <a:r>
              <a:rPr lang="en-US" dirty="0"/>
              <a:t>XP says this approach is not useful because future changes are unpredictable.</a:t>
            </a:r>
          </a:p>
          <a:p>
            <a:pPr>
              <a:lnSpc>
                <a:spcPct val="90000"/>
              </a:lnSpc>
            </a:pPr>
            <a:r>
              <a:rPr lang="en-US" dirty="0"/>
              <a:t>Rather, it proposes constant code improvement (refactoring) to make changes easier when they have to be implemented.</a:t>
            </a:r>
          </a:p>
          <a:p>
            <a:r>
              <a:rPr lang="en-US" dirty="0"/>
              <a:t>By refactoring regularly:</a:t>
            </a:r>
          </a:p>
          <a:p>
            <a:pPr lvl="1"/>
            <a:r>
              <a:rPr lang="en-US" dirty="0"/>
              <a:t>The code stays easy to understand</a:t>
            </a:r>
          </a:p>
          <a:p>
            <a:pPr lvl="1"/>
            <a:r>
              <a:rPr lang="en-US" dirty="0"/>
              <a:t>New requirements are easier to implement</a:t>
            </a:r>
          </a:p>
          <a:p>
            <a:pPr lvl="1"/>
            <a:r>
              <a:rPr lang="en-US" dirty="0"/>
              <a:t>Long-term maintenance costs are reduced</a:t>
            </a:r>
          </a:p>
          <a:p>
            <a:pPr>
              <a:lnSpc>
                <a:spcPct val="90000"/>
              </a:lnSpc>
            </a:pPr>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Refactoring</a:t>
            </a:r>
          </a:p>
        </p:txBody>
      </p:sp>
      <p:sp>
        <p:nvSpPr>
          <p:cNvPr id="3" name="Content Placeholder 2"/>
          <p:cNvSpPr>
            <a:spLocks noGrp="1"/>
          </p:cNvSpPr>
          <p:nvPr>
            <p:ph idx="1"/>
          </p:nvPr>
        </p:nvSpPr>
        <p:spPr/>
        <p:txBody>
          <a:bodyPr/>
          <a:lstStyle/>
          <a:p>
            <a:r>
              <a:rPr lang="en-US" dirty="0"/>
              <a:t>Programming team look for possible software improvements and make these improvements even where there is no immediate need for them.</a:t>
            </a:r>
          </a:p>
          <a:p>
            <a:r>
              <a:rPr lang="en-US" dirty="0"/>
              <a:t>This improves the understandability of the software and so reduces the need for documentation.</a:t>
            </a:r>
          </a:p>
          <a:p>
            <a:r>
              <a:rPr lang="en-US" dirty="0"/>
              <a:t>Changes are easier to make because the code is well-structured and clear.</a:t>
            </a:r>
          </a:p>
          <a:p>
            <a:r>
              <a:rPr lang="en-US" dirty="0"/>
              <a:t>However, some changes requires architecture refactoring and this is much more expensive.</a:t>
            </a:r>
          </a:p>
          <a:p>
            <a:pPr lvl="1"/>
            <a:r>
              <a:rPr lang="en-US" dirty="0"/>
              <a:t>That is why XP encourages </a:t>
            </a:r>
            <a:r>
              <a:rPr lang="en-US" b="1" dirty="0"/>
              <a:t>continuous small </a:t>
            </a:r>
            <a:r>
              <a:rPr lang="en-US" b="1" dirty="0" err="1"/>
              <a:t>refactorings</a:t>
            </a:r>
            <a:r>
              <a:rPr lang="en-US" dirty="0"/>
              <a:t>, to reduce the chance that large architectural changes will be needed later.</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refactoring</a:t>
            </a:r>
          </a:p>
        </p:txBody>
      </p:sp>
      <p:sp>
        <p:nvSpPr>
          <p:cNvPr id="3" name="Content Placeholder 2"/>
          <p:cNvSpPr>
            <a:spLocks noGrp="1"/>
          </p:cNvSpPr>
          <p:nvPr>
            <p:ph idx="1"/>
          </p:nvPr>
        </p:nvSpPr>
        <p:spPr/>
        <p:txBody>
          <a:bodyPr/>
          <a:lstStyle/>
          <a:p>
            <a:r>
              <a:rPr lang="en-US" dirty="0"/>
              <a:t>Re-organization of a class hierarchy to remove duplicate code.</a:t>
            </a:r>
          </a:p>
          <a:p>
            <a:r>
              <a:rPr lang="en-US" dirty="0"/>
              <a:t>Tidying up and renaming attributes and methods to make them easier to understand.</a:t>
            </a:r>
          </a:p>
          <a:p>
            <a:r>
              <a:rPr lang="en-US" dirty="0"/>
              <a:t>The replacement of inline code with calls to methods that have been included in a program library.</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dirty="0"/>
              <a:t>Test-first development</a:t>
            </a:r>
          </a:p>
        </p:txBody>
      </p:sp>
      <p:sp>
        <p:nvSpPr>
          <p:cNvPr id="1172483" name="Rectangle 3"/>
          <p:cNvSpPr>
            <a:spLocks noGrp="1" noChangeArrowheads="1"/>
          </p:cNvSpPr>
          <p:nvPr>
            <p:ph idx="1"/>
          </p:nvPr>
        </p:nvSpPr>
        <p:spPr/>
        <p:txBody>
          <a:bodyPr/>
          <a:lstStyle/>
          <a:p>
            <a:r>
              <a:rPr lang="en-US" dirty="0"/>
              <a:t>Testing is central to XP </a:t>
            </a:r>
          </a:p>
          <a:p>
            <a:pPr lvl="1"/>
            <a:r>
              <a:rPr lang="en-US" dirty="0"/>
              <a:t> XP has developed an approach where the program is tested </a:t>
            </a:r>
            <a:r>
              <a:rPr lang="en-US" b="1" dirty="0"/>
              <a:t>after every change has been made.</a:t>
            </a:r>
          </a:p>
          <a:p>
            <a:r>
              <a:rPr lang="en-US" dirty="0"/>
              <a:t>XP testing features:</a:t>
            </a:r>
          </a:p>
          <a:p>
            <a:pPr lvl="1"/>
            <a:r>
              <a:rPr lang="en-US" dirty="0"/>
              <a:t>Test-first development.</a:t>
            </a:r>
          </a:p>
          <a:p>
            <a:pPr lvl="1"/>
            <a:r>
              <a:rPr lang="en-US" dirty="0"/>
              <a:t>Incremental test development from scenarios.</a:t>
            </a:r>
          </a:p>
          <a:p>
            <a:pPr lvl="1"/>
            <a:r>
              <a:rPr lang="en-US" dirty="0"/>
              <a:t>User involvement in test development and validation.</a:t>
            </a:r>
          </a:p>
          <a:p>
            <a:pPr lvl="1"/>
            <a:r>
              <a:rPr lang="en-US" dirty="0"/>
              <a:t>Automated test harnesses are used to run all component tests each time that a new release is built.</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dirty="0"/>
              <a:t>Test-driven development</a:t>
            </a:r>
          </a:p>
        </p:txBody>
      </p:sp>
      <p:sp>
        <p:nvSpPr>
          <p:cNvPr id="1173507" name="Rectangle 3"/>
          <p:cNvSpPr>
            <a:spLocks noGrp="1" noChangeArrowheads="1"/>
          </p:cNvSpPr>
          <p:nvPr>
            <p:ph idx="1"/>
          </p:nvPr>
        </p:nvSpPr>
        <p:spPr/>
        <p:txBody>
          <a:bodyPr/>
          <a:lstStyle/>
          <a:p>
            <a:pPr>
              <a:lnSpc>
                <a:spcPct val="90000"/>
              </a:lnSpc>
            </a:pPr>
            <a:r>
              <a:rPr lang="en-US" dirty="0"/>
              <a:t>Writing tests before code clarifies the requirements to be implemented.</a:t>
            </a:r>
          </a:p>
          <a:p>
            <a:pPr>
              <a:lnSpc>
                <a:spcPct val="90000"/>
              </a:lnSpc>
            </a:pPr>
            <a:r>
              <a:rPr lang="en-US" dirty="0"/>
              <a:t>Tests are written as programs rather than data so that they can be executed automatically. The test includes a check that it has executed correctly.</a:t>
            </a:r>
          </a:p>
          <a:p>
            <a:pPr lvl="1">
              <a:lnSpc>
                <a:spcPct val="90000"/>
              </a:lnSpc>
            </a:pPr>
            <a:r>
              <a:rPr lang="en-US" dirty="0"/>
              <a:t>Usually relies on a testing framework such as </a:t>
            </a:r>
            <a:r>
              <a:rPr lang="en-US" dirty="0" err="1"/>
              <a:t>Junit</a:t>
            </a:r>
            <a:r>
              <a:rPr lang="en-US" dirty="0"/>
              <a:t>.</a:t>
            </a:r>
          </a:p>
          <a:p>
            <a:pPr>
              <a:lnSpc>
                <a:spcPct val="90000"/>
              </a:lnSpc>
            </a:pPr>
            <a:r>
              <a:rPr lang="en-US" dirty="0"/>
              <a:t>All previous and new tests are run automatically when new functionality is added, thus checking that the new functionality has not introduced errors.</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involvement</a:t>
            </a:r>
          </a:p>
        </p:txBody>
      </p:sp>
      <p:sp>
        <p:nvSpPr>
          <p:cNvPr id="3" name="Content Placeholder 2"/>
          <p:cNvSpPr>
            <a:spLocks noGrp="1"/>
          </p:cNvSpPr>
          <p:nvPr>
            <p:ph idx="1"/>
          </p:nvPr>
        </p:nvSpPr>
        <p:spPr/>
        <p:txBody>
          <a:bodyPr/>
          <a:lstStyle/>
          <a:p>
            <a:r>
              <a:rPr lang="en-GB" dirty="0"/>
              <a:t>The role of the customer in the testing process is </a:t>
            </a:r>
            <a:r>
              <a:rPr lang="en-GB" b="1" dirty="0"/>
              <a:t>to help develop acceptance tests </a:t>
            </a:r>
            <a:r>
              <a:rPr lang="en-GB" dirty="0"/>
              <a:t>for the stories that are to be delivered in the next release of the system. </a:t>
            </a:r>
          </a:p>
          <a:p>
            <a:r>
              <a:rPr lang="en-GB" dirty="0"/>
              <a:t>The customer who is part of the team writes tests as development proceeds. All new code is therefore validated to ensure that it is what the customer needs. </a:t>
            </a:r>
          </a:p>
          <a:p>
            <a:r>
              <a:rPr lang="en-GB" dirty="0"/>
              <a:t>However, people adopting the customer </a:t>
            </a:r>
            <a:r>
              <a:rPr lang="en-GB" b="1" dirty="0"/>
              <a:t>role have limited time available</a:t>
            </a:r>
            <a:r>
              <a:rPr lang="en-GB" dirty="0"/>
              <a:t> and so cannot work full-time with the development team. </a:t>
            </a:r>
          </a:p>
          <a:p>
            <a:pPr lvl="1"/>
            <a:r>
              <a:rPr lang="en-GB" dirty="0"/>
              <a:t>They may feel that providing the requirements was enough of a contribution and so may be reluctant to get involved in the testing process. </a:t>
            </a:r>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Test case description for dose checking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pic>
        <p:nvPicPr>
          <p:cNvPr id="4" name="Picture 3" descr="3.7 DoseChecking.eps"/>
          <p:cNvPicPr>
            <a:picLocks noChangeAspect="1"/>
          </p:cNvPicPr>
          <p:nvPr/>
        </p:nvPicPr>
        <p:blipFill>
          <a:blip r:embed="rId3"/>
          <a:stretch>
            <a:fillRect/>
          </a:stretch>
        </p:blipFill>
        <p:spPr>
          <a:xfrm>
            <a:off x="805735" y="1950230"/>
            <a:ext cx="7436363" cy="4049252"/>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automation</a:t>
            </a:r>
          </a:p>
        </p:txBody>
      </p:sp>
      <p:sp>
        <p:nvSpPr>
          <p:cNvPr id="3" name="Content Placeholder 2"/>
          <p:cNvSpPr>
            <a:spLocks noGrp="1"/>
          </p:cNvSpPr>
          <p:nvPr>
            <p:ph idx="1"/>
          </p:nvPr>
        </p:nvSpPr>
        <p:spPr/>
        <p:txBody>
          <a:bodyPr/>
          <a:lstStyle/>
          <a:p>
            <a:r>
              <a:rPr lang="en-GB" dirty="0"/>
              <a:t>Test automation means that tests are written as executable components before the task is implemented </a:t>
            </a:r>
          </a:p>
          <a:p>
            <a:pPr lvl="1"/>
            <a:r>
              <a:rPr lang="en-GB" dirty="0"/>
              <a:t>These testing components should be stand-alone, should simulate the submission of input to be tested and should check that the result meets the output specification. </a:t>
            </a:r>
          </a:p>
          <a:p>
            <a:pPr lvl="1"/>
            <a:r>
              <a:rPr lang="en-GB" dirty="0"/>
              <a:t>An automated test framework (e.g. </a:t>
            </a:r>
            <a:r>
              <a:rPr lang="en-GB" dirty="0" err="1"/>
              <a:t>Junit</a:t>
            </a:r>
            <a:r>
              <a:rPr lang="en-GB" dirty="0"/>
              <a:t>) is a system that makes it easy to write executable tests and submit a set of tests for execution. </a:t>
            </a:r>
          </a:p>
          <a:p>
            <a:r>
              <a:rPr lang="en-GB" dirty="0"/>
              <a:t>As testing is automated, there is always a set of tests that can be quickly and easily executed</a:t>
            </a:r>
          </a:p>
          <a:p>
            <a:pPr lvl="1"/>
            <a:r>
              <a:rPr lang="en-GB" dirty="0"/>
              <a:t>Whenever any functionality is added to the system, the tests can be run and problems that the new code has introduced can be caught immediately.  </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test-first development</a:t>
            </a:r>
          </a:p>
        </p:txBody>
      </p:sp>
      <p:sp>
        <p:nvSpPr>
          <p:cNvPr id="3" name="Content Placeholder 2"/>
          <p:cNvSpPr>
            <a:spLocks noGrp="1"/>
          </p:cNvSpPr>
          <p:nvPr>
            <p:ph idx="1"/>
          </p:nvPr>
        </p:nvSpPr>
        <p:spPr/>
        <p:txBody>
          <a:bodyPr/>
          <a:lstStyle/>
          <a:p>
            <a:r>
              <a:rPr lang="en-US" dirty="0"/>
              <a:t>Many programmers naturally prefer writing production code rather than writing tests</a:t>
            </a:r>
            <a:r>
              <a:rPr lang="en-US" b="1" u="sng" dirty="0"/>
              <a:t>,</a:t>
            </a:r>
            <a:r>
              <a:rPr lang="en-GB" dirty="0"/>
              <a:t> they take short cuts when writing tests.</a:t>
            </a:r>
          </a:p>
          <a:p>
            <a:pPr lvl="1"/>
            <a:r>
              <a:rPr lang="en-GB" dirty="0"/>
              <a:t> For example, they may write incomplete tests that do not check for all possible exceptions that may occur. </a:t>
            </a:r>
          </a:p>
          <a:p>
            <a:r>
              <a:rPr lang="en-GB" b="1" dirty="0"/>
              <a:t>Some tests can be very difficult to write incrementally. </a:t>
            </a:r>
          </a:p>
          <a:p>
            <a:pPr lvl="1"/>
            <a:r>
              <a:rPr lang="en-GB" dirty="0"/>
              <a:t>For example, in a complex user interface, it is often difficult to write unit tests for the code that implements the ‘display logic’ and workflow between screens. </a:t>
            </a:r>
          </a:p>
          <a:p>
            <a:r>
              <a:rPr lang="en-GB" dirty="0"/>
              <a:t>It difficult to judge the completeness of a set of tests. Although you may have a lot of system tests, your test set may not provide complete coverage.  </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idx="1"/>
          </p:nvPr>
        </p:nvSpPr>
        <p:spPr/>
        <p:txBody>
          <a:bodyPr/>
          <a:lstStyle/>
          <a:p>
            <a:pPr>
              <a:lnSpc>
                <a:spcPct val="90000"/>
              </a:lnSpc>
            </a:pPr>
            <a:r>
              <a:rPr lang="en-US" sz="2400" dirty="0"/>
              <a:t>Pair </a:t>
            </a:r>
            <a:r>
              <a:rPr lang="en-US" dirty="0"/>
              <a:t>programming involves </a:t>
            </a:r>
            <a:r>
              <a:rPr lang="en-US" sz="2400" dirty="0"/>
              <a:t>programmers working in pairs, developing code together.</a:t>
            </a:r>
          </a:p>
          <a:p>
            <a:pPr>
              <a:lnSpc>
                <a:spcPct val="90000"/>
              </a:lnSpc>
            </a:pPr>
            <a:r>
              <a:rPr lang="en-US" sz="2400" dirty="0"/>
              <a:t>This helps develop common ownership of code and spreads knowledge across the team.</a:t>
            </a:r>
          </a:p>
          <a:p>
            <a:pPr>
              <a:lnSpc>
                <a:spcPct val="90000"/>
              </a:lnSpc>
            </a:pPr>
            <a:r>
              <a:rPr lang="en-US" sz="2400" dirty="0"/>
              <a:t>It serves as an informal review process as each line of code is looked at by more than 1 person.</a:t>
            </a:r>
          </a:p>
          <a:p>
            <a:pPr>
              <a:lnSpc>
                <a:spcPct val="90000"/>
              </a:lnSpc>
            </a:pPr>
            <a:r>
              <a:rPr lang="en-US" sz="2400" dirty="0"/>
              <a:t>It encourages refactoring as the whole team can benefit from </a:t>
            </a:r>
            <a:r>
              <a:rPr lang="en-US" dirty="0"/>
              <a:t>improving the system code.</a:t>
            </a:r>
            <a:endParaRPr lang="en-US" sz="2400"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3" name="Content Placeholder 2"/>
          <p:cNvSpPr>
            <a:spLocks noGrp="1"/>
          </p:cNvSpPr>
          <p:nvPr>
            <p:ph idx="1"/>
          </p:nvPr>
        </p:nvSpPr>
        <p:spPr>
          <a:xfrm>
            <a:off x="457200" y="1384981"/>
            <a:ext cx="8229600" cy="4525963"/>
          </a:xfrm>
        </p:spPr>
        <p:txBody>
          <a:bodyPr/>
          <a:lstStyle/>
          <a:p>
            <a:r>
              <a:rPr lang="en-GB" dirty="0"/>
              <a:t>In pair programming, programmers sit together at the same computer to develop the software.</a:t>
            </a:r>
          </a:p>
          <a:p>
            <a:r>
              <a:rPr lang="en-GB" dirty="0"/>
              <a:t>Pairs are created dynamically so that all team members work with each other during the development process.</a:t>
            </a:r>
          </a:p>
          <a:p>
            <a:r>
              <a:rPr lang="en-GB" dirty="0"/>
              <a:t>The sharing of knowledge that happens during pair programming is very important as it </a:t>
            </a:r>
            <a:r>
              <a:rPr lang="en-GB" b="1" dirty="0"/>
              <a:t>reduces the overall risks to a project when team members leave.</a:t>
            </a:r>
          </a:p>
          <a:p>
            <a:r>
              <a:rPr lang="en-GB" dirty="0"/>
              <a:t>Pair programming is not necessarily inefficient and there is some evidence that suggests that </a:t>
            </a:r>
            <a:r>
              <a:rPr lang="en-GB" b="1" dirty="0"/>
              <a:t>a pair working together is more efficient than 2 programmers working separately. </a:t>
            </a:r>
          </a:p>
          <a:p>
            <a:pPr lvl="1"/>
            <a:r>
              <a:rPr lang="en-US" dirty="0"/>
              <a:t>pair programming improves </a:t>
            </a:r>
            <a:r>
              <a:rPr lang="en-US" b="1" dirty="0"/>
              <a:t>code quality, team communication, knowledge sharing, and project reliability</a:t>
            </a:r>
          </a:p>
          <a:p>
            <a:endParaRPr lang="en-GB" dirty="0"/>
          </a:p>
          <a:p>
            <a:endParaRPr lang="en-GB"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2338"/>
            <a:ext cx="8229600" cy="1143000"/>
          </a:xfrm>
        </p:spPr>
        <p:txBody>
          <a:bodyPr/>
          <a:lstStyle/>
          <a:p>
            <a:pPr algn="ctr"/>
            <a:r>
              <a:rPr lang="en-US" dirty="0"/>
              <a:t>Agile project management</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82006760"/>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project management</a:t>
            </a:r>
          </a:p>
        </p:txBody>
      </p:sp>
      <p:sp>
        <p:nvSpPr>
          <p:cNvPr id="3" name="Content Placeholder 2"/>
          <p:cNvSpPr>
            <a:spLocks noGrp="1"/>
          </p:cNvSpPr>
          <p:nvPr>
            <p:ph idx="1"/>
          </p:nvPr>
        </p:nvSpPr>
        <p:spPr>
          <a:xfrm>
            <a:off x="457199" y="1600200"/>
            <a:ext cx="8425543" cy="4659086"/>
          </a:xfrm>
        </p:spPr>
        <p:txBody>
          <a:bodyPr/>
          <a:lstStyle/>
          <a:p>
            <a:r>
              <a:rPr lang="en-GB" dirty="0"/>
              <a:t>The principal responsibility of software project managers is to </a:t>
            </a:r>
            <a:r>
              <a:rPr lang="en-GB" b="1" dirty="0"/>
              <a:t>manage the project </a:t>
            </a:r>
            <a:r>
              <a:rPr lang="en-GB" dirty="0"/>
              <a:t>so that the software is </a:t>
            </a:r>
            <a:r>
              <a:rPr lang="en-GB" b="1" dirty="0"/>
              <a:t>delivered on time </a:t>
            </a:r>
            <a:r>
              <a:rPr lang="en-GB" dirty="0"/>
              <a:t>and </a:t>
            </a:r>
            <a:r>
              <a:rPr lang="en-GB" b="1" dirty="0"/>
              <a:t>within the planned budget </a:t>
            </a:r>
            <a:r>
              <a:rPr lang="en-GB" dirty="0"/>
              <a:t>for the project. </a:t>
            </a:r>
          </a:p>
          <a:p>
            <a:r>
              <a:rPr lang="en-GB" dirty="0"/>
              <a:t>The standard approach to project management is plan-driven. Managers draw up a plan for the project showing </a:t>
            </a:r>
            <a:r>
              <a:rPr lang="en-GB" b="1" dirty="0"/>
              <a:t>what should be delivered</a:t>
            </a:r>
            <a:r>
              <a:rPr lang="en-GB" dirty="0"/>
              <a:t>, </a:t>
            </a:r>
            <a:r>
              <a:rPr lang="en-GB" b="1" dirty="0"/>
              <a:t>when it should be delivered </a:t>
            </a:r>
            <a:r>
              <a:rPr lang="en-GB" dirty="0"/>
              <a:t>and </a:t>
            </a:r>
            <a:r>
              <a:rPr lang="en-GB" b="1" dirty="0"/>
              <a:t>who will work on the development of the project deliverables.</a:t>
            </a:r>
            <a:r>
              <a:rPr lang="en-GB" dirty="0"/>
              <a:t> </a:t>
            </a:r>
          </a:p>
          <a:p>
            <a:r>
              <a:rPr lang="en-GB" dirty="0"/>
              <a:t>Agile project management requires a different approach, which is adapted to </a:t>
            </a:r>
            <a:r>
              <a:rPr lang="en-GB" b="1" dirty="0"/>
              <a:t>incremental development </a:t>
            </a:r>
            <a:r>
              <a:rPr lang="en-GB" dirty="0"/>
              <a:t>and the </a:t>
            </a:r>
            <a:r>
              <a:rPr lang="en-GB" b="1" dirty="0"/>
              <a:t>practices used in agile methods</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a:xfrm>
            <a:off x="457200" y="1554480"/>
            <a:ext cx="8229600" cy="5028882"/>
          </a:xfrm>
        </p:spPr>
        <p:txBody>
          <a:bodyPr/>
          <a:lstStyle/>
          <a:p>
            <a:r>
              <a:rPr lang="en-GB" sz="2000" dirty="0"/>
              <a:t>Scrum is an agile method that focuses on </a:t>
            </a:r>
            <a:r>
              <a:rPr lang="en-GB" sz="2000" b="1" dirty="0"/>
              <a:t>managing iterative development</a:t>
            </a:r>
            <a:r>
              <a:rPr lang="en-GB" sz="2000" dirty="0"/>
              <a:t> rather than specific agile practices.</a:t>
            </a:r>
          </a:p>
          <a:p>
            <a:pPr lvl="1"/>
            <a:r>
              <a:rPr lang="en-US" sz="1800" dirty="0"/>
              <a:t>The main goal of Scrum is to help teams organize work and deliver software in </a:t>
            </a:r>
            <a:r>
              <a:rPr lang="en-US" sz="1800" b="1" dirty="0"/>
              <a:t>small, regular increments</a:t>
            </a:r>
            <a:r>
              <a:rPr lang="en-US" sz="1800" dirty="0"/>
              <a:t>.</a:t>
            </a:r>
            <a:endParaRPr lang="en-GB" sz="1800" dirty="0"/>
          </a:p>
          <a:p>
            <a:r>
              <a:rPr lang="en-GB" sz="2000" dirty="0"/>
              <a:t>There are three phases in Scrum. </a:t>
            </a:r>
          </a:p>
          <a:p>
            <a:pPr lvl="1"/>
            <a:r>
              <a:rPr lang="en-GB" sz="1800" b="1" dirty="0"/>
              <a:t>The initial phase (</a:t>
            </a:r>
            <a:r>
              <a:rPr lang="en-GB" sz="1800" dirty="0"/>
              <a:t>outline planning phase) where you </a:t>
            </a:r>
            <a:r>
              <a:rPr lang="en-GB" sz="1800" b="1" dirty="0"/>
              <a:t>establish</a:t>
            </a:r>
            <a:r>
              <a:rPr lang="en-GB" sz="1800" u="sng" dirty="0"/>
              <a:t> </a:t>
            </a:r>
            <a:r>
              <a:rPr lang="en-GB" sz="1800" b="1" dirty="0"/>
              <a:t>the general objectives for the project </a:t>
            </a:r>
            <a:r>
              <a:rPr lang="en-GB" sz="1800" dirty="0"/>
              <a:t>and </a:t>
            </a:r>
            <a:r>
              <a:rPr lang="en-GB" sz="1800" b="1" dirty="0"/>
              <a:t>design the software architecture. </a:t>
            </a:r>
          </a:p>
          <a:p>
            <a:pPr lvl="1"/>
            <a:r>
              <a:rPr lang="en-GB" sz="1800" b="1" dirty="0"/>
              <a:t>Sprint Cycles</a:t>
            </a:r>
            <a:r>
              <a:rPr lang="en-GB" sz="1800" dirty="0"/>
              <a:t>: </a:t>
            </a:r>
            <a:r>
              <a:rPr lang="en-US" sz="1800" dirty="0"/>
              <a:t>The project progresses through </a:t>
            </a:r>
            <a:r>
              <a:rPr lang="en-GB" sz="1800" dirty="0"/>
              <a:t>a series of sprint cycles, where each cycle develops </a:t>
            </a:r>
            <a:r>
              <a:rPr lang="en-GB" sz="1800" b="1" dirty="0"/>
              <a:t>a working increment </a:t>
            </a:r>
            <a:r>
              <a:rPr lang="en-GB" sz="1800" dirty="0"/>
              <a:t>of the system. </a:t>
            </a:r>
          </a:p>
          <a:p>
            <a:pPr lvl="1"/>
            <a:r>
              <a:rPr lang="en-GB" sz="1800" b="1" dirty="0"/>
              <a:t>The project closure phase </a:t>
            </a:r>
            <a:r>
              <a:rPr lang="en-GB" sz="1800" dirty="0"/>
              <a:t>wraps up the project, completes required documentation such as system help frames and user manuals and assesses the lessons learned from the project.</a:t>
            </a:r>
          </a:p>
          <a:p>
            <a:pPr marL="0" indent="0">
              <a:buNone/>
            </a:pPr>
            <a:endParaRPr lang="en-GB" sz="2000" dirty="0"/>
          </a:p>
          <a:p>
            <a:endParaRPr lang="en-US" sz="2000"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(a)</a:t>
            </a:r>
          </a:p>
        </p:txBody>
      </p:sp>
      <p:graphicFrame>
        <p:nvGraphicFramePr>
          <p:cNvPr id="6" name="Content Placeholder 5"/>
          <p:cNvGraphicFramePr>
            <a:graphicFrameLocks noGrp="1"/>
          </p:cNvGraphicFramePr>
          <p:nvPr>
            <p:ph idx="1"/>
          </p:nvPr>
        </p:nvGraphicFramePr>
        <p:xfrm>
          <a:off x="457200" y="1809750"/>
          <a:ext cx="8229600" cy="4944483"/>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57150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745863">
                <a:tc>
                  <a:txBody>
                    <a:bodyPr/>
                    <a:lstStyle/>
                    <a:p>
                      <a:pPr indent="0" algn="l">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Development team</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 self-organizing group of software developers, which should be no more than 7 people. They are responsible for developing the software and other essential project documents.</a:t>
                      </a:r>
                    </a:p>
                  </a:txBody>
                  <a:tcPr marL="68580" marR="68580" marT="0" marB="0"/>
                </a:tc>
                <a:extLst>
                  <a:ext uri="{0D108BD9-81ED-4DB2-BD59-A6C34878D82A}">
                    <a16:rowId xmlns:a16="http://schemas.microsoft.com/office/drawing/2014/main" val="10001"/>
                  </a:ext>
                </a:extLst>
              </a:tr>
              <a:tr h="827601">
                <a:tc>
                  <a:txBody>
                    <a:bodyPr/>
                    <a:lstStyle/>
                    <a:p>
                      <a:pPr indent="0" algn="l">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Potentially shippable product increment</a:t>
                      </a:r>
                    </a:p>
                  </a:txBody>
                  <a:tcPr marL="68580" marR="68580" marT="0" marB="0"/>
                </a:tc>
                <a:tc>
                  <a:txBody>
                    <a:bodyPr/>
                    <a:lstStyle/>
                    <a:p>
                      <a:pPr indent="0" algn="just">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The software increment that is delivered from a sprint</a:t>
                      </a:r>
                      <a:r>
                        <a:rPr lang="en-GB" sz="1400" dirty="0">
                          <a:solidFill>
                            <a:srgbClr val="000000"/>
                          </a:solidFill>
                          <a:effectLst/>
                          <a:latin typeface="Arial"/>
                          <a:ea typeface="Times New Roman"/>
                          <a:cs typeface="Times New Roman"/>
                        </a:rPr>
                        <a:t>. The idea is that this should be ‘potentially shippable’ which means that it is in a finished state and no further work, such as testing, is needed to  incorporate it into the final product. </a:t>
                      </a:r>
                      <a:r>
                        <a:rPr lang="en-GB" sz="1400" b="1" dirty="0">
                          <a:solidFill>
                            <a:srgbClr val="000000"/>
                          </a:solidFill>
                          <a:effectLst/>
                          <a:latin typeface="Arial"/>
                          <a:ea typeface="Times New Roman"/>
                          <a:cs typeface="Times New Roman"/>
                        </a:rPr>
                        <a:t>In practice, this is not always achievable</a:t>
                      </a:r>
                      <a:r>
                        <a:rPr lang="en-GB" sz="1400" dirty="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827601">
                <a:tc>
                  <a:txBody>
                    <a:bodyPr/>
                    <a:lstStyle/>
                    <a:p>
                      <a:pPr indent="0" algn="l">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Product backlog</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is a list of ‘to do’ items which the Scrum team must tackle. They may be </a:t>
                      </a:r>
                      <a:r>
                        <a:rPr lang="en-GB" sz="1400" b="1" dirty="0">
                          <a:solidFill>
                            <a:srgbClr val="000000"/>
                          </a:solidFill>
                          <a:effectLst/>
                          <a:latin typeface="Arial"/>
                          <a:ea typeface="Times New Roman"/>
                          <a:cs typeface="Times New Roman"/>
                        </a:rPr>
                        <a:t>feature definitions </a:t>
                      </a:r>
                      <a:r>
                        <a:rPr lang="en-GB" sz="1400" dirty="0">
                          <a:solidFill>
                            <a:srgbClr val="000000"/>
                          </a:solidFill>
                          <a:effectLst/>
                          <a:latin typeface="Arial"/>
                          <a:ea typeface="Times New Roman"/>
                          <a:cs typeface="Times New Roman"/>
                        </a:rPr>
                        <a:t>for the software, </a:t>
                      </a:r>
                      <a:r>
                        <a:rPr lang="en-GB" sz="1400" b="1" dirty="0">
                          <a:solidFill>
                            <a:srgbClr val="000000"/>
                          </a:solidFill>
                          <a:effectLst/>
                          <a:latin typeface="Arial"/>
                          <a:ea typeface="Times New Roman"/>
                          <a:cs typeface="Times New Roman"/>
                        </a:rPr>
                        <a:t>software requirements, user stories or descriptions of supplementary tasks </a:t>
                      </a:r>
                      <a:r>
                        <a:rPr lang="en-GB" sz="1400" dirty="0">
                          <a:solidFill>
                            <a:srgbClr val="000000"/>
                          </a:solidFill>
                          <a:effectLst/>
                          <a:latin typeface="Arial"/>
                          <a:ea typeface="Times New Roman"/>
                          <a:cs typeface="Times New Roman"/>
                        </a:rPr>
                        <a:t>that are needed, such as architecture definition or user documentation. </a:t>
                      </a:r>
                      <a:r>
                        <a:rPr lang="en-US" sz="1400" b="1" u="none" dirty="0">
                          <a:latin typeface="Arial" panose="020B0604020202020204" pitchFamily="34" charset="0"/>
                          <a:cs typeface="Arial" panose="020B0604020202020204" pitchFamily="34" charset="0"/>
                        </a:rPr>
                        <a:t>It evolves over time as requirements change or new needs are identified.</a:t>
                      </a:r>
                      <a:endParaRPr lang="en-GB" sz="1400" b="1" u="none" dirty="0">
                        <a:solidFill>
                          <a:srgbClr val="000000"/>
                        </a:solidFill>
                        <a:effectLst/>
                        <a:latin typeface="Arial" panose="020B0604020202020204" pitchFamily="34" charset="0"/>
                        <a:ea typeface="Times New Roman"/>
                        <a:cs typeface="Arial" panose="020B0604020202020204" pitchFamily="34" charset="0"/>
                      </a:endParaRP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3"/>
                  </a:ext>
                </a:extLst>
              </a:tr>
              <a:tr h="1103468">
                <a:tc>
                  <a:txBody>
                    <a:bodyPr/>
                    <a:lstStyle/>
                    <a:p>
                      <a:pPr indent="0" algn="l">
                        <a:spcAft>
                          <a:spcPts val="0"/>
                        </a:spcAft>
                        <a:tabLst>
                          <a:tab pos="342900" algn="l"/>
                          <a:tab pos="685800" algn="l"/>
                          <a:tab pos="1028700" algn="l"/>
                          <a:tab pos="1170305" algn="l"/>
                        </a:tabLst>
                      </a:pPr>
                      <a:r>
                        <a:rPr lang="en-GB" sz="1400" b="1" dirty="0">
                          <a:solidFill>
                            <a:srgbClr val="000000"/>
                          </a:solidFill>
                          <a:effectLst/>
                          <a:latin typeface="Arial"/>
                          <a:ea typeface="Times New Roman"/>
                          <a:cs typeface="Times New Roman"/>
                        </a:rPr>
                        <a:t>Product owner</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An individual (or possibly a small group) whose job is to </a:t>
                      </a:r>
                      <a:r>
                        <a:rPr lang="en-GB" sz="1400" b="1" dirty="0">
                          <a:solidFill>
                            <a:srgbClr val="000000"/>
                          </a:solidFill>
                          <a:effectLst/>
                          <a:latin typeface="Arial"/>
                          <a:ea typeface="Times New Roman"/>
                          <a:cs typeface="Times New Roman"/>
                        </a:rPr>
                        <a:t>identify product features or requirements, prioritize these for development and continuously review the product backlog to ensure that the project continues to meet critical business needs</a:t>
                      </a:r>
                      <a:r>
                        <a:rPr lang="en-GB" sz="1400" dirty="0">
                          <a:solidFill>
                            <a:srgbClr val="000000"/>
                          </a:solidFill>
                          <a:effectLst/>
                          <a:latin typeface="Arial"/>
                          <a:ea typeface="Times New Roman"/>
                          <a:cs typeface="Times New Roman"/>
                        </a:rPr>
                        <a:t>. The Product Owner can be a customer but might also be a product manager in a software company or other stakeholder representative.</a:t>
                      </a: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279845486"/>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(b)</a:t>
            </a:r>
          </a:p>
        </p:txBody>
      </p:sp>
      <p:graphicFrame>
        <p:nvGraphicFramePr>
          <p:cNvPr id="6" name="Content Placeholder 5"/>
          <p:cNvGraphicFramePr>
            <a:graphicFrameLocks noGrp="1"/>
          </p:cNvGraphicFramePr>
          <p:nvPr>
            <p:ph idx="1"/>
          </p:nvPr>
        </p:nvGraphicFramePr>
        <p:xfrm>
          <a:off x="342900" y="1778000"/>
          <a:ext cx="8229600" cy="444500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37084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363806">
                <a:tc>
                  <a:txBody>
                    <a:bodyPr/>
                    <a:lstStyle/>
                    <a:p>
                      <a:pPr indent="347345" algn="l">
                        <a:spcAft>
                          <a:spcPts val="600"/>
                        </a:spcAft>
                        <a:tabLst>
                          <a:tab pos="342900" algn="l"/>
                          <a:tab pos="685800" algn="l"/>
                          <a:tab pos="1028700" algn="l"/>
                        </a:tabLst>
                      </a:pPr>
                      <a:r>
                        <a:rPr lang="en-GB" sz="1400" b="1" baseline="0" dirty="0">
                          <a:solidFill>
                            <a:srgbClr val="000000"/>
                          </a:solidFill>
                          <a:effectLst/>
                          <a:latin typeface="Arial"/>
                          <a:ea typeface="Times New Roman"/>
                          <a:cs typeface="Times New Roman"/>
                        </a:rPr>
                        <a:t>Scrum</a:t>
                      </a:r>
                    </a:p>
                  </a:txBody>
                  <a:tcPr marL="68580" marR="68580" marT="0" marB="0"/>
                </a:tc>
                <a:tc>
                  <a:txBody>
                    <a:bodyPr/>
                    <a:lstStyle/>
                    <a:p>
                      <a:pPr indent="0" algn="l">
                        <a:spcAft>
                          <a:spcPts val="600"/>
                        </a:spcAft>
                        <a:tabLst>
                          <a:tab pos="342900" algn="l"/>
                          <a:tab pos="685800" algn="l"/>
                          <a:tab pos="1028700" algn="l"/>
                        </a:tabLst>
                      </a:pPr>
                      <a:r>
                        <a:rPr lang="en-GB" sz="1400" b="1" baseline="0" dirty="0">
                          <a:solidFill>
                            <a:srgbClr val="000000"/>
                          </a:solidFill>
                          <a:effectLst/>
                          <a:latin typeface="Arial"/>
                          <a:ea typeface="Times New Roman"/>
                          <a:cs typeface="Times New Roman"/>
                        </a:rPr>
                        <a:t>A daily meeting </a:t>
                      </a:r>
                      <a:r>
                        <a:rPr lang="en-GB" sz="1400" baseline="0" dirty="0">
                          <a:solidFill>
                            <a:srgbClr val="000000"/>
                          </a:solidFill>
                          <a:effectLst/>
                          <a:latin typeface="Arial"/>
                          <a:ea typeface="Times New Roman"/>
                          <a:cs typeface="Times New Roman"/>
                        </a:rPr>
                        <a:t>of the Scrum team that reviews progress and prioritizes work to be done that day. Ideally, this should be a </a:t>
                      </a:r>
                      <a:r>
                        <a:rPr lang="en-GB" sz="1400" b="1" baseline="0" dirty="0">
                          <a:solidFill>
                            <a:srgbClr val="000000"/>
                          </a:solidFill>
                          <a:effectLst/>
                          <a:latin typeface="Arial"/>
                          <a:ea typeface="Times New Roman"/>
                          <a:cs typeface="Times New Roman"/>
                        </a:rPr>
                        <a:t>short face-to-face meeting that includes the whole team.</a:t>
                      </a:r>
                    </a:p>
                    <a:p>
                      <a:pPr indent="0" algn="l">
                        <a:spcAft>
                          <a:spcPts val="60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347345" algn="l">
                        <a:spcAft>
                          <a:spcPts val="0"/>
                        </a:spcAft>
                        <a:tabLst>
                          <a:tab pos="342900" algn="l"/>
                          <a:tab pos="685800" algn="l"/>
                          <a:tab pos="1028700" algn="l"/>
                        </a:tabLst>
                      </a:pPr>
                      <a:r>
                        <a:rPr lang="en-GB" sz="1400" b="1" baseline="0" dirty="0" err="1">
                          <a:solidFill>
                            <a:srgbClr val="000000"/>
                          </a:solidFill>
                          <a:effectLst/>
                          <a:latin typeface="Arial"/>
                          <a:ea typeface="Times New Roman"/>
                          <a:cs typeface="Times New Roman"/>
                        </a:rPr>
                        <a:t>ScrumMaster</a:t>
                      </a:r>
                      <a:endParaRPr lang="en-GB" sz="1400" b="1" baseline="0" dirty="0">
                        <a:solidFill>
                          <a:srgbClr val="000000"/>
                        </a:solidFill>
                        <a:effectLst/>
                        <a:latin typeface="Arial"/>
                        <a:ea typeface="Times New Roman"/>
                        <a:cs typeface="Times New Roman"/>
                      </a:endParaRP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is responsible for </a:t>
                      </a:r>
                      <a:r>
                        <a:rPr lang="en-GB" sz="1400" b="1" baseline="0" dirty="0">
                          <a:solidFill>
                            <a:srgbClr val="000000"/>
                          </a:solidFill>
                          <a:effectLst/>
                          <a:latin typeface="Arial"/>
                          <a:ea typeface="Times New Roman"/>
                          <a:cs typeface="Times New Roman"/>
                        </a:rPr>
                        <a:t>ensuring that the Scrum process is followed and guides the team in the effective use of Scrum</a:t>
                      </a:r>
                      <a:r>
                        <a:rPr lang="en-GB" sz="1400" baseline="0" dirty="0">
                          <a:solidFill>
                            <a:srgbClr val="000000"/>
                          </a:solidFill>
                          <a:effectLst/>
                          <a:latin typeface="Arial"/>
                          <a:ea typeface="Times New Roman"/>
                          <a:cs typeface="Times New Roman"/>
                        </a:rPr>
                        <a:t>. He or she is responsible for </a:t>
                      </a:r>
                      <a:r>
                        <a:rPr lang="en-GB" sz="1400" b="1" baseline="0" dirty="0">
                          <a:solidFill>
                            <a:srgbClr val="000000"/>
                          </a:solidFill>
                          <a:effectLst/>
                          <a:latin typeface="Arial"/>
                          <a:ea typeface="Times New Roman"/>
                          <a:cs typeface="Times New Roman"/>
                        </a:rPr>
                        <a:t>interfacing with the rest of the company and for </a:t>
                      </a:r>
                      <a:r>
                        <a:rPr lang="en-GB" sz="1400" baseline="0" dirty="0">
                          <a:solidFill>
                            <a:srgbClr val="000000"/>
                          </a:solidFill>
                          <a:effectLst/>
                          <a:latin typeface="Arial"/>
                          <a:ea typeface="Times New Roman"/>
                          <a:cs typeface="Times New Roman"/>
                        </a:rPr>
                        <a:t>ensuring that the Scrum team is not diverted by outside interference. The Scrum developers are adamant that 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should not be thought of as a project manager. Others, however, may not always find it easy to see the difference.</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347345" algn="l">
                        <a:spcAft>
                          <a:spcPts val="0"/>
                        </a:spcAft>
                        <a:tabLst>
                          <a:tab pos="342900" algn="l"/>
                          <a:tab pos="685800" algn="l"/>
                          <a:tab pos="1028700" algn="l"/>
                        </a:tabLst>
                      </a:pPr>
                      <a:r>
                        <a:rPr lang="en-GB" sz="1400" b="1" baseline="0" dirty="0">
                          <a:solidFill>
                            <a:srgbClr val="000000"/>
                          </a:solidFill>
                          <a:effectLst/>
                          <a:latin typeface="Arial"/>
                          <a:ea typeface="Times New Roman"/>
                          <a:cs typeface="Times New Roman"/>
                        </a:rPr>
                        <a:t>Sprint</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 development iteration. Sprints are usually 2-4 weeks long.</a:t>
                      </a:r>
                    </a:p>
                  </a:txBody>
                  <a:tcPr marL="68580" marR="68580" marT="0" marB="0"/>
                </a:tc>
                <a:extLst>
                  <a:ext uri="{0D108BD9-81ED-4DB2-BD59-A6C34878D82A}">
                    <a16:rowId xmlns:a16="http://schemas.microsoft.com/office/drawing/2014/main" val="10003"/>
                  </a:ext>
                </a:extLst>
              </a:tr>
              <a:tr h="370840">
                <a:tc>
                  <a:txBody>
                    <a:bodyPr/>
                    <a:lstStyle/>
                    <a:p>
                      <a:pPr indent="347345" algn="l">
                        <a:spcAft>
                          <a:spcPts val="0"/>
                        </a:spcAft>
                        <a:tabLst>
                          <a:tab pos="342900" algn="l"/>
                          <a:tab pos="685800" algn="l"/>
                          <a:tab pos="1028700" algn="l"/>
                        </a:tabLst>
                      </a:pPr>
                      <a:r>
                        <a:rPr lang="en-GB" sz="1400" b="1" baseline="0" dirty="0">
                          <a:solidFill>
                            <a:srgbClr val="000000"/>
                          </a:solidFill>
                          <a:effectLst/>
                          <a:latin typeface="Arial"/>
                          <a:ea typeface="Times New Roman"/>
                          <a:cs typeface="Times New Roman"/>
                        </a:rPr>
                        <a:t>Velocity</a:t>
                      </a:r>
                    </a:p>
                  </a:txBody>
                  <a:tcPr marL="68580" marR="68580" marT="0" marB="0"/>
                </a:tc>
                <a:tc>
                  <a:txBody>
                    <a:bodyPr/>
                    <a:lstStyle/>
                    <a:p>
                      <a:pPr indent="0" algn="l">
                        <a:spcAft>
                          <a:spcPts val="0"/>
                        </a:spcAft>
                        <a:tabLst>
                          <a:tab pos="342900" algn="l"/>
                          <a:tab pos="685800" algn="l"/>
                          <a:tab pos="1028700" algn="l"/>
                        </a:tabLst>
                      </a:pPr>
                      <a:r>
                        <a:rPr lang="en-GB" sz="1400" b="1" baseline="0" dirty="0">
                          <a:solidFill>
                            <a:srgbClr val="000000"/>
                          </a:solidFill>
                          <a:effectLst/>
                          <a:latin typeface="Arial"/>
                          <a:ea typeface="Times New Roman"/>
                          <a:cs typeface="Times New Roman"/>
                        </a:rPr>
                        <a:t>An estimate of how much product backlog effort that a team can complete in a single sprint</a:t>
                      </a:r>
                      <a:r>
                        <a:rPr lang="en-GB" sz="1400" baseline="0" dirty="0">
                          <a:solidFill>
                            <a:srgbClr val="000000"/>
                          </a:solidFill>
                          <a:effectLst/>
                          <a:latin typeface="Arial"/>
                          <a:ea typeface="Times New Roman"/>
                          <a:cs typeface="Times New Roman"/>
                        </a:rPr>
                        <a:t>.  Understanding a team’s velocity </a:t>
                      </a:r>
                      <a:r>
                        <a:rPr lang="en-GB" sz="1400" b="1" baseline="0" dirty="0">
                          <a:solidFill>
                            <a:srgbClr val="000000"/>
                          </a:solidFill>
                          <a:effectLst/>
                          <a:latin typeface="Arial"/>
                          <a:ea typeface="Times New Roman"/>
                          <a:cs typeface="Times New Roman"/>
                        </a:rPr>
                        <a:t>helps them estimate what can be covered in a sprint and provides a basis for measuring improving performance.</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815401261"/>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2C8B0-7744-2711-B583-1B002CC0F944}"/>
              </a:ext>
            </a:extLst>
          </p:cNvPr>
          <p:cNvSpPr>
            <a:spLocks noGrp="1"/>
          </p:cNvSpPr>
          <p:nvPr>
            <p:ph type="title"/>
          </p:nvPr>
        </p:nvSpPr>
        <p:spPr/>
        <p:txBody>
          <a:bodyPr/>
          <a:lstStyle/>
          <a:p>
            <a:r>
              <a:rPr lang="en-US" dirty="0"/>
              <a:t>Scrum Roles</a:t>
            </a:r>
            <a:endParaRPr lang="en-CA" dirty="0"/>
          </a:p>
        </p:txBody>
      </p:sp>
      <p:sp>
        <p:nvSpPr>
          <p:cNvPr id="4" name="Date Placeholder 3">
            <a:extLst>
              <a:ext uri="{FF2B5EF4-FFF2-40B4-BE49-F238E27FC236}">
                <a16:creationId xmlns:a16="http://schemas.microsoft.com/office/drawing/2014/main" id="{473B81E5-8C76-2DFD-1556-976DC6868474}"/>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96EA14A0-0DA9-9752-424E-2F05F423D495}"/>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30CC3564-FAFE-47F9-A163-A6D6545C51EA}"/>
              </a:ext>
            </a:extLst>
          </p:cNvPr>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pic>
        <p:nvPicPr>
          <p:cNvPr id="7" name="Content Placeholder 3">
            <a:extLst>
              <a:ext uri="{FF2B5EF4-FFF2-40B4-BE49-F238E27FC236}">
                <a16:creationId xmlns:a16="http://schemas.microsoft.com/office/drawing/2014/main" id="{A6260BEE-94BC-370F-228A-DFED208CF92F}"/>
              </a:ext>
            </a:extLst>
          </p:cNvPr>
          <p:cNvPicPr>
            <a:picLocks noChangeAspect="1"/>
          </p:cNvPicPr>
          <p:nvPr/>
        </p:nvPicPr>
        <p:blipFill>
          <a:blip r:embed="rId3"/>
          <a:stretch>
            <a:fillRect/>
          </a:stretch>
        </p:blipFill>
        <p:spPr>
          <a:xfrm>
            <a:off x="1524000" y="1647825"/>
            <a:ext cx="5637946" cy="4028850"/>
          </a:xfrm>
          <a:prstGeom prst="rect">
            <a:avLst/>
          </a:prstGeom>
        </p:spPr>
      </p:pic>
    </p:spTree>
    <p:extLst>
      <p:ext uri="{BB962C8B-B14F-4D97-AF65-F5344CB8AC3E}">
        <p14:creationId xmlns:p14="http://schemas.microsoft.com/office/powerpoint/2010/main" val="1932666804"/>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sprint cycle</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pic>
        <p:nvPicPr>
          <p:cNvPr id="7" name="Picture 6" descr="3.9 Scrum sprint cycl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235200"/>
            <a:ext cx="8159750" cy="32639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6057403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Scrum sprint cycle</a:t>
            </a:r>
          </a:p>
        </p:txBody>
      </p:sp>
      <p:sp>
        <p:nvSpPr>
          <p:cNvPr id="3" name="Content Placeholder 2"/>
          <p:cNvSpPr>
            <a:spLocks noGrp="1"/>
          </p:cNvSpPr>
          <p:nvPr>
            <p:ph idx="1"/>
          </p:nvPr>
        </p:nvSpPr>
        <p:spPr/>
        <p:txBody>
          <a:bodyPr/>
          <a:lstStyle/>
          <a:p>
            <a:r>
              <a:rPr lang="en-GB" b="1" dirty="0"/>
              <a:t>Sprints are fixed length, normally 2–4 weeks.  </a:t>
            </a:r>
          </a:p>
          <a:p>
            <a:r>
              <a:rPr lang="en-GB" b="1" dirty="0"/>
              <a:t>The starting point for planning is the product backlog, </a:t>
            </a:r>
            <a:r>
              <a:rPr lang="en-GB" dirty="0"/>
              <a:t>which is the list of work to be done on the project.</a:t>
            </a:r>
          </a:p>
          <a:p>
            <a:r>
              <a:rPr lang="en-GB" b="1" dirty="0"/>
              <a:t>The selection phase </a:t>
            </a:r>
            <a:r>
              <a:rPr lang="en-GB" dirty="0"/>
              <a:t>involves </a:t>
            </a:r>
            <a:r>
              <a:rPr lang="en-GB" b="1" dirty="0"/>
              <a:t>all of the project team who work with the customer </a:t>
            </a:r>
            <a:r>
              <a:rPr lang="en-GB" dirty="0"/>
              <a:t>to select the features and functionality from the product backlog to be developed during the sprint. </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Sprint cycle</a:t>
            </a:r>
          </a:p>
        </p:txBody>
      </p:sp>
      <p:sp>
        <p:nvSpPr>
          <p:cNvPr id="3" name="Content Placeholder 2"/>
          <p:cNvSpPr>
            <a:spLocks noGrp="1"/>
          </p:cNvSpPr>
          <p:nvPr>
            <p:ph idx="1"/>
          </p:nvPr>
        </p:nvSpPr>
        <p:spPr/>
        <p:txBody>
          <a:bodyPr/>
          <a:lstStyle/>
          <a:p>
            <a:r>
              <a:rPr lang="en-GB" dirty="0"/>
              <a:t>Once these are agreed</a:t>
            </a:r>
            <a:r>
              <a:rPr lang="en-GB" b="1" dirty="0"/>
              <a:t>, the team organize themselves to develop the software. </a:t>
            </a:r>
          </a:p>
          <a:p>
            <a:r>
              <a:rPr lang="en-GB" dirty="0"/>
              <a:t>During this stage </a:t>
            </a:r>
            <a:r>
              <a:rPr lang="en-GB" b="1" dirty="0"/>
              <a:t>the team is isolated </a:t>
            </a:r>
            <a:r>
              <a:rPr lang="en-GB" dirty="0"/>
              <a:t>from the customer and the organization, with all communications channelled through the so-called </a:t>
            </a:r>
            <a:r>
              <a:rPr lang="en-GB" b="1" dirty="0"/>
              <a:t>‘Scrum master</a:t>
            </a:r>
            <a:r>
              <a:rPr lang="en-GB" dirty="0"/>
              <a:t>’. </a:t>
            </a:r>
          </a:p>
          <a:p>
            <a:r>
              <a:rPr lang="en-GB" b="1" dirty="0"/>
              <a:t>The role of the Scrum master </a:t>
            </a:r>
            <a:r>
              <a:rPr lang="en-GB" dirty="0"/>
              <a:t>is to protect the development team from external distractions. </a:t>
            </a:r>
          </a:p>
          <a:p>
            <a:r>
              <a:rPr lang="en-GB" dirty="0"/>
              <a:t> At the end of the sprint, the work done is reviewed and presented to stakeholders. The next sprint cycle then begins.</a:t>
            </a:r>
            <a:endParaRPr lang="en-US" dirty="0"/>
          </a:p>
          <a:p>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Teamwork in Scrum</a:t>
            </a:r>
          </a:p>
        </p:txBody>
      </p:sp>
      <p:sp>
        <p:nvSpPr>
          <p:cNvPr id="3" name="Content Placeholder 2"/>
          <p:cNvSpPr>
            <a:spLocks noGrp="1"/>
          </p:cNvSpPr>
          <p:nvPr>
            <p:ph idx="1"/>
          </p:nvPr>
        </p:nvSpPr>
        <p:spPr/>
        <p:txBody>
          <a:bodyPr/>
          <a:lstStyle/>
          <a:p>
            <a:r>
              <a:rPr lang="en-GB" sz="2000" dirty="0"/>
              <a:t>The ‘Scrum master’ is a facilitator who:</a:t>
            </a:r>
          </a:p>
          <a:p>
            <a:pPr lvl="1"/>
            <a:r>
              <a:rPr lang="en-GB" sz="1800" dirty="0"/>
              <a:t>arranges daily meetings, </a:t>
            </a:r>
          </a:p>
          <a:p>
            <a:pPr lvl="1"/>
            <a:r>
              <a:rPr lang="en-GB" sz="1800" dirty="0"/>
              <a:t>tracks the backlog of work to be done, </a:t>
            </a:r>
          </a:p>
          <a:p>
            <a:pPr lvl="1"/>
            <a:r>
              <a:rPr lang="en-GB" sz="1800" dirty="0"/>
              <a:t>records key decisions, </a:t>
            </a:r>
          </a:p>
          <a:p>
            <a:pPr lvl="1"/>
            <a:r>
              <a:rPr lang="en-GB" sz="1800" dirty="0"/>
              <a:t>measures progress against the backlog and </a:t>
            </a:r>
          </a:p>
          <a:p>
            <a:pPr lvl="1"/>
            <a:r>
              <a:rPr lang="en-GB" sz="1800" dirty="0"/>
              <a:t>communicates with customers and management outside of the team.</a:t>
            </a:r>
          </a:p>
          <a:p>
            <a:r>
              <a:rPr lang="en-GB" sz="2000" dirty="0"/>
              <a:t>The whole team attends </a:t>
            </a:r>
            <a:r>
              <a:rPr lang="en-GB" sz="2000" b="1" dirty="0"/>
              <a:t>short daily meetings </a:t>
            </a:r>
            <a:r>
              <a:rPr lang="en-GB" sz="2000" dirty="0"/>
              <a:t>(Scrums) where all team members:</a:t>
            </a:r>
          </a:p>
          <a:p>
            <a:pPr lvl="1"/>
            <a:r>
              <a:rPr lang="en-GB" sz="1800" dirty="0"/>
              <a:t>Share information, describe their progress since the last meeting, </a:t>
            </a:r>
          </a:p>
          <a:p>
            <a:pPr lvl="1"/>
            <a:r>
              <a:rPr lang="en-GB" sz="1800" dirty="0"/>
              <a:t>Identify any problems obstacles</a:t>
            </a:r>
          </a:p>
          <a:p>
            <a:pPr lvl="1"/>
            <a:r>
              <a:rPr lang="en-GB" sz="1800" dirty="0"/>
              <a:t>State what is planned for the following day. </a:t>
            </a:r>
          </a:p>
          <a:p>
            <a:r>
              <a:rPr lang="en-GB" sz="2000" dirty="0"/>
              <a:t>This means that everyone on the team knows what is going on and, if problems arise, can re-plan short-term work to cope with them. </a:t>
            </a:r>
          </a:p>
          <a:p>
            <a:endParaRPr lang="en-US" sz="2000"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benefits</a:t>
            </a:r>
          </a:p>
        </p:txBody>
      </p:sp>
      <p:sp>
        <p:nvSpPr>
          <p:cNvPr id="3" name="Content Placeholder 2"/>
          <p:cNvSpPr>
            <a:spLocks noGrp="1"/>
          </p:cNvSpPr>
          <p:nvPr>
            <p:ph idx="1"/>
          </p:nvPr>
        </p:nvSpPr>
        <p:spPr>
          <a:xfrm>
            <a:off x="457200" y="1460887"/>
            <a:ext cx="8563232" cy="4525963"/>
          </a:xfrm>
        </p:spPr>
        <p:txBody>
          <a:bodyPr/>
          <a:lstStyle/>
          <a:p>
            <a:r>
              <a:rPr lang="en-GB" sz="2000" dirty="0"/>
              <a:t>The product is broken down into a set of </a:t>
            </a:r>
            <a:r>
              <a:rPr lang="en-GB" sz="2000" b="1" dirty="0"/>
              <a:t>manageable and understandable chunks</a:t>
            </a:r>
            <a:r>
              <a:rPr lang="en-GB" sz="2000" dirty="0"/>
              <a:t>.</a:t>
            </a:r>
          </a:p>
          <a:p>
            <a:r>
              <a:rPr lang="en-GB" sz="2000" b="1" dirty="0"/>
              <a:t>Unstable requirements do not hold up progress</a:t>
            </a:r>
            <a:r>
              <a:rPr lang="en-GB" sz="2000" dirty="0"/>
              <a:t>.</a:t>
            </a:r>
          </a:p>
          <a:p>
            <a:r>
              <a:rPr lang="en-GB" sz="2000" dirty="0"/>
              <a:t>The whole team have </a:t>
            </a:r>
            <a:r>
              <a:rPr lang="en-GB" sz="2000" b="1" dirty="0"/>
              <a:t>visibility</a:t>
            </a:r>
            <a:r>
              <a:rPr lang="en-GB" sz="2000" dirty="0"/>
              <a:t> of everything and consequently </a:t>
            </a:r>
            <a:r>
              <a:rPr lang="en-GB" sz="2000" b="1" dirty="0"/>
              <a:t>team communication and collaboration </a:t>
            </a:r>
            <a:r>
              <a:rPr lang="en-GB" sz="2000" dirty="0"/>
              <a:t>is improved.</a:t>
            </a:r>
          </a:p>
          <a:p>
            <a:r>
              <a:rPr lang="en-US" sz="2000" dirty="0"/>
              <a:t>From the customer’s perspective, scrum provides </a:t>
            </a:r>
            <a:r>
              <a:rPr lang="en-US" sz="2000" b="1" dirty="0"/>
              <a:t>regular, on-time increments of working software</a:t>
            </a:r>
            <a:r>
              <a:rPr lang="en-US" sz="2000" dirty="0"/>
              <a:t>. Customers can see real progress and give early feedback on how the product works</a:t>
            </a:r>
          </a:p>
          <a:p>
            <a:r>
              <a:rPr lang="en-US" sz="2000" dirty="0"/>
              <a:t>Scrum helps build </a:t>
            </a:r>
            <a:r>
              <a:rPr lang="en-US" sz="2000" b="1" dirty="0"/>
              <a:t>trust between customers and developers</a:t>
            </a:r>
            <a:r>
              <a:rPr lang="en-US" sz="2000" dirty="0"/>
              <a:t>. Frequent interaction, transparency, and regular delivery create a positive team culture where everyone expects the project to succeed</a:t>
            </a:r>
            <a:endParaRPr lang="en-CA" sz="2000" dirty="0"/>
          </a:p>
          <a:p>
            <a:endParaRPr lang="en-US" sz="2000"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7E71B-480A-9583-9517-173CE3E2F77F}"/>
              </a:ext>
            </a:extLst>
          </p:cNvPr>
          <p:cNvSpPr>
            <a:spLocks noGrp="1"/>
          </p:cNvSpPr>
          <p:nvPr>
            <p:ph type="title"/>
          </p:nvPr>
        </p:nvSpPr>
        <p:spPr/>
        <p:txBody>
          <a:bodyPr/>
          <a:lstStyle/>
          <a:p>
            <a:r>
              <a:rPr lang="en-CA" dirty="0"/>
              <a:t>Scrum Framework</a:t>
            </a:r>
          </a:p>
        </p:txBody>
      </p:sp>
      <p:sp>
        <p:nvSpPr>
          <p:cNvPr id="3" name="Content Placeholder 2">
            <a:extLst>
              <a:ext uri="{FF2B5EF4-FFF2-40B4-BE49-F238E27FC236}">
                <a16:creationId xmlns:a16="http://schemas.microsoft.com/office/drawing/2014/main" id="{26433EAC-2BEE-ADA7-D51D-1B7659C8E8B3}"/>
              </a:ext>
            </a:extLst>
          </p:cNvPr>
          <p:cNvSpPr>
            <a:spLocks noGrp="1"/>
          </p:cNvSpPr>
          <p:nvPr>
            <p:ph idx="1"/>
          </p:nvPr>
        </p:nvSpPr>
        <p:spPr/>
        <p:txBody>
          <a:bodyPr/>
          <a:lstStyle/>
          <a:p>
            <a:endParaRPr lang="en-CA"/>
          </a:p>
        </p:txBody>
      </p:sp>
      <p:sp>
        <p:nvSpPr>
          <p:cNvPr id="4" name="Date Placeholder 3">
            <a:extLst>
              <a:ext uri="{FF2B5EF4-FFF2-40B4-BE49-F238E27FC236}">
                <a16:creationId xmlns:a16="http://schemas.microsoft.com/office/drawing/2014/main" id="{A784B213-2DA3-1803-BE1A-5DA1D784305B}"/>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7B518ED7-5412-FDBA-3C2D-CD122FB136F7}"/>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8E2D272D-E672-8CEF-9A41-B676FB7F6273}"/>
              </a:ext>
            </a:extLst>
          </p:cNvPr>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pic>
        <p:nvPicPr>
          <p:cNvPr id="7" name="Content Placeholder 3">
            <a:extLst>
              <a:ext uri="{FF2B5EF4-FFF2-40B4-BE49-F238E27FC236}">
                <a16:creationId xmlns:a16="http://schemas.microsoft.com/office/drawing/2014/main" id="{9F60BA6E-49F1-CC14-C303-C1DC429A0639}"/>
              </a:ext>
            </a:extLst>
          </p:cNvPr>
          <p:cNvPicPr>
            <a:picLocks noChangeAspect="1"/>
          </p:cNvPicPr>
          <p:nvPr/>
        </p:nvPicPr>
        <p:blipFill>
          <a:blip r:embed="rId3"/>
          <a:stretch>
            <a:fillRect/>
          </a:stretch>
        </p:blipFill>
        <p:spPr>
          <a:xfrm>
            <a:off x="260333" y="1849697"/>
            <a:ext cx="8883667" cy="4733665"/>
          </a:xfrm>
          <a:prstGeom prst="rect">
            <a:avLst/>
          </a:prstGeom>
        </p:spPr>
      </p:pic>
    </p:spTree>
    <p:extLst>
      <p:ext uri="{BB962C8B-B14F-4D97-AF65-F5344CB8AC3E}">
        <p14:creationId xmlns:p14="http://schemas.microsoft.com/office/powerpoint/2010/main" val="3101493198"/>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Scrum</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pic>
        <p:nvPicPr>
          <p:cNvPr id="9" name="Picture 8" descr="3.10 Distributed Scrum.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682" y="788679"/>
            <a:ext cx="7673718" cy="560419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057772794"/>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Scaling agile methods</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177855473"/>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agile methods</a:t>
            </a:r>
          </a:p>
        </p:txBody>
      </p:sp>
      <p:sp>
        <p:nvSpPr>
          <p:cNvPr id="3" name="Content Placeholder 2"/>
          <p:cNvSpPr>
            <a:spLocks noGrp="1"/>
          </p:cNvSpPr>
          <p:nvPr>
            <p:ph idx="1"/>
          </p:nvPr>
        </p:nvSpPr>
        <p:spPr/>
        <p:txBody>
          <a:bodyPr/>
          <a:lstStyle/>
          <a:p>
            <a:r>
              <a:rPr lang="en-US" dirty="0"/>
              <a:t>Agile methods have proved to be successful for small and medium sized projects that can be developed by a small co-located team.</a:t>
            </a:r>
          </a:p>
          <a:p>
            <a:r>
              <a:rPr lang="en-US" dirty="0"/>
              <a:t>It is sometimes argued that the success of these methods comes because of improved communications which is possible when everyone is working together.</a:t>
            </a:r>
          </a:p>
          <a:p>
            <a:r>
              <a:rPr lang="en-US" dirty="0"/>
              <a:t>Scaling up agile methods involves changing these to cope with larger, longer projects where there are multiple development teams, perhaps working in different locations.</a:t>
            </a:r>
          </a:p>
          <a:p>
            <a:pPr>
              <a:buNone/>
            </a:pPr>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out and scaling up</a:t>
            </a:r>
          </a:p>
        </p:txBody>
      </p:sp>
      <p:sp>
        <p:nvSpPr>
          <p:cNvPr id="3" name="Content Placeholder 2"/>
          <p:cNvSpPr>
            <a:spLocks noGrp="1"/>
          </p:cNvSpPr>
          <p:nvPr>
            <p:ph idx="1"/>
          </p:nvPr>
        </p:nvSpPr>
        <p:spPr/>
        <p:txBody>
          <a:bodyPr/>
          <a:lstStyle/>
          <a:p>
            <a:r>
              <a:rPr lang="en-GB" dirty="0"/>
              <a:t>‘Scaling up’ is concerned with using agile methods for developing </a:t>
            </a:r>
            <a:r>
              <a:rPr lang="en-GB" b="1" dirty="0"/>
              <a:t>large software systems </a:t>
            </a:r>
            <a:r>
              <a:rPr lang="en-GB" dirty="0"/>
              <a:t>that cannot be developed by a small team.</a:t>
            </a:r>
          </a:p>
          <a:p>
            <a:r>
              <a:rPr lang="en-GB" dirty="0"/>
              <a:t>‘Scaling out’ is concerned with how agile methods can be introduced across </a:t>
            </a:r>
            <a:r>
              <a:rPr lang="en-GB" b="1" dirty="0"/>
              <a:t>a large organization </a:t>
            </a:r>
            <a:r>
              <a:rPr lang="en-GB" dirty="0"/>
              <a:t>with many years of software development experience.</a:t>
            </a:r>
          </a:p>
          <a:p>
            <a:r>
              <a:rPr lang="en-GB" dirty="0"/>
              <a:t>When scaling agile methods it is important </a:t>
            </a:r>
            <a:r>
              <a:rPr lang="en-GB" b="1" dirty="0"/>
              <a:t>to maintain agile fundamentals:</a:t>
            </a:r>
          </a:p>
          <a:p>
            <a:pPr lvl="1"/>
            <a:r>
              <a:rPr lang="en-GB" dirty="0"/>
              <a:t>Flexible planning, frequent system releases, continuous integration, test-driven development and good team communications. </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dirty="0"/>
              <a:t>Practical problems with agile methods</a:t>
            </a:r>
          </a:p>
        </p:txBody>
      </p:sp>
      <p:sp>
        <p:nvSpPr>
          <p:cNvPr id="1167363" name="Rectangle 3"/>
          <p:cNvSpPr>
            <a:spLocks noGrp="1" noChangeArrowheads="1"/>
          </p:cNvSpPr>
          <p:nvPr>
            <p:ph idx="1"/>
          </p:nvPr>
        </p:nvSpPr>
        <p:spPr>
          <a:xfrm>
            <a:off x="143847" y="1417638"/>
            <a:ext cx="8856306" cy="5303837"/>
          </a:xfrm>
        </p:spPr>
        <p:txBody>
          <a:bodyPr/>
          <a:lstStyle/>
          <a:p>
            <a:r>
              <a:rPr lang="en-GB" b="1" dirty="0"/>
              <a:t>Informality vs. legal contracts: </a:t>
            </a:r>
          </a:p>
          <a:p>
            <a:pPr lvl="1"/>
            <a:r>
              <a:rPr lang="en-US" dirty="0"/>
              <a:t>Agile development relies on </a:t>
            </a:r>
            <a:r>
              <a:rPr lang="en-US" b="1" dirty="0"/>
              <a:t>informal communication</a:t>
            </a:r>
            <a:r>
              <a:rPr lang="en-US" dirty="0"/>
              <a:t>, evolving requirements, and flexibility.</a:t>
            </a:r>
          </a:p>
          <a:p>
            <a:pPr lvl="1"/>
            <a:r>
              <a:rPr lang="en-US" dirty="0"/>
              <a:t>However, large companies often depend on </a:t>
            </a:r>
            <a:r>
              <a:rPr lang="en-US" b="1" dirty="0"/>
              <a:t>formal, fixed contracts</a:t>
            </a:r>
            <a:r>
              <a:rPr lang="en-US" dirty="0"/>
              <a:t> with detailed specifications.</a:t>
            </a:r>
          </a:p>
          <a:p>
            <a:pPr lvl="1"/>
            <a:r>
              <a:rPr lang="en-US" dirty="0"/>
              <a:t>This creates tension because </a:t>
            </a:r>
            <a:r>
              <a:rPr lang="en-US" b="1" dirty="0"/>
              <a:t>agile does not fit well with strict legal contract definitions.</a:t>
            </a:r>
          </a:p>
          <a:p>
            <a:r>
              <a:rPr lang="en-GB" sz="2000" b="1" dirty="0"/>
              <a:t>New development vs. maintenance: </a:t>
            </a:r>
            <a:r>
              <a:rPr lang="en-GB" sz="2000" dirty="0"/>
              <a:t>Agile methods are most appropriate for new software development rather than software maintenance. </a:t>
            </a:r>
          </a:p>
          <a:p>
            <a:pPr lvl="1"/>
            <a:r>
              <a:rPr lang="en-US" sz="1800" dirty="0"/>
              <a:t>Agile works best for </a:t>
            </a:r>
            <a:r>
              <a:rPr lang="en-US" sz="1800" b="1" dirty="0"/>
              <a:t>new software development</a:t>
            </a:r>
            <a:r>
              <a:rPr lang="en-US" sz="1800" dirty="0"/>
              <a:t>, where requirements are uncertain and evolving.</a:t>
            </a:r>
          </a:p>
          <a:p>
            <a:pPr lvl="1"/>
            <a:r>
              <a:rPr lang="en-US" sz="1800" dirty="0"/>
              <a:t>In reality, most costs in large companies come from </a:t>
            </a:r>
            <a:r>
              <a:rPr lang="en-US" sz="1800" b="1" dirty="0"/>
              <a:t>maintaining existing systems</a:t>
            </a:r>
            <a:r>
              <a:rPr lang="en-US" sz="1800" dirty="0"/>
              <a:t>, not building new ones.</a:t>
            </a:r>
          </a:p>
          <a:p>
            <a:pPr lvl="1"/>
            <a:r>
              <a:rPr lang="en-US" sz="1800" dirty="0"/>
              <a:t>Maintenance often requires stability, documentation, and predictability, which agile may not emphasize enough</a:t>
            </a:r>
            <a:r>
              <a:rPr lang="en-GB" sz="1800" dirty="0"/>
              <a:t>.</a:t>
            </a:r>
            <a:endParaRPr lang="en-US" sz="2000"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518837956"/>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2DC52-283E-FC75-A679-E7E0D4CB9653}"/>
            </a:ext>
          </a:extLst>
        </p:cNvPr>
        <p:cNvGrpSpPr/>
        <p:nvPr/>
      </p:nvGrpSpPr>
      <p:grpSpPr>
        <a:xfrm>
          <a:off x="0" y="0"/>
          <a:ext cx="0" cy="0"/>
          <a:chOff x="0" y="0"/>
          <a:chExt cx="0" cy="0"/>
        </a:xfrm>
      </p:grpSpPr>
      <p:sp>
        <p:nvSpPr>
          <p:cNvPr id="1167362" name="Rectangle 2">
            <a:extLst>
              <a:ext uri="{FF2B5EF4-FFF2-40B4-BE49-F238E27FC236}">
                <a16:creationId xmlns:a16="http://schemas.microsoft.com/office/drawing/2014/main" id="{1CC9C7E5-A2C6-0FBA-EC6D-4DA03FEB5AC6}"/>
              </a:ext>
            </a:extLst>
          </p:cNvPr>
          <p:cNvSpPr>
            <a:spLocks noGrp="1" noChangeArrowheads="1"/>
          </p:cNvSpPr>
          <p:nvPr>
            <p:ph type="title"/>
          </p:nvPr>
        </p:nvSpPr>
        <p:spPr/>
        <p:txBody>
          <a:bodyPr/>
          <a:lstStyle/>
          <a:p>
            <a:r>
              <a:rPr lang="en-US" dirty="0"/>
              <a:t>Practical problems with agile methods</a:t>
            </a:r>
          </a:p>
        </p:txBody>
      </p:sp>
      <p:sp>
        <p:nvSpPr>
          <p:cNvPr id="1167363" name="Rectangle 3">
            <a:extLst>
              <a:ext uri="{FF2B5EF4-FFF2-40B4-BE49-F238E27FC236}">
                <a16:creationId xmlns:a16="http://schemas.microsoft.com/office/drawing/2014/main" id="{3954306A-276B-6FF2-2E78-38B1F3975900}"/>
              </a:ext>
            </a:extLst>
          </p:cNvPr>
          <p:cNvSpPr>
            <a:spLocks noGrp="1" noChangeArrowheads="1"/>
          </p:cNvSpPr>
          <p:nvPr>
            <p:ph idx="1"/>
          </p:nvPr>
        </p:nvSpPr>
        <p:spPr>
          <a:xfrm>
            <a:off x="287694" y="1417638"/>
            <a:ext cx="8399106" cy="5303837"/>
          </a:xfrm>
        </p:spPr>
        <p:txBody>
          <a:bodyPr/>
          <a:lstStyle/>
          <a:p>
            <a:r>
              <a:rPr lang="en-GB" b="1" dirty="0"/>
              <a:t>Team size and distribution: </a:t>
            </a:r>
          </a:p>
          <a:p>
            <a:pPr lvl="1"/>
            <a:r>
              <a:rPr lang="en-US" dirty="0"/>
              <a:t>Agile methods were originally designed for </a:t>
            </a:r>
            <a:r>
              <a:rPr lang="en-US" b="1" dirty="0"/>
              <a:t>small, co-located teams</a:t>
            </a:r>
            <a:r>
              <a:rPr lang="en-US" dirty="0"/>
              <a:t>.</a:t>
            </a:r>
          </a:p>
          <a:p>
            <a:pPr lvl="1"/>
            <a:r>
              <a:rPr lang="en-US" dirty="0"/>
              <a:t>Today, many projects involve </a:t>
            </a:r>
            <a:r>
              <a:rPr lang="en-US" b="1" dirty="0"/>
              <a:t>globally distributed teams</a:t>
            </a:r>
            <a:r>
              <a:rPr lang="en-US" dirty="0"/>
              <a:t> working across different countries and time zones.</a:t>
            </a:r>
          </a:p>
          <a:p>
            <a:pPr lvl="1"/>
            <a:r>
              <a:rPr lang="en-US" dirty="0"/>
              <a:t>This makes face-to-face communication, a core agile principle, more difficult.</a:t>
            </a:r>
          </a:p>
          <a:p>
            <a:endParaRPr lang="en-US" sz="2000" dirty="0"/>
          </a:p>
        </p:txBody>
      </p:sp>
      <p:sp>
        <p:nvSpPr>
          <p:cNvPr id="5" name="Footer Placeholder 4">
            <a:extLst>
              <a:ext uri="{FF2B5EF4-FFF2-40B4-BE49-F238E27FC236}">
                <a16:creationId xmlns:a16="http://schemas.microsoft.com/office/drawing/2014/main" id="{0A394523-D724-30C9-FDA6-9E972335890C}"/>
              </a:ext>
            </a:extLst>
          </p:cNvPr>
          <p:cNvSpPr>
            <a:spLocks noGrp="1"/>
          </p:cNvSpPr>
          <p:nvPr>
            <p:ph type="ftr" sz="quarter" idx="11"/>
          </p:nvPr>
        </p:nvSpPr>
        <p:spPr/>
        <p:txBody>
          <a:bodyPr/>
          <a:lstStyle/>
          <a:p>
            <a:pPr>
              <a:defRPr/>
            </a:pPr>
            <a:r>
              <a:rPr lang="en-US"/>
              <a:t>Chapter 3 Agile Software Development</a:t>
            </a:r>
          </a:p>
        </p:txBody>
      </p:sp>
      <p:sp>
        <p:nvSpPr>
          <p:cNvPr id="4" name="Slide Number Placeholder 3">
            <a:extLst>
              <a:ext uri="{FF2B5EF4-FFF2-40B4-BE49-F238E27FC236}">
                <a16:creationId xmlns:a16="http://schemas.microsoft.com/office/drawing/2014/main" id="{A9E3A9CD-8D4A-9EDB-BACF-BB9332CEB53A}"/>
              </a:ext>
            </a:extLst>
          </p:cNvPr>
          <p:cNvSpPr>
            <a:spLocks noGrp="1"/>
          </p:cNvSpPr>
          <p:nvPr>
            <p:ph type="sldNum" sz="quarter" idx="12"/>
          </p:nvPr>
        </p:nvSpPr>
        <p:spPr/>
        <p:txBody>
          <a:bodyPr/>
          <a:lstStyle/>
          <a:p>
            <a:pPr>
              <a:defRPr/>
            </a:pPr>
            <a:fld id="{EAB5BBF0-B782-3644-AFE1-10103AC25370}" type="slidenum">
              <a:rPr lang="en-US" smtClean="0"/>
              <a:pPr>
                <a:defRPr/>
              </a:pPr>
              <a:t>51</a:t>
            </a:fld>
            <a:endParaRPr lang="en-US"/>
          </a:p>
        </p:txBody>
      </p:sp>
      <p:sp>
        <p:nvSpPr>
          <p:cNvPr id="2" name="Date Placeholder 1">
            <a:extLst>
              <a:ext uri="{FF2B5EF4-FFF2-40B4-BE49-F238E27FC236}">
                <a16:creationId xmlns:a16="http://schemas.microsoft.com/office/drawing/2014/main" id="{61970DC8-C204-4ED0-5218-EF0EDD089FC7}"/>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44457244"/>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Contractual issues</a:t>
            </a:r>
          </a:p>
        </p:txBody>
      </p:sp>
      <p:sp>
        <p:nvSpPr>
          <p:cNvPr id="3" name="Content Placeholder 2"/>
          <p:cNvSpPr>
            <a:spLocks noGrp="1"/>
          </p:cNvSpPr>
          <p:nvPr>
            <p:ph idx="1"/>
          </p:nvPr>
        </p:nvSpPr>
        <p:spPr/>
        <p:txBody>
          <a:bodyPr/>
          <a:lstStyle/>
          <a:p>
            <a:r>
              <a:rPr lang="en-US" dirty="0"/>
              <a:t>Traditional software contracts are usually based on a </a:t>
            </a:r>
            <a:r>
              <a:rPr lang="en-US" b="1" dirty="0"/>
              <a:t>fixed and detailed specification</a:t>
            </a:r>
            <a:r>
              <a:rPr lang="en-US" dirty="0"/>
              <a:t> that defines what the system must deliver.</a:t>
            </a:r>
          </a:p>
          <a:p>
            <a:pPr lvl="1"/>
            <a:r>
              <a:rPr lang="en-US" dirty="0"/>
              <a:t>This approach </a:t>
            </a:r>
            <a:r>
              <a:rPr lang="en-US" b="1" dirty="0"/>
              <a:t>conflicts with agile development</a:t>
            </a:r>
            <a:r>
              <a:rPr lang="en-US" dirty="0"/>
              <a:t>, where requirements evolve, specification and development occur together.</a:t>
            </a:r>
          </a:p>
          <a:p>
            <a:r>
              <a:rPr lang="en-US" dirty="0"/>
              <a:t>Agile projects require </a:t>
            </a:r>
            <a:r>
              <a:rPr lang="en-US" b="1" dirty="0"/>
              <a:t>flexible contracts</a:t>
            </a:r>
            <a:r>
              <a:rPr lang="en-US" dirty="0"/>
              <a:t> that allow changes during development.</a:t>
            </a:r>
          </a:p>
          <a:p>
            <a:pPr lvl="1"/>
            <a:r>
              <a:rPr lang="en-US" dirty="0"/>
              <a:t>A common agile-friendly approach is </a:t>
            </a:r>
            <a:r>
              <a:rPr lang="en-US" b="1" dirty="0"/>
              <a:t>paying for developer time (time-and-effort)</a:t>
            </a:r>
            <a:r>
              <a:rPr lang="en-US" dirty="0"/>
              <a:t> rather than fixed functionality.</a:t>
            </a:r>
          </a:p>
          <a:p>
            <a:pPr lvl="1"/>
            <a:r>
              <a:rPr lang="en-US" dirty="0"/>
              <a:t>However, this type of contract is often viewed as </a:t>
            </a:r>
            <a:r>
              <a:rPr lang="en-US" b="1" dirty="0"/>
              <a:t>high risk by legal departments</a:t>
            </a:r>
            <a:r>
              <a:rPr lang="en-US" dirty="0"/>
              <a:t>, since the final deliverables cannot be fully guaranteed in advance.</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95794015"/>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software maintenance</a:t>
            </a:r>
          </a:p>
        </p:txBody>
      </p:sp>
      <p:sp>
        <p:nvSpPr>
          <p:cNvPr id="3" name="Content Placeholder 2"/>
          <p:cNvSpPr>
            <a:spLocks noGrp="1"/>
          </p:cNvSpPr>
          <p:nvPr>
            <p:ph idx="1"/>
          </p:nvPr>
        </p:nvSpPr>
        <p:spPr>
          <a:xfrm>
            <a:off x="303244" y="1643448"/>
            <a:ext cx="8691465" cy="4243522"/>
          </a:xfrm>
        </p:spPr>
        <p:txBody>
          <a:bodyPr/>
          <a:lstStyle/>
          <a:p>
            <a:pPr defTabSz="914400" eaLnBrk="0" hangingPunct="0">
              <a:spcBef>
                <a:spcPct val="0"/>
              </a:spcBef>
              <a:spcAft>
                <a:spcPct val="0"/>
              </a:spcAft>
            </a:pPr>
            <a:r>
              <a:rPr lang="en-US" altLang="en-US" dirty="0"/>
              <a:t>Most organizations spend more effort and cost on maintaining existing software than on developing new systems</a:t>
            </a:r>
            <a:r>
              <a:rPr lang="en-US" altLang="en-US" sz="2000" dirty="0"/>
              <a:t>.</a:t>
            </a:r>
          </a:p>
          <a:p>
            <a:pPr lvl="1" defTabSz="914400" eaLnBrk="0" hangingPunct="0">
              <a:spcBef>
                <a:spcPct val="0"/>
              </a:spcBef>
              <a:spcAft>
                <a:spcPct val="0"/>
              </a:spcAft>
            </a:pPr>
            <a:r>
              <a:rPr lang="en-US" altLang="en-US" dirty="0"/>
              <a:t>Therefore, agile methods must </a:t>
            </a:r>
            <a:r>
              <a:rPr lang="en-US" altLang="en-US" b="1" dirty="0"/>
              <a:t>support long-term maintenance as well as initial development.</a:t>
            </a:r>
          </a:p>
          <a:p>
            <a:pPr defTabSz="914400" eaLnBrk="0" hangingPunct="0">
              <a:spcBef>
                <a:spcPct val="0"/>
              </a:spcBef>
              <a:spcAft>
                <a:spcPct val="0"/>
              </a:spcAft>
            </a:pPr>
            <a:r>
              <a:rPr lang="en-US" altLang="en-US" dirty="0"/>
              <a:t>Key maintenance concerns in agile projects:</a:t>
            </a:r>
          </a:p>
          <a:p>
            <a:pPr lvl="1" defTabSz="914400" eaLnBrk="0" hangingPunct="0">
              <a:spcBef>
                <a:spcPct val="0"/>
              </a:spcBef>
              <a:spcAft>
                <a:spcPct val="0"/>
              </a:spcAft>
            </a:pPr>
            <a:r>
              <a:rPr lang="en-US" altLang="en-US" dirty="0"/>
              <a:t>Maintainability of systems with limited formal documentation</a:t>
            </a:r>
          </a:p>
          <a:p>
            <a:pPr lvl="1" defTabSz="914400" eaLnBrk="0" hangingPunct="0">
              <a:spcBef>
                <a:spcPct val="0"/>
              </a:spcBef>
              <a:spcAft>
                <a:spcPct val="0"/>
              </a:spcAft>
            </a:pPr>
            <a:r>
              <a:rPr lang="en-US" altLang="en-US" dirty="0"/>
              <a:t>Ability to handle ongoing customer change requests effectively</a:t>
            </a:r>
          </a:p>
          <a:p>
            <a:pPr lvl="1" defTabSz="914400" eaLnBrk="0" hangingPunct="0">
              <a:spcBef>
                <a:spcPct val="0"/>
              </a:spcBef>
              <a:spcAft>
                <a:spcPct val="0"/>
              </a:spcAft>
            </a:pPr>
            <a:endParaRPr lang="en-US" alt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51079482"/>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maintenance</a:t>
            </a:r>
          </a:p>
        </p:txBody>
      </p:sp>
      <p:sp>
        <p:nvSpPr>
          <p:cNvPr id="3" name="Content Placeholder 2"/>
          <p:cNvSpPr>
            <a:spLocks noGrp="1"/>
          </p:cNvSpPr>
          <p:nvPr>
            <p:ph idx="1"/>
          </p:nvPr>
        </p:nvSpPr>
        <p:spPr>
          <a:xfrm>
            <a:off x="457200" y="1473243"/>
            <a:ext cx="8229600" cy="4525963"/>
          </a:xfrm>
        </p:spPr>
        <p:txBody>
          <a:bodyPr/>
          <a:lstStyle/>
          <a:p>
            <a:r>
              <a:rPr lang="en-US" dirty="0"/>
              <a:t>Key problems are:</a:t>
            </a:r>
          </a:p>
          <a:p>
            <a:pPr lvl="1"/>
            <a:r>
              <a:rPr lang="en-US" dirty="0"/>
              <a:t>Lack of product documentation</a:t>
            </a:r>
          </a:p>
          <a:p>
            <a:pPr lvl="1"/>
            <a:r>
              <a:rPr lang="en-US" dirty="0"/>
              <a:t>Keeping customers involved in the development process</a:t>
            </a:r>
          </a:p>
          <a:p>
            <a:pPr lvl="1"/>
            <a:r>
              <a:rPr lang="en-US" dirty="0"/>
              <a:t>Maintaining the continuity of the development team</a:t>
            </a:r>
          </a:p>
          <a:p>
            <a:r>
              <a:rPr lang="en-US" dirty="0"/>
              <a:t>Agile development relies on the development team knowing and understanding what has to be done. </a:t>
            </a:r>
          </a:p>
          <a:p>
            <a:r>
              <a:rPr lang="en-US" dirty="0"/>
              <a:t>For long-lifetime systems, this is a real problem as the original developers will not always work on the system.</a:t>
            </a:r>
          </a:p>
          <a:p>
            <a:r>
              <a:rPr lang="en-US" dirty="0"/>
              <a:t>Therefore, effective agile maintenance requires </a:t>
            </a:r>
            <a:r>
              <a:rPr lang="en-US" b="1" dirty="0"/>
              <a:t>good coding practices, automated tests, knowledge sharing, and some level of supporting documentation</a:t>
            </a:r>
            <a:r>
              <a:rPr lang="en-US" dirty="0"/>
              <a:t>.</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81702709"/>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and plan-driven methods</a:t>
            </a:r>
          </a:p>
        </p:txBody>
      </p:sp>
      <p:sp>
        <p:nvSpPr>
          <p:cNvPr id="3" name="Content Placeholder 2"/>
          <p:cNvSpPr>
            <a:spLocks noGrp="1"/>
          </p:cNvSpPr>
          <p:nvPr>
            <p:ph idx="1"/>
          </p:nvPr>
        </p:nvSpPr>
        <p:spPr>
          <a:xfrm>
            <a:off x="457200" y="1600200"/>
            <a:ext cx="8420100" cy="4525963"/>
          </a:xfrm>
        </p:spPr>
        <p:txBody>
          <a:bodyPr/>
          <a:lstStyle/>
          <a:p>
            <a:r>
              <a:rPr lang="en-US" dirty="0"/>
              <a:t>Most projects include elements of plan-driven and agile processes. Deciding on the balance depends on:</a:t>
            </a:r>
          </a:p>
          <a:p>
            <a:pPr lvl="1"/>
            <a:r>
              <a:rPr lang="en-GB" dirty="0"/>
              <a:t>Is it important to have a </a:t>
            </a:r>
            <a:r>
              <a:rPr lang="en-GB" b="1" dirty="0"/>
              <a:t>very detailed specification and design </a:t>
            </a:r>
            <a:r>
              <a:rPr lang="en-GB" dirty="0"/>
              <a:t>before moving to implementation? If so, you probably need to use a plan-driven approach.</a:t>
            </a:r>
          </a:p>
          <a:p>
            <a:pPr lvl="1"/>
            <a:r>
              <a:rPr lang="en-GB" dirty="0"/>
              <a:t>Is an </a:t>
            </a:r>
            <a:r>
              <a:rPr lang="en-GB" b="1" dirty="0"/>
              <a:t>incremental delivery strategy</a:t>
            </a:r>
            <a:r>
              <a:rPr lang="en-GB" dirty="0"/>
              <a:t>, where you deliver the software to customers and get rapid feedback from them, realistic? If so, consider using agile methods.</a:t>
            </a:r>
          </a:p>
          <a:p>
            <a:pPr lvl="1"/>
            <a:r>
              <a:rPr lang="en-GB" dirty="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231500397"/>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 and organizational practice</a:t>
            </a:r>
          </a:p>
        </p:txBody>
      </p:sp>
      <p:graphicFrame>
        <p:nvGraphicFramePr>
          <p:cNvPr id="6" name="Content Placeholder 5"/>
          <p:cNvGraphicFramePr>
            <a:graphicFrameLocks noGrp="1"/>
          </p:cNvGraphicFramePr>
          <p:nvPr>
            <p:ph idx="1"/>
          </p:nvPr>
        </p:nvGraphicFramePr>
        <p:xfrm>
          <a:off x="457200" y="1600200"/>
          <a:ext cx="8229600" cy="399796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5308600">
                  <a:extLst>
                    <a:ext uri="{9D8B030D-6E8A-4147-A177-3AD203B41FA5}">
                      <a16:colId xmlns:a16="http://schemas.microsoft.com/office/drawing/2014/main" val="20001"/>
                    </a:ext>
                  </a:extLst>
                </a:gridCol>
              </a:tblGrid>
              <a:tr h="370840">
                <a:tc>
                  <a:txBody>
                    <a:bodyPr/>
                    <a:lstStyle/>
                    <a:p>
                      <a:r>
                        <a:rPr lang="en-US" dirty="0"/>
                        <a:t>Principle</a:t>
                      </a:r>
                    </a:p>
                  </a:txBody>
                  <a:tcPr/>
                </a:tc>
                <a:tc>
                  <a:txBody>
                    <a:bodyPr/>
                    <a:lstStyle/>
                    <a:p>
                      <a:r>
                        <a:rPr lang="en-US" dirty="0"/>
                        <a:t>Practice</a:t>
                      </a:r>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Customer involvement</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depends on having a customer who is willing and able to spend time with the development team and who can represent all system stakeholders. </a:t>
                      </a:r>
                      <a:r>
                        <a:rPr lang="en-GB" sz="1400" b="1" dirty="0">
                          <a:solidFill>
                            <a:srgbClr val="000000"/>
                          </a:solidFill>
                          <a:effectLst/>
                          <a:latin typeface="Arial"/>
                          <a:ea typeface="Times New Roman"/>
                          <a:cs typeface="Times New Roman"/>
                        </a:rPr>
                        <a:t>Often, customer representatives have other demands on their time and cannot play a full part in the software development. </a:t>
                      </a:r>
                    </a:p>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Where there are external stakeholders, such as regulators, it is difficult to represent their views to the agile team.</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Embrace change</a:t>
                      </a:r>
                    </a:p>
                  </a:txBody>
                  <a:tcPr marL="68580" marR="68580" marT="0" marB="0"/>
                </a:tc>
                <a:tc>
                  <a:txBody>
                    <a:bodyPr/>
                    <a:lstStyle/>
                    <a:p>
                      <a:pPr indent="0" algn="l">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Prioritizing changes can be extremely difficult, especially in systems for which there are many stakeholders. </a:t>
                      </a:r>
                      <a:r>
                        <a:rPr lang="en-GB" sz="1400" dirty="0">
                          <a:solidFill>
                            <a:srgbClr val="000000"/>
                          </a:solidFill>
                          <a:effectLst/>
                          <a:latin typeface="Arial"/>
                          <a:ea typeface="Times New Roman"/>
                          <a:cs typeface="Times New Roman"/>
                        </a:rPr>
                        <a:t>Typically, each stakeholder gives different priorities to different changes.</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0" algn="l">
                        <a:spcAft>
                          <a:spcPts val="0"/>
                        </a:spcAft>
                        <a:tabLst>
                          <a:tab pos="342900" algn="l"/>
                          <a:tab pos="685800" algn="l"/>
                          <a:tab pos="1028700" algn="l"/>
                        </a:tabLst>
                      </a:pPr>
                      <a:r>
                        <a:rPr lang="en-GB" sz="1400">
                          <a:solidFill>
                            <a:srgbClr val="000000"/>
                          </a:solidFill>
                          <a:effectLst/>
                          <a:latin typeface="Arial"/>
                          <a:ea typeface="Times New Roman"/>
                          <a:cs typeface="Times New Roman"/>
                        </a:rPr>
                        <a:t>Incremental delivery</a:t>
                      </a:r>
                    </a:p>
                  </a:txBody>
                  <a:tcPr marL="68580" marR="68580" marT="0" marB="0"/>
                </a:tc>
                <a:tc>
                  <a:txBody>
                    <a:bodyPr/>
                    <a:lstStyle/>
                    <a:p>
                      <a:pPr indent="0" algn="l">
                        <a:spcAft>
                          <a:spcPts val="0"/>
                        </a:spcAft>
                        <a:tabLst>
                          <a:tab pos="342900" algn="l"/>
                          <a:tab pos="685800" algn="l"/>
                          <a:tab pos="1028700" algn="l"/>
                        </a:tabLst>
                      </a:pPr>
                      <a:r>
                        <a:rPr lang="en-GB" sz="1400" b="1" dirty="0">
                          <a:solidFill>
                            <a:srgbClr val="000000"/>
                          </a:solidFill>
                          <a:effectLst/>
                          <a:latin typeface="Arial"/>
                          <a:ea typeface="Times New Roman"/>
                          <a:cs typeface="Times New Roman"/>
                        </a:rPr>
                        <a:t>Rapid iterations and short-term planning for development does not always fit in with </a:t>
                      </a:r>
                      <a:r>
                        <a:rPr lang="en-GB" sz="1400" dirty="0">
                          <a:solidFill>
                            <a:srgbClr val="000000"/>
                          </a:solidFill>
                          <a:effectLst/>
                          <a:latin typeface="Arial"/>
                          <a:ea typeface="Times New Roman"/>
                          <a:cs typeface="Times New Roman"/>
                        </a:rPr>
                        <a:t>the longer-term planning cycles of </a:t>
                      </a:r>
                      <a:r>
                        <a:rPr lang="en-GB" sz="1400" b="1" dirty="0">
                          <a:solidFill>
                            <a:srgbClr val="000000"/>
                          </a:solidFill>
                          <a:effectLst/>
                          <a:latin typeface="Arial"/>
                          <a:ea typeface="Times New Roman"/>
                          <a:cs typeface="Times New Roman"/>
                        </a:rPr>
                        <a:t>business planning and marketing</a:t>
                      </a:r>
                      <a:r>
                        <a:rPr lang="en-GB" sz="1400" dirty="0">
                          <a:solidFill>
                            <a:srgbClr val="000000"/>
                          </a:solidFill>
                          <a:effectLst/>
                          <a:latin typeface="Arial"/>
                          <a:ea typeface="Times New Roman"/>
                          <a:cs typeface="Times New Roman"/>
                        </a:rPr>
                        <a:t>. Marketing managers may need to know what product features several months in advance to prepare an effective marketing campaign.</a:t>
                      </a:r>
                    </a:p>
                  </a:txBody>
                  <a:tcPr marL="68580" marR="68580" marT="0" marB="0"/>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56</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67616883"/>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 and organizational practice</a:t>
            </a:r>
          </a:p>
        </p:txBody>
      </p:sp>
      <p:graphicFrame>
        <p:nvGraphicFramePr>
          <p:cNvPr id="6" name="Content Placeholder 5"/>
          <p:cNvGraphicFramePr>
            <a:graphicFrameLocks noGrp="1"/>
          </p:cNvGraphicFramePr>
          <p:nvPr>
            <p:ph idx="1"/>
          </p:nvPr>
        </p:nvGraphicFramePr>
        <p:xfrm>
          <a:off x="457200" y="2197100"/>
          <a:ext cx="8229600" cy="185928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5740400">
                  <a:extLst>
                    <a:ext uri="{9D8B030D-6E8A-4147-A177-3AD203B41FA5}">
                      <a16:colId xmlns:a16="http://schemas.microsoft.com/office/drawing/2014/main" val="20001"/>
                    </a:ext>
                  </a:extLst>
                </a:gridCol>
              </a:tblGrid>
              <a:tr h="360749">
                <a:tc>
                  <a:txBody>
                    <a:bodyPr/>
                    <a:lstStyle/>
                    <a:p>
                      <a:r>
                        <a:rPr lang="en-US" dirty="0"/>
                        <a:t>Principle</a:t>
                      </a:r>
                    </a:p>
                  </a:txBody>
                  <a:tcPr/>
                </a:tc>
                <a:tc>
                  <a:txBody>
                    <a:bodyPr/>
                    <a:lstStyle/>
                    <a:p>
                      <a:r>
                        <a:rPr lang="en-US" dirty="0"/>
                        <a:t>Practice</a:t>
                      </a:r>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Maintain simplicity</a:t>
                      </a:r>
                    </a:p>
                  </a:txBody>
                  <a:tcPr marL="68580" marR="68580" marT="0" marB="0"/>
                </a:tc>
                <a:tc>
                  <a:txBody>
                    <a:bodyPr/>
                    <a:lstStyle/>
                    <a:p>
                      <a:pPr indent="0" algn="l">
                        <a:spcAft>
                          <a:spcPts val="0"/>
                        </a:spcAft>
                        <a:tabLst>
                          <a:tab pos="342900" algn="l"/>
                          <a:tab pos="685800" algn="l"/>
                          <a:tab pos="1028700" algn="l"/>
                        </a:tabLst>
                      </a:pPr>
                      <a:r>
                        <a:rPr lang="en-GB" sz="1400" b="1" baseline="0" dirty="0">
                          <a:solidFill>
                            <a:srgbClr val="000000"/>
                          </a:solidFill>
                          <a:effectLst/>
                          <a:latin typeface="Arial"/>
                          <a:ea typeface="Times New Roman"/>
                          <a:cs typeface="Times New Roman"/>
                        </a:rPr>
                        <a:t>Under pressure from delivery schedules, team members may not have time to carry out desirable system simplifications.</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baseline="0">
                          <a:solidFill>
                            <a:srgbClr val="000000"/>
                          </a:solidFill>
                          <a:effectLst/>
                          <a:latin typeface="Arial"/>
                          <a:ea typeface="Times New Roman"/>
                          <a:cs typeface="Times New Roman"/>
                        </a:rPr>
                        <a:t>People not process</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Individual team members may not have suitable personalities for the intense involvement that is typical of agile methods, and therefore may not interact well with other team members.</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933068761"/>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and plan-based factors</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58</a:t>
            </a:fld>
            <a:endParaRPr lang="en-US"/>
          </a:p>
        </p:txBody>
      </p:sp>
      <p:pic>
        <p:nvPicPr>
          <p:cNvPr id="6" name="Picture 5" descr="3.12 Agile-plan-based-factor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249" y="2362200"/>
            <a:ext cx="8469607" cy="27305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99963659"/>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issues</a:t>
            </a:r>
          </a:p>
        </p:txBody>
      </p:sp>
      <p:sp>
        <p:nvSpPr>
          <p:cNvPr id="3" name="Content Placeholder 2"/>
          <p:cNvSpPr>
            <a:spLocks noGrp="1"/>
          </p:cNvSpPr>
          <p:nvPr>
            <p:ph idx="1"/>
          </p:nvPr>
        </p:nvSpPr>
        <p:spPr>
          <a:xfrm>
            <a:off x="457200" y="1417638"/>
            <a:ext cx="8470900" cy="4525963"/>
          </a:xfrm>
        </p:spPr>
        <p:txBody>
          <a:bodyPr/>
          <a:lstStyle/>
          <a:p>
            <a:r>
              <a:rPr lang="en-GB" sz="1800" dirty="0"/>
              <a:t>How large is the system being developed?</a:t>
            </a:r>
          </a:p>
          <a:p>
            <a:pPr lvl="1"/>
            <a:r>
              <a:rPr lang="en-US" sz="1600" dirty="0"/>
              <a:t>Agile methods work best for </a:t>
            </a:r>
            <a:r>
              <a:rPr lang="en-US" sz="1600" b="1" dirty="0"/>
              <a:t>small to medium systems</a:t>
            </a:r>
            <a:r>
              <a:rPr lang="en-US" sz="1600" dirty="0"/>
              <a:t> developed by </a:t>
            </a:r>
            <a:r>
              <a:rPr lang="en-US" sz="1600" b="1" dirty="0"/>
              <a:t>small, co-located teams</a:t>
            </a:r>
            <a:r>
              <a:rPr lang="en-US" sz="1600" dirty="0"/>
              <a:t> with informal communication.</a:t>
            </a:r>
          </a:p>
          <a:p>
            <a:pPr lvl="1"/>
            <a:r>
              <a:rPr lang="en-US" sz="1600" dirty="0"/>
              <a:t>Large systems often require more structure and coordination.</a:t>
            </a:r>
          </a:p>
          <a:p>
            <a:r>
              <a:rPr lang="en-GB" sz="1800" dirty="0"/>
              <a:t>What type of system is being developed?</a:t>
            </a:r>
          </a:p>
          <a:p>
            <a:pPr lvl="1"/>
            <a:r>
              <a:rPr lang="en-US" sz="1600" b="1" dirty="0"/>
              <a:t>Long-lived systems</a:t>
            </a:r>
            <a:r>
              <a:rPr lang="en-US" sz="1600" dirty="0"/>
              <a:t> must be easy to understand and maintain over time.</a:t>
            </a:r>
          </a:p>
          <a:p>
            <a:pPr lvl="1"/>
            <a:r>
              <a:rPr lang="en-US" sz="1600" dirty="0"/>
              <a:t>Adequate </a:t>
            </a:r>
            <a:r>
              <a:rPr lang="en-US" sz="1600" b="1" dirty="0"/>
              <a:t>documentation is essential</a:t>
            </a:r>
            <a:r>
              <a:rPr lang="en-US" sz="1600" dirty="0"/>
              <a:t> to support future developers and maintenance teams.</a:t>
            </a:r>
          </a:p>
          <a:p>
            <a:r>
              <a:rPr lang="en-GB" sz="1800" dirty="0"/>
              <a:t>What is the expected system lifetime?</a:t>
            </a:r>
          </a:p>
          <a:p>
            <a:pPr lvl="1"/>
            <a:r>
              <a:rPr lang="en-US" sz="1600" b="1" dirty="0"/>
              <a:t>Long-lived systems</a:t>
            </a:r>
            <a:r>
              <a:rPr lang="en-US" sz="1600" dirty="0"/>
              <a:t> must be easy to understand and maintain over time.</a:t>
            </a:r>
          </a:p>
          <a:p>
            <a:pPr lvl="1"/>
            <a:r>
              <a:rPr lang="en-US" sz="1600" dirty="0"/>
              <a:t>Adequate </a:t>
            </a:r>
            <a:r>
              <a:rPr lang="en-US" sz="1600" b="1" dirty="0"/>
              <a:t>documentation is essential</a:t>
            </a:r>
            <a:r>
              <a:rPr lang="en-US" sz="1600" dirty="0"/>
              <a:t> to support future developers and maintenance teams.</a:t>
            </a:r>
          </a:p>
          <a:p>
            <a:r>
              <a:rPr lang="en-GB" sz="1800" dirty="0"/>
              <a:t>Is the system subject to external regulation?</a:t>
            </a:r>
          </a:p>
          <a:p>
            <a:pPr lvl="1"/>
            <a:r>
              <a:rPr lang="en-US" sz="1600" dirty="0"/>
              <a:t>If a system is subject to </a:t>
            </a:r>
            <a:r>
              <a:rPr lang="en-US" sz="1600" b="1" dirty="0"/>
              <a:t>external regulation</a:t>
            </a:r>
            <a:r>
              <a:rPr lang="en-US" sz="1600" dirty="0"/>
              <a:t> (e.g., medical, financial, aviation),</a:t>
            </a:r>
            <a:br>
              <a:rPr lang="en-US" sz="1600" dirty="0"/>
            </a:br>
            <a:r>
              <a:rPr lang="en-US" sz="1600" dirty="0"/>
              <a:t>detailed documentation is mandator as part of the system safety case.</a:t>
            </a:r>
          </a:p>
          <a:p>
            <a:pPr lvl="1"/>
            <a:r>
              <a:rPr lang="en-US" sz="1600" dirty="0"/>
              <a:t>Regulatory requirements can limit the use of pure agile methods.</a:t>
            </a:r>
          </a:p>
          <a:p>
            <a:pPr lvl="1">
              <a:buNone/>
            </a:pPr>
            <a:r>
              <a:rPr lang="en-GB" sz="1600" dirty="0"/>
              <a:t> </a:t>
            </a:r>
          </a:p>
          <a:p>
            <a:pPr lvl="1"/>
            <a:endParaRPr lang="en-US" sz="1600" dirty="0"/>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95282264"/>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People and teams</a:t>
            </a:r>
          </a:p>
        </p:txBody>
      </p:sp>
      <p:sp>
        <p:nvSpPr>
          <p:cNvPr id="3" name="Content Placeholder 2"/>
          <p:cNvSpPr>
            <a:spLocks noGrp="1"/>
          </p:cNvSpPr>
          <p:nvPr>
            <p:ph idx="1"/>
          </p:nvPr>
        </p:nvSpPr>
        <p:spPr>
          <a:xfrm>
            <a:off x="352425" y="1493838"/>
            <a:ext cx="8439150" cy="4983162"/>
          </a:xfrm>
        </p:spPr>
        <p:txBody>
          <a:bodyPr/>
          <a:lstStyle/>
          <a:p>
            <a:r>
              <a:rPr lang="en-GB" dirty="0"/>
              <a:t>How good are the designers and programmers in the development team?</a:t>
            </a:r>
          </a:p>
          <a:p>
            <a:pPr lvl="1"/>
            <a:r>
              <a:rPr lang="en-GB" dirty="0"/>
              <a:t> </a:t>
            </a:r>
            <a:r>
              <a:rPr lang="en-US" dirty="0"/>
              <a:t>Agile methods often require </a:t>
            </a:r>
            <a:r>
              <a:rPr lang="en-US" b="1" dirty="0"/>
              <a:t>highly skilled designers and programmers</a:t>
            </a:r>
            <a:r>
              <a:rPr lang="en-US" dirty="0"/>
              <a:t>.</a:t>
            </a:r>
          </a:p>
          <a:p>
            <a:pPr lvl="1"/>
            <a:r>
              <a:rPr lang="en-US" dirty="0"/>
              <a:t>Developers must make design decisions continuously, not just implement predefined designs.</a:t>
            </a:r>
          </a:p>
          <a:p>
            <a:r>
              <a:rPr lang="en-GB" dirty="0"/>
              <a:t>How is the development team organized?</a:t>
            </a:r>
          </a:p>
          <a:p>
            <a:pPr lvl="1"/>
            <a:r>
              <a:rPr lang="en-US" dirty="0"/>
              <a:t>Agile works best with </a:t>
            </a:r>
            <a:r>
              <a:rPr lang="en-US" b="1" dirty="0"/>
              <a:t>small, co-located teams</a:t>
            </a:r>
            <a:r>
              <a:rPr lang="en-US" dirty="0"/>
              <a:t>.</a:t>
            </a:r>
          </a:p>
          <a:p>
            <a:pPr lvl="1"/>
            <a:r>
              <a:rPr lang="en-US" b="1" dirty="0"/>
              <a:t>Distributed teams</a:t>
            </a:r>
            <a:r>
              <a:rPr lang="en-US" dirty="0"/>
              <a:t> may require additional </a:t>
            </a:r>
            <a:r>
              <a:rPr lang="en-US" b="1" dirty="0"/>
              <a:t>design documents</a:t>
            </a:r>
            <a:r>
              <a:rPr lang="en-US" dirty="0"/>
              <a:t> to support communication</a:t>
            </a:r>
            <a:r>
              <a:rPr lang="en-GB" dirty="0"/>
              <a:t>.</a:t>
            </a:r>
          </a:p>
          <a:p>
            <a:r>
              <a:rPr lang="en-GB" dirty="0"/>
              <a:t>What support technologies are available?</a:t>
            </a:r>
          </a:p>
          <a:p>
            <a:pPr lvl="1"/>
            <a:r>
              <a:rPr lang="en-GB" dirty="0"/>
              <a:t>IDE and tools support for </a:t>
            </a:r>
            <a:r>
              <a:rPr lang="en-US" b="1" dirty="0"/>
              <a:t>visualization, code analysis, and refactoring</a:t>
            </a:r>
            <a:r>
              <a:rPr lang="en-US" dirty="0"/>
              <a:t> </a:t>
            </a:r>
            <a:r>
              <a:rPr lang="en-GB" dirty="0"/>
              <a:t>are essential if design documentation is not available.</a:t>
            </a:r>
          </a:p>
          <a:p>
            <a:pPr lvl="1"/>
            <a:endParaRPr lang="en-GB"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280503184"/>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issues</a:t>
            </a:r>
          </a:p>
        </p:txBody>
      </p:sp>
      <p:sp>
        <p:nvSpPr>
          <p:cNvPr id="3" name="Content Placeholder 2"/>
          <p:cNvSpPr>
            <a:spLocks noGrp="1"/>
          </p:cNvSpPr>
          <p:nvPr>
            <p:ph idx="1"/>
          </p:nvPr>
        </p:nvSpPr>
        <p:spPr/>
        <p:txBody>
          <a:bodyPr/>
          <a:lstStyle/>
          <a:p>
            <a:r>
              <a:rPr lang="en-GB" sz="1800" dirty="0"/>
              <a:t>Traditional engineering organizations have a culture of plan-based development, as this is the norm in engineering.</a:t>
            </a:r>
          </a:p>
          <a:p>
            <a:r>
              <a:rPr lang="en-GB" sz="1800" dirty="0"/>
              <a:t>Is it standard organizational practice to develop a detailed system specification?</a:t>
            </a:r>
          </a:p>
          <a:p>
            <a:pPr lvl="1"/>
            <a:r>
              <a:rPr lang="en-US" sz="1600" dirty="0"/>
              <a:t>Some organizations require a </a:t>
            </a:r>
            <a:r>
              <a:rPr lang="en-US" sz="1600" b="1" dirty="0"/>
              <a:t>complete and detailed system specification</a:t>
            </a:r>
            <a:r>
              <a:rPr lang="en-US" sz="1600" dirty="0"/>
              <a:t> before development begins.</a:t>
            </a:r>
            <a:endParaRPr lang="en-GB" sz="1600" dirty="0"/>
          </a:p>
          <a:p>
            <a:r>
              <a:rPr lang="en-GB" sz="1800" dirty="0"/>
              <a:t>Will customer representatives be available to provide feedback of system increments?</a:t>
            </a:r>
          </a:p>
          <a:p>
            <a:pPr lvl="1"/>
            <a:r>
              <a:rPr lang="en-US" sz="1600" dirty="0"/>
              <a:t>Agile methods depend on </a:t>
            </a:r>
            <a:r>
              <a:rPr lang="en-US" sz="1600" b="1" dirty="0"/>
              <a:t>regular customer feedback</a:t>
            </a:r>
            <a:r>
              <a:rPr lang="en-US" sz="1600" dirty="0"/>
              <a:t>.</a:t>
            </a:r>
          </a:p>
          <a:p>
            <a:pPr lvl="1"/>
            <a:r>
              <a:rPr lang="en-US" sz="1600" dirty="0"/>
              <a:t>This requires customer representatives to be </a:t>
            </a:r>
            <a:r>
              <a:rPr lang="en-US" sz="1600" b="1" dirty="0"/>
              <a:t>available throughout development</a:t>
            </a:r>
            <a:r>
              <a:rPr lang="en-US" sz="1600" dirty="0"/>
              <a:t>, not just at the start.</a:t>
            </a:r>
            <a:endParaRPr lang="en-GB" sz="1600" dirty="0"/>
          </a:p>
          <a:p>
            <a:r>
              <a:rPr lang="en-GB" sz="1800" dirty="0"/>
              <a:t>Can informal agile development fit into the organizational culture of detailed documentation?</a:t>
            </a:r>
          </a:p>
          <a:p>
            <a:endParaRPr lang="en-US" sz="1800"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61</a:t>
            </a:fld>
            <a:endParaRPr lang="en-US"/>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964070785"/>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sz="2000" dirty="0"/>
              <a:t>Agile methods are incremental development methods that focus on rapid software development, frequent releases of the software, reducing process overheads by minimizing documentation and producing high-quality code.  </a:t>
            </a:r>
          </a:p>
          <a:p>
            <a:r>
              <a:rPr lang="en-GB" sz="2000" dirty="0"/>
              <a:t>Agile development practices include </a:t>
            </a:r>
          </a:p>
          <a:p>
            <a:pPr lvl="1"/>
            <a:r>
              <a:rPr lang="en-GB" sz="1600" dirty="0"/>
              <a:t>User stories for system specification</a:t>
            </a:r>
          </a:p>
          <a:p>
            <a:pPr lvl="1"/>
            <a:r>
              <a:rPr lang="en-GB" sz="1600" dirty="0"/>
              <a:t> Frequent releases of the software, </a:t>
            </a:r>
          </a:p>
          <a:p>
            <a:pPr lvl="1"/>
            <a:r>
              <a:rPr lang="en-GB" sz="1600" dirty="0"/>
              <a:t>Continuous software improvement </a:t>
            </a:r>
          </a:p>
          <a:p>
            <a:pPr lvl="1"/>
            <a:r>
              <a:rPr lang="en-GB" sz="1600" dirty="0"/>
              <a:t>Test-first development</a:t>
            </a:r>
          </a:p>
          <a:p>
            <a:pPr lvl="1"/>
            <a:r>
              <a:rPr lang="en-GB" sz="1600" dirty="0"/>
              <a:t>Customer participation in the development team.</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892022605"/>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Scrum is an agile method that provides a project management framework. </a:t>
            </a:r>
          </a:p>
          <a:p>
            <a:pPr lvl="1"/>
            <a:r>
              <a:rPr lang="en-GB" dirty="0"/>
              <a:t>It is centred round a set of sprints, which are fixed time periods when a system increment is developed.</a:t>
            </a:r>
          </a:p>
          <a:p>
            <a:r>
              <a:rPr lang="en-GB" dirty="0"/>
              <a:t>Many practical development methods are a mixture of plan-based and agile development. </a:t>
            </a:r>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6917</TotalTime>
  <Words>5236</Words>
  <Application>Microsoft Office PowerPoint</Application>
  <PresentationFormat>On-screen Show (4:3)</PresentationFormat>
  <Paragraphs>611</Paragraphs>
  <Slides>63</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Times New Roman</vt:lpstr>
      <vt:lpstr>Wingdings</vt:lpstr>
      <vt:lpstr>SE10 slides</vt:lpstr>
      <vt:lpstr>Chapter 3 – Agile Software Development</vt:lpstr>
      <vt:lpstr>Topics covered</vt:lpstr>
      <vt:lpstr>Rapid software development</vt:lpstr>
      <vt:lpstr>Agile development</vt:lpstr>
      <vt:lpstr>Plan-driven and agile development</vt:lpstr>
      <vt:lpstr>Plan-driven and agile development</vt:lpstr>
      <vt:lpstr>Agile methods</vt:lpstr>
      <vt:lpstr>Agile methods</vt:lpstr>
      <vt:lpstr>Agile manifesto </vt:lpstr>
      <vt:lpstr>The principles of agile methods </vt:lpstr>
      <vt:lpstr>Agile method applicability</vt:lpstr>
      <vt:lpstr>Agile development techniques</vt:lpstr>
      <vt:lpstr>Extreme programming (XP)</vt:lpstr>
      <vt:lpstr>The extreme programming release cycle </vt:lpstr>
      <vt:lpstr>Extreme programming practices (a) </vt:lpstr>
      <vt:lpstr>Extreme programming practices (b)</vt:lpstr>
      <vt:lpstr>XP and agile principles</vt:lpstr>
      <vt:lpstr>Influential XP practices</vt:lpstr>
      <vt:lpstr>User stories for requirements</vt:lpstr>
      <vt:lpstr>A ‘prescribing medication’ story </vt:lpstr>
      <vt:lpstr>User Story</vt:lpstr>
      <vt:lpstr>Examples of task cards for prescribing medication </vt:lpstr>
      <vt:lpstr>Refactoring</vt:lpstr>
      <vt:lpstr>Refactoring</vt:lpstr>
      <vt:lpstr>Examples of refactoring</vt:lpstr>
      <vt:lpstr>Test-first development</vt:lpstr>
      <vt:lpstr>Test-driven development</vt:lpstr>
      <vt:lpstr>Customer involvement</vt:lpstr>
      <vt:lpstr>Test case description for dose checking </vt:lpstr>
      <vt:lpstr>Test automation</vt:lpstr>
      <vt:lpstr>Problems with test-first development</vt:lpstr>
      <vt:lpstr>Pair programming</vt:lpstr>
      <vt:lpstr>Pair programming</vt:lpstr>
      <vt:lpstr>Agile project management</vt:lpstr>
      <vt:lpstr>Agile project management</vt:lpstr>
      <vt:lpstr>Scrum</vt:lpstr>
      <vt:lpstr>Scrum terminology (a)</vt:lpstr>
      <vt:lpstr>Scrum terminology (b)</vt:lpstr>
      <vt:lpstr>Scrum Roles</vt:lpstr>
      <vt:lpstr>Scrum sprint cycle</vt:lpstr>
      <vt:lpstr>The Scrum sprint cycle</vt:lpstr>
      <vt:lpstr>The Sprint cycle</vt:lpstr>
      <vt:lpstr>Teamwork in Scrum</vt:lpstr>
      <vt:lpstr>Scrum benefits</vt:lpstr>
      <vt:lpstr>Scrum Framework</vt:lpstr>
      <vt:lpstr>Distributed Scrum</vt:lpstr>
      <vt:lpstr>Scaling agile methods</vt:lpstr>
      <vt:lpstr>Scaling agile methods</vt:lpstr>
      <vt:lpstr>Scaling out and scaling up</vt:lpstr>
      <vt:lpstr>Practical problems with agile methods</vt:lpstr>
      <vt:lpstr>Practical problems with agile methods</vt:lpstr>
      <vt:lpstr>Contractual issues</vt:lpstr>
      <vt:lpstr>Agile methods and software maintenance</vt:lpstr>
      <vt:lpstr>Agile maintenance</vt:lpstr>
      <vt:lpstr>Agile and plan-driven methods</vt:lpstr>
      <vt:lpstr>Agile principles and organizational practice</vt:lpstr>
      <vt:lpstr>Agile principles and organizational practice</vt:lpstr>
      <vt:lpstr>Agile and plan-based factors</vt:lpstr>
      <vt:lpstr>System issues</vt:lpstr>
      <vt:lpstr>People and teams</vt:lpstr>
      <vt:lpstr>Organizational issues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Shimaa Abdelmeguid</cp:lastModifiedBy>
  <cp:revision>42</cp:revision>
  <dcterms:created xsi:type="dcterms:W3CDTF">2010-01-06T20:28:26Z</dcterms:created>
  <dcterms:modified xsi:type="dcterms:W3CDTF">2026-01-21T18:06:58Z</dcterms:modified>
</cp:coreProperties>
</file>